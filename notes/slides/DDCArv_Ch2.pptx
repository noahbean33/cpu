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4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5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6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7.xml" ContentType="application/vnd.openxmlformats-officedocument.presentationml.notesSlide+xml"/>
  <Override PartName="/ppt/tags/tag13.xml" ContentType="application/vnd.openxmlformats-officedocument.presentationml.tags+xml"/>
  <Override PartName="/ppt/notesSlides/notesSlide8.xml" ContentType="application/vnd.openxmlformats-officedocument.presentationml.notesSlide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notesSlides/notesSlide9.xml" ContentType="application/vnd.openxmlformats-officedocument.presentationml.notesSlide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notesSlides/notesSlide10.xml" ContentType="application/vnd.openxmlformats-officedocument.presentationml.notesSlide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notesSlides/notesSlide11.xml" ContentType="application/vnd.openxmlformats-officedocument.presentationml.notesSlide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notesSlides/notesSlide12.xml" ContentType="application/vnd.openxmlformats-officedocument.presentationml.notesSlide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notesSlides/notesSlide13.xml" ContentType="application/vnd.openxmlformats-officedocument.presentationml.notesSlide+xml"/>
  <Override PartName="/ppt/tags/tag46.xml" ContentType="application/vnd.openxmlformats-officedocument.presentationml.tags+xml"/>
  <Override PartName="/ppt/notesSlides/notesSlide14.xml" ContentType="application/vnd.openxmlformats-officedocument.presentationml.notesSlide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notesSlides/notesSlide15.xml" ContentType="application/vnd.openxmlformats-officedocument.presentationml.notesSlide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notesSlides/notesSlide16.xml" ContentType="application/vnd.openxmlformats-officedocument.presentationml.notesSlide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notesSlides/notesSlide17.xml" ContentType="application/vnd.openxmlformats-officedocument.presentationml.notesSlide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notesSlides/notesSlide18.xml" ContentType="application/vnd.openxmlformats-officedocument.presentationml.notesSlide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notesSlides/notesSlide19.xml" ContentType="application/vnd.openxmlformats-officedocument.presentationml.notesSlide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notesSlides/notesSlide20.xml" ContentType="application/vnd.openxmlformats-officedocument.presentationml.notesSlide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notesSlides/notesSlide21.xml" ContentType="application/vnd.openxmlformats-officedocument.presentationml.notesSlide+xml"/>
  <Override PartName="/ppt/tags/tag79.xml" ContentType="application/vnd.openxmlformats-officedocument.presentationml.tags+xml"/>
  <Override PartName="/ppt/notesSlides/notesSlide22.xml" ContentType="application/vnd.openxmlformats-officedocument.presentationml.notesSlide+xml"/>
  <Override PartName="/ppt/tags/tag80.xml" ContentType="application/vnd.openxmlformats-officedocument.presentationml.tags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tags/tag81.xml" ContentType="application/vnd.openxmlformats-officedocument.presentationml.tags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notesSlides/notesSlide29.xml" ContentType="application/vnd.openxmlformats-officedocument.presentationml.notesSlide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notesSlides/notesSlide30.xml" ContentType="application/vnd.openxmlformats-officedocument.presentationml.notesSlide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notesSlides/notesSlide31.xml" ContentType="application/vnd.openxmlformats-officedocument.presentationml.notesSlide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notesSlides/notesSlide32.xml" ContentType="application/vnd.openxmlformats-officedocument.presentationml.notesSlide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tags/tag100.xml" ContentType="application/vnd.openxmlformats-officedocument.presentationml.tags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notesSlides/notesSlide37.xml" ContentType="application/vnd.openxmlformats-officedocument.presentationml.notesSlide+xml"/>
  <Override PartName="/ppt/tags/tag103.xml" ContentType="application/vnd.openxmlformats-officedocument.presentationml.tags+xml"/>
  <Override PartName="/ppt/notesSlides/notesSlide38.xml" ContentType="application/vnd.openxmlformats-officedocument.presentationml.notesSlide+xml"/>
  <Override PartName="/ppt/tags/tag104.xml" ContentType="application/vnd.openxmlformats-officedocument.presentationml.tags+xml"/>
  <Override PartName="/ppt/notesSlides/notesSlide39.xml" ContentType="application/vnd.openxmlformats-officedocument.presentationml.notesSlide+xml"/>
  <Override PartName="/ppt/tags/tag105.xml" ContentType="application/vnd.openxmlformats-officedocument.presentationml.tags+xml"/>
  <Override PartName="/ppt/notesSlides/notesSlide40.xml" ContentType="application/vnd.openxmlformats-officedocument.presentationml.notesSlide+xml"/>
  <Override PartName="/ppt/tags/tag106.xml" ContentType="application/vnd.openxmlformats-officedocument.presentationml.tags+xml"/>
  <Override PartName="/ppt/notesSlides/notesSlide41.xml" ContentType="application/vnd.openxmlformats-officedocument.presentationml.notesSlide+xml"/>
  <Override PartName="/ppt/tags/tag107.xml" ContentType="application/vnd.openxmlformats-officedocument.presentationml.tags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tags/tag108.xml" ContentType="application/vnd.openxmlformats-officedocument.presentationml.tags+xml"/>
  <Override PartName="/ppt/notesSlides/notesSlide45.xml" ContentType="application/vnd.openxmlformats-officedocument.presentationml.notesSlide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notesSlides/notesSlide46.xml" ContentType="application/vnd.openxmlformats-officedocument.presentationml.notesSlide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notesSlides/notesSlide47.xml" ContentType="application/vnd.openxmlformats-officedocument.presentationml.notesSlide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notesSlides/notesSlide48.xml" ContentType="application/vnd.openxmlformats-officedocument.presentationml.notesSlide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notesSlides/notesSlide49.xml" ContentType="application/vnd.openxmlformats-officedocument.presentationml.notesSlide+xml"/>
  <Override PartName="/ppt/tags/tag129.xml" ContentType="application/vnd.openxmlformats-officedocument.presentationml.tags+xml"/>
  <Override PartName="/ppt/notesSlides/notesSlide50.xml" ContentType="application/vnd.openxmlformats-officedocument.presentationml.notesSlide+xml"/>
  <Override PartName="/ppt/tags/tag130.xml" ContentType="application/vnd.openxmlformats-officedocument.presentationml.tags+xml"/>
  <Override PartName="/ppt/notesSlides/notesSlide51.xml" ContentType="application/vnd.openxmlformats-officedocument.presentationml.notesSlide+xml"/>
  <Override PartName="/ppt/tags/tag131.xml" ContentType="application/vnd.openxmlformats-officedocument.presentationml.tags+xml"/>
  <Override PartName="/ppt/notesSlides/notesSlide52.xml" ContentType="application/vnd.openxmlformats-officedocument.presentationml.notesSlide+xml"/>
  <Override PartName="/ppt/tags/tag132.xml" ContentType="application/vnd.openxmlformats-officedocument.presentationml.tags+xml"/>
  <Override PartName="/ppt/notesSlides/notesSlide53.xml" ContentType="application/vnd.openxmlformats-officedocument.presentationml.notesSlide+xml"/>
  <Override PartName="/ppt/tags/tag133.xml" ContentType="application/vnd.openxmlformats-officedocument.presentationml.tags+xml"/>
  <Override PartName="/ppt/notesSlides/notesSlide54.xml" ContentType="application/vnd.openxmlformats-officedocument.presentationml.notesSlide+xml"/>
  <Override PartName="/ppt/tags/tag134.xml" ContentType="application/vnd.openxmlformats-officedocument.presentationml.tags+xml"/>
  <Override PartName="/ppt/notesSlides/notesSlide55.xml" ContentType="application/vnd.openxmlformats-officedocument.presentationml.notesSlide+xml"/>
  <Override PartName="/ppt/tags/tag135.xml" ContentType="application/vnd.openxmlformats-officedocument.presentationml.tags+xml"/>
  <Override PartName="/ppt/notesSlides/notesSlide56.xml" ContentType="application/vnd.openxmlformats-officedocument.presentationml.notesSlide+xml"/>
  <Override PartName="/ppt/tags/tag136.xml" ContentType="application/vnd.openxmlformats-officedocument.presentationml.tags+xml"/>
  <Override PartName="/ppt/notesSlides/notesSlide57.xml" ContentType="application/vnd.openxmlformats-officedocument.presentationml.notesSlide+xml"/>
  <Override PartName="/ppt/tags/tag137.xml" ContentType="application/vnd.openxmlformats-officedocument.presentationml.tags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tags/tag138.xml" ContentType="application/vnd.openxmlformats-officedocument.presentationml.tags+xml"/>
  <Override PartName="/ppt/notesSlides/notesSlide60.xml" ContentType="application/vnd.openxmlformats-officedocument.presentationml.notesSlide+xml"/>
  <Override PartName="/ppt/tags/tag139.xml" ContentType="application/vnd.openxmlformats-officedocument.presentationml.tags+xml"/>
  <Override PartName="/ppt/notesSlides/notesSlide61.xml" ContentType="application/vnd.openxmlformats-officedocument.presentationml.notesSlide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notesSlides/notesSlide62.xml" ContentType="application/vnd.openxmlformats-officedocument.presentationml.notesSlide+xml"/>
  <Override PartName="/ppt/tags/tag148.xml" ContentType="application/vnd.openxmlformats-officedocument.presentationml.tags+xml"/>
  <Override PartName="/ppt/notesSlides/notesSlide63.xml" ContentType="application/vnd.openxmlformats-officedocument.presentationml.notesSlide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tags/tag169.xml" ContentType="application/vnd.openxmlformats-officedocument.presentationml.tags+xml"/>
  <Override PartName="/ppt/notesSlides/notesSlide66.xml" ContentType="application/vnd.openxmlformats-officedocument.presentationml.notesSlide+xml"/>
  <Override PartName="/ppt/tags/tag170.xml" ContentType="application/vnd.openxmlformats-officedocument.presentationml.tags+xml"/>
  <Override PartName="/ppt/notesSlides/notesSlide67.xml" ContentType="application/vnd.openxmlformats-officedocument.presentationml.notesSlide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notesSlides/notesSlide68.xml" ContentType="application/vnd.openxmlformats-officedocument.presentationml.notesSlide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notesSlides/notesSlide69.xml" ContentType="application/vnd.openxmlformats-officedocument.presentationml.notesSlide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tags/tag210.xml" ContentType="application/vnd.openxmlformats-officedocument.presentationml.tags+xml"/>
  <Override PartName="/ppt/notesSlides/notesSlide74.xml" ContentType="application/vnd.openxmlformats-officedocument.presentationml.notesSlide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notesSlides/notesSlide75.xml" ContentType="application/vnd.openxmlformats-officedocument.presentationml.notesSlide+xml"/>
  <Override PartName="/ppt/tags/tag214.xml" ContentType="application/vnd.openxmlformats-officedocument.presentationml.tags+xml"/>
  <Override PartName="/ppt/notesSlides/notesSlide76.xml" ContentType="application/vnd.openxmlformats-officedocument.presentationml.notesSlide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notesSlides/notesSlide77.xml" ContentType="application/vnd.openxmlformats-officedocument.presentationml.notesSlide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notesSlides/notesSlide78.xml" ContentType="application/vnd.openxmlformats-officedocument.presentationml.notesSlide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notesSlides/notesSlide79.xml" ContentType="application/vnd.openxmlformats-officedocument.presentationml.notesSlide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notesSlides/notesSlide80.xml" ContentType="application/vnd.openxmlformats-officedocument.presentationml.notesSlide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notesSlides/notesSlide81.xml" ContentType="application/vnd.openxmlformats-officedocument.presentationml.notesSlide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notesSlides/notesSlide82.xml" ContentType="application/vnd.openxmlformats-officedocument.presentationml.notesSlide+xml"/>
  <Override PartName="/ppt/tags/tag234.xml" ContentType="application/vnd.openxmlformats-officedocument.presentationml.tags+xml"/>
  <Override PartName="/ppt/notesSlides/notesSlide83.xml" ContentType="application/vnd.openxmlformats-officedocument.presentationml.notesSlide+xml"/>
  <Override PartName="/ppt/tags/tag235.xml" ContentType="application/vnd.openxmlformats-officedocument.presentationml.tags+xml"/>
  <Override PartName="/ppt/notesSlides/notesSlide84.xml" ContentType="application/vnd.openxmlformats-officedocument.presentationml.notesSlide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notesSlides/notesSlide85.xml" ContentType="application/vnd.openxmlformats-officedocument.presentationml.notesSlide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notesSlides/notesSlide86.xml" ContentType="application/vnd.openxmlformats-officedocument.presentationml.notesSlide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notesSlides/notesSlide87.xml" ContentType="application/vnd.openxmlformats-officedocument.presentationml.notesSlide+xml"/>
  <Override PartName="/ppt/tags/tag253.xml" ContentType="application/vnd.openxmlformats-officedocument.presentationml.tags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notesSlides/notesSlide90.xml" ContentType="application/vnd.openxmlformats-officedocument.presentationml.notesSlide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notesSlides/notesSlide91.xml" ContentType="application/vnd.openxmlformats-officedocument.presentationml.notesSlide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notesSlides/notesSlide92.xml" ContentType="application/vnd.openxmlformats-officedocument.presentationml.notesSlide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notesSlides/notesSlide93.xml" ContentType="application/vnd.openxmlformats-officedocument.presentationml.notesSlide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notesSlides/notesSlide94.xml" ContentType="application/vnd.openxmlformats-officedocument.presentationml.notesSlide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notesSlides/notesSlide95.xml" ContentType="application/vnd.openxmlformats-officedocument.presentationml.notesSlide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notesSlides/notesSlide96.xml" ContentType="application/vnd.openxmlformats-officedocument.presentationml.notesSlide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notesSlides/notesSlide97.xml" ContentType="application/vnd.openxmlformats-officedocument.presentationml.notesSlide+xml"/>
  <Override PartName="/ppt/tags/tag326.xml" ContentType="application/vnd.openxmlformats-officedocument.presentationml.tags+xml"/>
  <Override PartName="/ppt/notesSlides/notesSlide98.xml" ContentType="application/vnd.openxmlformats-officedocument.presentationml.notesSlide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notesSlides/notesSlide99.xml" ContentType="application/vnd.openxmlformats-officedocument.presentationml.notesSlide+xml"/>
  <Override PartName="/ppt/tags/tag329.xml" ContentType="application/vnd.openxmlformats-officedocument.presentationml.tags+xml"/>
  <Override PartName="/ppt/tags/tag330.xml" ContentType="application/vnd.openxmlformats-officedocument.presentationml.tags+xml"/>
  <Override PartName="/ppt/notesSlides/notesSlide100.xml" ContentType="application/vnd.openxmlformats-officedocument.presentationml.notesSlide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notesSlides/notesSlide101.xml" ContentType="application/vnd.openxmlformats-officedocument.presentationml.notesSlide+xml"/>
  <Override PartName="/ppt/tags/tag333.xml" ContentType="application/vnd.openxmlformats-officedocument.presentationml.tags+xml"/>
  <Override PartName="/ppt/notesSlides/notesSlide102.xml" ContentType="application/vnd.openxmlformats-officedocument.presentationml.notesSlide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notesSlides/notesSlide103.xml" ContentType="application/vnd.openxmlformats-officedocument.presentationml.notesSlide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notesSlides/notesSlide104.xml" ContentType="application/vnd.openxmlformats-officedocument.presentationml.notesSlide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notesSlides/notesSlide105.xml" ContentType="application/vnd.openxmlformats-officedocument.presentationml.notesSlide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notesSlides/notesSlide106.xml" ContentType="application/vnd.openxmlformats-officedocument.presentationml.notesSlide+xml"/>
  <Override PartName="/ppt/tags/tag359.xml" ContentType="application/vnd.openxmlformats-officedocument.presentationml.tags+xml"/>
  <Override PartName="/ppt/notesSlides/notesSlide107.xml" ContentType="application/vnd.openxmlformats-officedocument.presentationml.notesSlide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notesSlides/notesSlide108.xml" ContentType="application/vnd.openxmlformats-officedocument.presentationml.notesSlide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notesSlides/notesSlide109.xml" ContentType="application/vnd.openxmlformats-officedocument.presentationml.notesSlide+xml"/>
  <Override PartName="/ppt/tags/tag364.xml" ContentType="application/vnd.openxmlformats-officedocument.presentationml.tags+xml"/>
  <Override PartName="/ppt/notesSlides/notesSlide110.xml" ContentType="application/vnd.openxmlformats-officedocument.presentationml.notesSlide+xml"/>
  <Override PartName="/ppt/tags/tag365.xml" ContentType="application/vnd.openxmlformats-officedocument.presentationml.tags+xml"/>
  <Override PartName="/ppt/notesSlides/notesSlide111.xml" ContentType="application/vnd.openxmlformats-officedocument.presentationml.notesSlide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notesSlides/notesSlide112.xml" ContentType="application/vnd.openxmlformats-officedocument.presentationml.notesSlide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notesSlides/notesSlide113.xml" ContentType="application/vnd.openxmlformats-officedocument.presentationml.notesSlide+xml"/>
  <Override PartName="/ppt/tags/tag370.xml" ContentType="application/vnd.openxmlformats-officedocument.presentationml.tags+xml"/>
  <Override PartName="/ppt/notesSlides/notesSlide114.xml" ContentType="application/vnd.openxmlformats-officedocument.presentationml.notesSlide+xml"/>
  <Override PartName="/ppt/tags/tag371.xml" ContentType="application/vnd.openxmlformats-officedocument.presentationml.tags+xml"/>
  <Override PartName="/ppt/notesSlides/notesSlide115.xml" ContentType="application/vnd.openxmlformats-officedocument.presentationml.notesSlide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tags/tag375.xml" ContentType="application/vnd.openxmlformats-officedocument.presentationml.tags+xml"/>
  <Override PartName="/ppt/notesSlides/notesSlide118.xml" ContentType="application/vnd.openxmlformats-officedocument.presentationml.notesSlide+xml"/>
  <Override PartName="/ppt/tags/tag376.xml" ContentType="application/vnd.openxmlformats-officedocument.presentationml.tags+xml"/>
  <Override PartName="/ppt/notesSlides/notesSlide119.xml" ContentType="application/vnd.openxmlformats-officedocument.presentationml.notesSlide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notesSlides/notesSlide120.xml" ContentType="application/vnd.openxmlformats-officedocument.presentationml.notesSlide+xml"/>
  <Override PartName="/ppt/tags/tag379.xml" ContentType="application/vnd.openxmlformats-officedocument.presentationml.tags+xml"/>
  <Override PartName="/ppt/notesSlides/notesSlide121.xml" ContentType="application/vnd.openxmlformats-officedocument.presentationml.notesSlide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notesSlides/notesSlide122.xml" ContentType="application/vnd.openxmlformats-officedocument.presentationml.notesSlide+xml"/>
  <Override PartName="/ppt/tags/tag382.xml" ContentType="application/vnd.openxmlformats-officedocument.presentationml.tags+xml"/>
  <Override PartName="/ppt/notesSlides/notesSlide123.xml" ContentType="application/vnd.openxmlformats-officedocument.presentationml.notesSlide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notesSlides/notesSlide124.xml" ContentType="application/vnd.openxmlformats-officedocument.presentationml.notesSlide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notesSlides/notesSlide125.xml" ContentType="application/vnd.openxmlformats-officedocument.presentationml.notesSlide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notesSlides/notesSlide126.xml" ContentType="application/vnd.openxmlformats-officedocument.presentationml.notesSlide+xml"/>
  <Override PartName="/ppt/tags/tag38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notesSlides/notesSlide127.xml" ContentType="application/vnd.openxmlformats-officedocument.presentationml.notesSlide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notesSlides/notesSlide128.xml" ContentType="application/vnd.openxmlformats-officedocument.presentationml.notesSlide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notesSlides/notesSlide129.xml" ContentType="application/vnd.openxmlformats-officedocument.presentationml.notesSlide+xml"/>
  <Override PartName="/ppt/tags/tag397.xml" ContentType="application/vnd.openxmlformats-officedocument.presentationml.tags+xml"/>
  <Override PartName="/ppt/notesSlides/notesSlide130.xml" ContentType="application/vnd.openxmlformats-officedocument.presentationml.notesSlide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00.xml" ContentType="application/vnd.openxmlformats-officedocument.presentationml.tags+xml"/>
  <Override PartName="/ppt/notesSlides/notesSlide131.xml" ContentType="application/vnd.openxmlformats-officedocument.presentationml.notesSlide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notesSlides/notesSlide132.xml" ContentType="application/vnd.openxmlformats-officedocument.presentationml.notesSlide+xml"/>
  <Override PartName="/ppt/tags/tag404.xml" ContentType="application/vnd.openxmlformats-officedocument.presentationml.tags+xml"/>
  <Override PartName="/ppt/notesSlides/notesSlide1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35"/>
  </p:notesMasterIdLst>
  <p:handoutMasterIdLst>
    <p:handoutMasterId r:id="rId136"/>
  </p:handoutMasterIdLst>
  <p:sldIdLst>
    <p:sldId id="386" r:id="rId2"/>
    <p:sldId id="257" r:id="rId3"/>
    <p:sldId id="759" r:id="rId4"/>
    <p:sldId id="568" r:id="rId5"/>
    <p:sldId id="569" r:id="rId6"/>
    <p:sldId id="570" r:id="rId7"/>
    <p:sldId id="571" r:id="rId8"/>
    <p:sldId id="760" r:id="rId9"/>
    <p:sldId id="572" r:id="rId10"/>
    <p:sldId id="573" r:id="rId11"/>
    <p:sldId id="576" r:id="rId12"/>
    <p:sldId id="577" r:id="rId13"/>
    <p:sldId id="581" r:id="rId14"/>
    <p:sldId id="582" r:id="rId15"/>
    <p:sldId id="585" r:id="rId16"/>
    <p:sldId id="721" r:id="rId17"/>
    <p:sldId id="814" r:id="rId18"/>
    <p:sldId id="816" r:id="rId19"/>
    <p:sldId id="817" r:id="rId20"/>
    <p:sldId id="818" r:id="rId21"/>
    <p:sldId id="819" r:id="rId22"/>
    <p:sldId id="761" r:id="rId23"/>
    <p:sldId id="586" r:id="rId24"/>
    <p:sldId id="588" r:id="rId25"/>
    <p:sldId id="589" r:id="rId26"/>
    <p:sldId id="762" r:id="rId27"/>
    <p:sldId id="591" r:id="rId28"/>
    <p:sldId id="592" r:id="rId29"/>
    <p:sldId id="594" r:id="rId30"/>
    <p:sldId id="596" r:id="rId31"/>
    <p:sldId id="598" r:id="rId32"/>
    <p:sldId id="600" r:id="rId33"/>
    <p:sldId id="602" r:id="rId34"/>
    <p:sldId id="603" r:id="rId35"/>
    <p:sldId id="820" r:id="rId36"/>
    <p:sldId id="625" r:id="rId37"/>
    <p:sldId id="606" r:id="rId38"/>
    <p:sldId id="607" r:id="rId39"/>
    <p:sldId id="614" r:id="rId40"/>
    <p:sldId id="616" r:id="rId41"/>
    <p:sldId id="619" r:id="rId42"/>
    <p:sldId id="621" r:id="rId43"/>
    <p:sldId id="771" r:id="rId44"/>
    <p:sldId id="772" r:id="rId45"/>
    <p:sldId id="763" r:id="rId46"/>
    <p:sldId id="629" r:id="rId47"/>
    <p:sldId id="640" r:id="rId48"/>
    <p:sldId id="731" r:id="rId49"/>
    <p:sldId id="773" r:id="rId50"/>
    <p:sldId id="632" r:id="rId51"/>
    <p:sldId id="723" r:id="rId52"/>
    <p:sldId id="636" r:id="rId53"/>
    <p:sldId id="724" r:id="rId54"/>
    <p:sldId id="725" r:id="rId55"/>
    <p:sldId id="726" r:id="rId56"/>
    <p:sldId id="727" r:id="rId57"/>
    <p:sldId id="729" r:id="rId58"/>
    <p:sldId id="730" r:id="rId59"/>
    <p:sldId id="658" r:id="rId60"/>
    <p:sldId id="735" r:id="rId61"/>
    <p:sldId id="732" r:id="rId62"/>
    <p:sldId id="808" r:id="rId63"/>
    <p:sldId id="733" r:id="rId64"/>
    <p:sldId id="734" r:id="rId65"/>
    <p:sldId id="660" r:id="rId66"/>
    <p:sldId id="736" r:id="rId67"/>
    <p:sldId id="737" r:id="rId68"/>
    <p:sldId id="782" r:id="rId69"/>
    <p:sldId id="783" r:id="rId70"/>
    <p:sldId id="810" r:id="rId71"/>
    <p:sldId id="811" r:id="rId72"/>
    <p:sldId id="812" r:id="rId73"/>
    <p:sldId id="813" r:id="rId74"/>
    <p:sldId id="792" r:id="rId75"/>
    <p:sldId id="682" r:id="rId76"/>
    <p:sldId id="683" r:id="rId77"/>
    <p:sldId id="684" r:id="rId78"/>
    <p:sldId id="804" r:id="rId79"/>
    <p:sldId id="823" r:id="rId80"/>
    <p:sldId id="686" r:id="rId81"/>
    <p:sldId id="687" r:id="rId82"/>
    <p:sldId id="688" r:id="rId83"/>
    <p:sldId id="796" r:id="rId84"/>
    <p:sldId id="805" r:id="rId85"/>
    <p:sldId id="803" r:id="rId86"/>
    <p:sldId id="806" r:id="rId87"/>
    <p:sldId id="807" r:id="rId88"/>
    <p:sldId id="784" r:id="rId89"/>
    <p:sldId id="795" r:id="rId90"/>
    <p:sldId id="775" r:id="rId91"/>
    <p:sldId id="776" r:id="rId92"/>
    <p:sldId id="781" r:id="rId93"/>
    <p:sldId id="786" r:id="rId94"/>
    <p:sldId id="787" r:id="rId95"/>
    <p:sldId id="788" r:id="rId96"/>
    <p:sldId id="790" r:id="rId97"/>
    <p:sldId id="791" r:id="rId98"/>
    <p:sldId id="794" r:id="rId99"/>
    <p:sldId id="689" r:id="rId100"/>
    <p:sldId id="690" r:id="rId101"/>
    <p:sldId id="691" r:id="rId102"/>
    <p:sldId id="797" r:id="rId103"/>
    <p:sldId id="692" r:id="rId104"/>
    <p:sldId id="743" r:id="rId105"/>
    <p:sldId id="695" r:id="rId106"/>
    <p:sldId id="745" r:id="rId107"/>
    <p:sldId id="697" r:id="rId108"/>
    <p:sldId id="700" r:id="rId109"/>
    <p:sldId id="755" r:id="rId110"/>
    <p:sldId id="798" r:id="rId111"/>
    <p:sldId id="809" r:id="rId112"/>
    <p:sldId id="703" r:id="rId113"/>
    <p:sldId id="756" r:id="rId114"/>
    <p:sldId id="799" r:id="rId115"/>
    <p:sldId id="705" r:id="rId116"/>
    <p:sldId id="706" r:id="rId117"/>
    <p:sldId id="824" r:id="rId118"/>
    <p:sldId id="748" r:id="rId119"/>
    <p:sldId id="800" r:id="rId120"/>
    <p:sldId id="709" r:id="rId121"/>
    <p:sldId id="710" r:id="rId122"/>
    <p:sldId id="711" r:id="rId123"/>
    <p:sldId id="801" r:id="rId124"/>
    <p:sldId id="712" r:id="rId125"/>
    <p:sldId id="713" r:id="rId126"/>
    <p:sldId id="714" r:id="rId127"/>
    <p:sldId id="715" r:id="rId128"/>
    <p:sldId id="716" r:id="rId129"/>
    <p:sldId id="754" r:id="rId130"/>
    <p:sldId id="718" r:id="rId131"/>
    <p:sldId id="719" r:id="rId132"/>
    <p:sldId id="720" r:id="rId133"/>
    <p:sldId id="757" r:id="rId134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clrMode="bw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32A6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681" autoAdjust="0"/>
    <p:restoredTop sz="77102" autoAdjust="0"/>
  </p:normalViewPr>
  <p:slideViewPr>
    <p:cSldViewPr>
      <p:cViewPr varScale="1">
        <p:scale>
          <a:sx n="62" d="100"/>
          <a:sy n="62" d="100"/>
        </p:scale>
        <p:origin x="1562" y="1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192" d="100"/>
          <a:sy n="192" d="100"/>
        </p:scale>
        <p:origin x="1520" y="19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viewProps" Target="viewProps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slide" Target="slides/slide127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slide" Target="slides/slide133.xml"/><Relationship Id="rId139" Type="http://schemas.openxmlformats.org/officeDocument/2006/relationships/theme" Target="theme/theme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notesMaster" Target="notesMasters/notesMaster1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handoutMaster" Target="handoutMasters/handoutMaster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358DC7-2DB0-F743-B206-666BD2CB356D}" type="datetimeFigureOut">
              <a:rPr lang="en-US" smtClean="0"/>
              <a:t>7/28/2023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EB4F19-52D0-CA4D-A6ED-ADA89533F6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4364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BD5E47-F045-4C01-A154-66E3997AD169}" type="datetimeFigureOut">
              <a:rPr lang="en-US" smtClean="0"/>
              <a:t>7/28/2023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3EC52C-64D1-4EF5-AC14-14AF6A3FC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8102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3EC52C-64D1-4EF5-AC14-14AF6A3FC30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9068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E107E65D-A422-4C30-B3F0-AE1AD199FA59}" type="slidenum">
              <a:rPr lang="en-US" sz="1200">
                <a:latin typeface="Times New Roman" pitchFamily="18" charset="0"/>
              </a:rPr>
              <a:pPr eaLnBrk="1" hangingPunct="1"/>
              <a:t>2</a:t>
            </a:fld>
            <a:endParaRPr lang="en-US" sz="1200">
              <a:latin typeface="Times New Roman" pitchFamily="18" charset="0"/>
            </a:endParaRPr>
          </a:p>
        </p:txBody>
      </p:sp>
      <p:sp>
        <p:nvSpPr>
          <p:cNvPr id="1269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8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3EC52C-64D1-4EF5-AC14-14AF6A3FC30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4403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19F5EE0-56FA-4BE8-8AFE-4060AAC94837}" type="slidenum">
              <a:rPr lang="en-US"/>
              <a:pPr/>
              <a:t>4</a:t>
            </a:fld>
            <a:endParaRPr lang="en-US"/>
          </a:p>
        </p:txBody>
      </p:sp>
      <p:sp>
        <p:nvSpPr>
          <p:cNvPr id="9635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35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4D37E0B-3DAB-475B-8FC7-B1D69D97DB55}" type="slidenum">
              <a:rPr lang="en-US"/>
              <a:pPr/>
              <a:t>5</a:t>
            </a:fld>
            <a:endParaRPr lang="en-US"/>
          </a:p>
        </p:txBody>
      </p:sp>
      <p:sp>
        <p:nvSpPr>
          <p:cNvPr id="9646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46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43D87C6-1B3F-4CCB-ACC2-0B5CA304ECE9}" type="slidenum">
              <a:rPr lang="en-US"/>
              <a:pPr/>
              <a:t>6</a:t>
            </a:fld>
            <a:endParaRPr lang="en-US"/>
          </a:p>
        </p:txBody>
      </p:sp>
      <p:sp>
        <p:nvSpPr>
          <p:cNvPr id="9656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56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35EC506-4CB4-4D2F-AA5C-3B96B8A4D501}" type="slidenum">
              <a:rPr lang="en-US"/>
              <a:pPr/>
              <a:t>7</a:t>
            </a:fld>
            <a:endParaRPr lang="en-US"/>
          </a:p>
        </p:txBody>
      </p:sp>
      <p:sp>
        <p:nvSpPr>
          <p:cNvPr id="9666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66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3EC52C-64D1-4EF5-AC14-14AF6A3FC30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4403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9D5204-050E-4BB4-9CAD-069BB89B7376}" type="slidenum">
              <a:rPr lang="en-US"/>
              <a:pPr/>
              <a:t>9</a:t>
            </a:fld>
            <a:endParaRPr lang="en-US"/>
          </a:p>
        </p:txBody>
      </p:sp>
      <p:sp>
        <p:nvSpPr>
          <p:cNvPr id="967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76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F75B791-7938-4EF5-B09A-81FCA0ECAB92}" type="slidenum">
              <a:rPr lang="en-US"/>
              <a:pPr/>
              <a:t>10</a:t>
            </a:fld>
            <a:endParaRPr lang="en-US"/>
          </a:p>
        </p:txBody>
      </p:sp>
      <p:sp>
        <p:nvSpPr>
          <p:cNvPr id="11120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20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42990E3-3D55-410D-A227-5F474A298FBB}" type="slidenum">
              <a:rPr lang="en-US"/>
              <a:pPr/>
              <a:t>11</a:t>
            </a:fld>
            <a:endParaRPr lang="en-US"/>
          </a:p>
        </p:txBody>
      </p:sp>
      <p:sp>
        <p:nvSpPr>
          <p:cNvPr id="10240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42990E3-3D55-410D-A227-5F474A298FBB}" type="slidenum">
              <a:rPr lang="en-US"/>
              <a:pPr/>
              <a:t>12</a:t>
            </a:fld>
            <a:endParaRPr lang="en-US"/>
          </a:p>
        </p:txBody>
      </p:sp>
      <p:sp>
        <p:nvSpPr>
          <p:cNvPr id="10240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217FECA-8382-46E7-8BB7-9AD0B36C0195}" type="slidenum">
              <a:rPr lang="en-US"/>
              <a:pPr/>
              <a:t>13</a:t>
            </a:fld>
            <a:endParaRPr lang="en-US"/>
          </a:p>
        </p:txBody>
      </p:sp>
      <p:sp>
        <p:nvSpPr>
          <p:cNvPr id="969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97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F009647-BF47-4C08-85D8-20F4CC8944FF}" type="slidenum">
              <a:rPr lang="en-US"/>
              <a:pPr/>
              <a:t>14</a:t>
            </a:fld>
            <a:endParaRPr lang="en-US"/>
          </a:p>
        </p:txBody>
      </p:sp>
      <p:sp>
        <p:nvSpPr>
          <p:cNvPr id="970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0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4A031BD-F81F-4889-9B4B-8220F6CC56E3}" type="slidenum">
              <a:rPr lang="en-US"/>
              <a:pPr/>
              <a:t>15</a:t>
            </a:fld>
            <a:endParaRPr lang="en-US"/>
          </a:p>
        </p:txBody>
      </p:sp>
      <p:sp>
        <p:nvSpPr>
          <p:cNvPr id="1107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7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4A031BD-F81F-4889-9B4B-8220F6CC56E3}" type="slidenum">
              <a:rPr lang="en-US"/>
              <a:pPr/>
              <a:t>16</a:t>
            </a:fld>
            <a:endParaRPr lang="en-US"/>
          </a:p>
        </p:txBody>
      </p:sp>
      <p:sp>
        <p:nvSpPr>
          <p:cNvPr id="1107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7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4A031BD-F81F-4889-9B4B-8220F6CC56E3}" type="slidenum">
              <a:rPr lang="en-US"/>
              <a:pPr/>
              <a:t>17</a:t>
            </a:fld>
            <a:endParaRPr lang="en-US"/>
          </a:p>
        </p:txBody>
      </p:sp>
      <p:sp>
        <p:nvSpPr>
          <p:cNvPr id="1107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7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4A031BD-F81F-4889-9B4B-8220F6CC56E3}" type="slidenum">
              <a:rPr lang="en-US"/>
              <a:pPr/>
              <a:t>18</a:t>
            </a:fld>
            <a:endParaRPr lang="en-US"/>
          </a:p>
        </p:txBody>
      </p:sp>
      <p:sp>
        <p:nvSpPr>
          <p:cNvPr id="1107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7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4A031BD-F81F-4889-9B4B-8220F6CC56E3}" type="slidenum">
              <a:rPr lang="en-US"/>
              <a:pPr/>
              <a:t>19</a:t>
            </a:fld>
            <a:endParaRPr lang="en-US"/>
          </a:p>
        </p:txBody>
      </p:sp>
      <p:sp>
        <p:nvSpPr>
          <p:cNvPr id="1107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7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4A031BD-F81F-4889-9B4B-8220F6CC56E3}" type="slidenum">
              <a:rPr lang="en-US"/>
              <a:pPr/>
              <a:t>20</a:t>
            </a:fld>
            <a:endParaRPr lang="en-US"/>
          </a:p>
        </p:txBody>
      </p:sp>
      <p:sp>
        <p:nvSpPr>
          <p:cNvPr id="1107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7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4A031BD-F81F-4889-9B4B-8220F6CC56E3}" type="slidenum">
              <a:rPr lang="en-US"/>
              <a:pPr/>
              <a:t>21</a:t>
            </a:fld>
            <a:endParaRPr lang="en-US"/>
          </a:p>
        </p:txBody>
      </p:sp>
      <p:sp>
        <p:nvSpPr>
          <p:cNvPr id="1107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7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3EC52C-64D1-4EF5-AC14-14AF6A3FC30C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44030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E20F679-6A4D-4609-BE32-9BD48A7FABB3}" type="slidenum">
              <a:rPr lang="en-US"/>
              <a:pPr/>
              <a:t>23</a:t>
            </a:fld>
            <a:endParaRPr lang="en-US"/>
          </a:p>
        </p:txBody>
      </p:sp>
      <p:sp>
        <p:nvSpPr>
          <p:cNvPr id="9728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CDC6CD8-E8E2-45E0-8BB1-A2E08383FDE6}" type="slidenum">
              <a:rPr lang="en-US"/>
              <a:pPr/>
              <a:t>24</a:t>
            </a:fld>
            <a:endParaRPr lang="en-US"/>
          </a:p>
        </p:txBody>
      </p:sp>
      <p:sp>
        <p:nvSpPr>
          <p:cNvPr id="9738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38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CDC6CD8-E8E2-45E0-8BB1-A2E08383FDE6}" type="slidenum">
              <a:rPr lang="en-US"/>
              <a:pPr/>
              <a:t>25</a:t>
            </a:fld>
            <a:endParaRPr lang="en-US"/>
          </a:p>
        </p:txBody>
      </p:sp>
      <p:sp>
        <p:nvSpPr>
          <p:cNvPr id="9738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38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3EC52C-64D1-4EF5-AC14-14AF6A3FC30C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44030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CDC6CD8-E8E2-45E0-8BB1-A2E08383FDE6}" type="slidenum">
              <a:rPr lang="en-US"/>
              <a:pPr/>
              <a:t>27</a:t>
            </a:fld>
            <a:endParaRPr lang="en-US"/>
          </a:p>
        </p:txBody>
      </p:sp>
      <p:sp>
        <p:nvSpPr>
          <p:cNvPr id="9738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38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CDC6CD8-E8E2-45E0-8BB1-A2E08383FDE6}" type="slidenum">
              <a:rPr lang="en-US"/>
              <a:pPr/>
              <a:t>28</a:t>
            </a:fld>
            <a:endParaRPr lang="en-US"/>
          </a:p>
        </p:txBody>
      </p:sp>
      <p:sp>
        <p:nvSpPr>
          <p:cNvPr id="9738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38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5878C3B-3C10-463C-90F4-47086DE2C62A}" type="slidenum">
              <a:rPr lang="en-US"/>
              <a:pPr/>
              <a:t>29</a:t>
            </a:fld>
            <a:endParaRPr lang="en-US"/>
          </a:p>
        </p:txBody>
      </p:sp>
      <p:sp>
        <p:nvSpPr>
          <p:cNvPr id="10280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8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936891A-AFE6-4A33-85FD-C38964C21F99}" type="slidenum">
              <a:rPr lang="en-US"/>
              <a:pPr/>
              <a:t>30</a:t>
            </a:fld>
            <a:endParaRPr lang="en-US"/>
          </a:p>
        </p:txBody>
      </p:sp>
      <p:sp>
        <p:nvSpPr>
          <p:cNvPr id="1038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8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A2F9A22-37A2-4620-9F9D-88AF73FCF4CD}" type="slidenum">
              <a:rPr lang="en-US"/>
              <a:pPr/>
              <a:t>31</a:t>
            </a:fld>
            <a:endParaRPr lang="en-US"/>
          </a:p>
        </p:txBody>
      </p:sp>
      <p:sp>
        <p:nvSpPr>
          <p:cNvPr id="1040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0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8310F9D-3A68-4B10-9B41-9893A9FD386B}" type="slidenum">
              <a:rPr lang="en-US"/>
              <a:pPr/>
              <a:t>32</a:t>
            </a:fld>
            <a:endParaRPr lang="en-US"/>
          </a:p>
        </p:txBody>
      </p:sp>
      <p:sp>
        <p:nvSpPr>
          <p:cNvPr id="1042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2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95935C4-55E1-46AE-B7A8-3527592A7AC7}" type="slidenum">
              <a:rPr lang="en-US"/>
              <a:pPr/>
              <a:t>33</a:t>
            </a:fld>
            <a:endParaRPr lang="en-US"/>
          </a:p>
        </p:txBody>
      </p:sp>
      <p:sp>
        <p:nvSpPr>
          <p:cNvPr id="1044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CDC6CD8-E8E2-45E0-8BB1-A2E08383FDE6}" type="slidenum">
              <a:rPr lang="en-US"/>
              <a:pPr/>
              <a:t>34</a:t>
            </a:fld>
            <a:endParaRPr lang="en-US"/>
          </a:p>
        </p:txBody>
      </p:sp>
      <p:sp>
        <p:nvSpPr>
          <p:cNvPr id="9738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38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3EC52C-64D1-4EF5-AC14-14AF6A3FC30C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89857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BCC77EE-D763-4A76-845B-5F2BC173BDBB}" type="slidenum">
              <a:rPr lang="en-US"/>
              <a:pPr/>
              <a:t>36</a:t>
            </a:fld>
            <a:endParaRPr lang="en-US"/>
          </a:p>
        </p:txBody>
      </p:sp>
      <p:sp>
        <p:nvSpPr>
          <p:cNvPr id="979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9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BCC77EE-D763-4A76-845B-5F2BC173BDBB}" type="slidenum">
              <a:rPr lang="en-US"/>
              <a:pPr/>
              <a:t>37</a:t>
            </a:fld>
            <a:endParaRPr lang="en-US"/>
          </a:p>
        </p:txBody>
      </p:sp>
      <p:sp>
        <p:nvSpPr>
          <p:cNvPr id="979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9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35996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BCC77EE-D763-4A76-845B-5F2BC173BDBB}" type="slidenum">
              <a:rPr lang="en-US"/>
              <a:pPr/>
              <a:t>38</a:t>
            </a:fld>
            <a:endParaRPr lang="en-US"/>
          </a:p>
        </p:txBody>
      </p:sp>
      <p:sp>
        <p:nvSpPr>
          <p:cNvPr id="979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9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40754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BCC77EE-D763-4A76-845B-5F2BC173BDBB}" type="slidenum">
              <a:rPr lang="en-US"/>
              <a:pPr/>
              <a:t>39</a:t>
            </a:fld>
            <a:endParaRPr lang="en-US"/>
          </a:p>
        </p:txBody>
      </p:sp>
      <p:sp>
        <p:nvSpPr>
          <p:cNvPr id="979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9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BCC77EE-D763-4A76-845B-5F2BC173BDBB}" type="slidenum">
              <a:rPr lang="en-US"/>
              <a:pPr/>
              <a:t>40</a:t>
            </a:fld>
            <a:endParaRPr lang="en-US"/>
          </a:p>
        </p:txBody>
      </p:sp>
      <p:sp>
        <p:nvSpPr>
          <p:cNvPr id="979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9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BCC77EE-D763-4A76-845B-5F2BC173BDBB}" type="slidenum">
              <a:rPr lang="en-US"/>
              <a:pPr/>
              <a:t>41</a:t>
            </a:fld>
            <a:endParaRPr lang="en-US"/>
          </a:p>
        </p:txBody>
      </p:sp>
      <p:sp>
        <p:nvSpPr>
          <p:cNvPr id="979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9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BCC77EE-D763-4A76-845B-5F2BC173BDBB}" type="slidenum">
              <a:rPr lang="en-US"/>
              <a:pPr/>
              <a:t>42</a:t>
            </a:fld>
            <a:endParaRPr lang="en-US"/>
          </a:p>
        </p:txBody>
      </p:sp>
      <p:sp>
        <p:nvSpPr>
          <p:cNvPr id="979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9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BCC77EE-D763-4A76-845B-5F2BC173BDBB}" type="slidenum">
              <a:rPr lang="en-US"/>
              <a:pPr/>
              <a:t>43</a:t>
            </a:fld>
            <a:endParaRPr lang="en-US"/>
          </a:p>
        </p:txBody>
      </p:sp>
      <p:sp>
        <p:nvSpPr>
          <p:cNvPr id="979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9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BCC77EE-D763-4A76-845B-5F2BC173BDBB}" type="slidenum">
              <a:rPr lang="en-US"/>
              <a:pPr/>
              <a:t>44</a:t>
            </a:fld>
            <a:endParaRPr lang="en-US"/>
          </a:p>
        </p:txBody>
      </p:sp>
      <p:sp>
        <p:nvSpPr>
          <p:cNvPr id="979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9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3EC52C-64D1-4EF5-AC14-14AF6A3FC30C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440300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BCC77EE-D763-4A76-845B-5F2BC173BDBB}" type="slidenum">
              <a:rPr lang="en-US"/>
              <a:pPr/>
              <a:t>46</a:t>
            </a:fld>
            <a:endParaRPr lang="en-US"/>
          </a:p>
        </p:txBody>
      </p:sp>
      <p:sp>
        <p:nvSpPr>
          <p:cNvPr id="979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9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BF87D45-BF21-4E75-B5C4-EC8ED64405C5}" type="slidenum">
              <a:rPr lang="en-US"/>
              <a:pPr/>
              <a:t>47</a:t>
            </a:fld>
            <a:endParaRPr lang="en-US"/>
          </a:p>
        </p:txBody>
      </p:sp>
      <p:sp>
        <p:nvSpPr>
          <p:cNvPr id="1046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6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BF87D45-BF21-4E75-B5C4-EC8ED64405C5}" type="slidenum">
              <a:rPr lang="en-US"/>
              <a:pPr/>
              <a:t>48</a:t>
            </a:fld>
            <a:endParaRPr lang="en-US"/>
          </a:p>
        </p:txBody>
      </p:sp>
      <p:sp>
        <p:nvSpPr>
          <p:cNvPr id="1046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6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3EC52C-64D1-4EF5-AC14-14AF6A3FC30C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440300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BCC77EE-D763-4A76-845B-5F2BC173BDBB}" type="slidenum">
              <a:rPr lang="en-US"/>
              <a:pPr/>
              <a:t>50</a:t>
            </a:fld>
            <a:endParaRPr lang="en-US"/>
          </a:p>
        </p:txBody>
      </p:sp>
      <p:sp>
        <p:nvSpPr>
          <p:cNvPr id="979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9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BCC77EE-D763-4A76-845B-5F2BC173BDBB}" type="slidenum">
              <a:rPr lang="en-US"/>
              <a:pPr/>
              <a:t>51</a:t>
            </a:fld>
            <a:endParaRPr lang="en-US"/>
          </a:p>
        </p:txBody>
      </p:sp>
      <p:sp>
        <p:nvSpPr>
          <p:cNvPr id="979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9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BCC77EE-D763-4A76-845B-5F2BC173BDBB}" type="slidenum">
              <a:rPr lang="en-US"/>
              <a:pPr/>
              <a:t>52</a:t>
            </a:fld>
            <a:endParaRPr lang="en-US"/>
          </a:p>
        </p:txBody>
      </p:sp>
      <p:sp>
        <p:nvSpPr>
          <p:cNvPr id="979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9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BCC77EE-D763-4A76-845B-5F2BC173BDBB}" type="slidenum">
              <a:rPr lang="en-US"/>
              <a:pPr/>
              <a:t>53</a:t>
            </a:fld>
            <a:endParaRPr lang="en-US"/>
          </a:p>
        </p:txBody>
      </p:sp>
      <p:sp>
        <p:nvSpPr>
          <p:cNvPr id="979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9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BCC77EE-D763-4A76-845B-5F2BC173BDBB}" type="slidenum">
              <a:rPr lang="en-US"/>
              <a:pPr/>
              <a:t>54</a:t>
            </a:fld>
            <a:endParaRPr lang="en-US"/>
          </a:p>
        </p:txBody>
      </p:sp>
      <p:sp>
        <p:nvSpPr>
          <p:cNvPr id="979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9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BF87D45-BF21-4E75-B5C4-EC8ED64405C5}" type="slidenum">
              <a:rPr lang="en-US"/>
              <a:pPr/>
              <a:t>55</a:t>
            </a:fld>
            <a:endParaRPr lang="en-US"/>
          </a:p>
        </p:txBody>
      </p:sp>
      <p:sp>
        <p:nvSpPr>
          <p:cNvPr id="1046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6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BCC77EE-D763-4A76-845B-5F2BC173BDBB}" type="slidenum">
              <a:rPr lang="en-US"/>
              <a:pPr/>
              <a:t>56</a:t>
            </a:fld>
            <a:endParaRPr lang="en-US"/>
          </a:p>
        </p:txBody>
      </p:sp>
      <p:sp>
        <p:nvSpPr>
          <p:cNvPr id="979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9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BF87D45-BF21-4E75-B5C4-EC8ED64405C5}" type="slidenum">
              <a:rPr lang="en-US"/>
              <a:pPr/>
              <a:t>57</a:t>
            </a:fld>
            <a:endParaRPr lang="en-US"/>
          </a:p>
        </p:txBody>
      </p:sp>
      <p:sp>
        <p:nvSpPr>
          <p:cNvPr id="1046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6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BF87D45-BF21-4E75-B5C4-EC8ED64405C5}" type="slidenum">
              <a:rPr lang="en-US"/>
              <a:pPr/>
              <a:t>58</a:t>
            </a:fld>
            <a:endParaRPr lang="en-US"/>
          </a:p>
        </p:txBody>
      </p:sp>
      <p:sp>
        <p:nvSpPr>
          <p:cNvPr id="1046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6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C25BA7D-21A9-470D-80A1-A68F80B05348}" type="slidenum">
              <a:rPr lang="en-US"/>
              <a:pPr/>
              <a:t>59</a:t>
            </a:fld>
            <a:endParaRPr lang="en-US"/>
          </a:p>
        </p:txBody>
      </p:sp>
      <p:sp>
        <p:nvSpPr>
          <p:cNvPr id="1048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8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BF87D45-BF21-4E75-B5C4-EC8ED64405C5}" type="slidenum">
              <a:rPr lang="en-US"/>
              <a:pPr/>
              <a:t>60</a:t>
            </a:fld>
            <a:endParaRPr lang="en-US"/>
          </a:p>
        </p:txBody>
      </p:sp>
      <p:sp>
        <p:nvSpPr>
          <p:cNvPr id="1046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6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BF87D45-BF21-4E75-B5C4-EC8ED64405C5}" type="slidenum">
              <a:rPr lang="en-US"/>
              <a:pPr/>
              <a:t>61</a:t>
            </a:fld>
            <a:endParaRPr lang="en-US"/>
          </a:p>
        </p:txBody>
      </p:sp>
      <p:sp>
        <p:nvSpPr>
          <p:cNvPr id="1046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6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BCC77EE-D763-4A76-845B-5F2BC173BDBB}" type="slidenum">
              <a:rPr lang="en-US"/>
              <a:pPr/>
              <a:t>62</a:t>
            </a:fld>
            <a:endParaRPr lang="en-US"/>
          </a:p>
        </p:txBody>
      </p:sp>
      <p:sp>
        <p:nvSpPr>
          <p:cNvPr id="979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9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BF87D45-BF21-4E75-B5C4-EC8ED64405C5}" type="slidenum">
              <a:rPr lang="en-US"/>
              <a:pPr/>
              <a:t>63</a:t>
            </a:fld>
            <a:endParaRPr lang="en-US"/>
          </a:p>
        </p:txBody>
      </p:sp>
      <p:sp>
        <p:nvSpPr>
          <p:cNvPr id="1046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6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4A031BD-F81F-4889-9B4B-8220F6CC56E3}" type="slidenum">
              <a:rPr lang="en-US"/>
              <a:pPr/>
              <a:t>64</a:t>
            </a:fld>
            <a:endParaRPr lang="en-US"/>
          </a:p>
        </p:txBody>
      </p:sp>
      <p:sp>
        <p:nvSpPr>
          <p:cNvPr id="1107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7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C25BA7D-21A9-470D-80A1-A68F80B05348}" type="slidenum">
              <a:rPr lang="en-US"/>
              <a:pPr/>
              <a:t>65</a:t>
            </a:fld>
            <a:endParaRPr lang="en-US"/>
          </a:p>
        </p:txBody>
      </p:sp>
      <p:sp>
        <p:nvSpPr>
          <p:cNvPr id="1048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8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BF87D45-BF21-4E75-B5C4-EC8ED64405C5}" type="slidenum">
              <a:rPr lang="en-US"/>
              <a:pPr/>
              <a:t>66</a:t>
            </a:fld>
            <a:endParaRPr lang="en-US"/>
          </a:p>
        </p:txBody>
      </p:sp>
      <p:sp>
        <p:nvSpPr>
          <p:cNvPr id="1046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6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BF87D45-BF21-4E75-B5C4-EC8ED64405C5}" type="slidenum">
              <a:rPr lang="en-US"/>
              <a:pPr/>
              <a:t>67</a:t>
            </a:fld>
            <a:endParaRPr lang="en-US"/>
          </a:p>
        </p:txBody>
      </p:sp>
      <p:sp>
        <p:nvSpPr>
          <p:cNvPr id="1046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6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27AEC4D-A006-43B6-B4FD-9827175F4B51}" type="slidenum">
              <a:rPr lang="en-US"/>
              <a:pPr/>
              <a:t>68</a:t>
            </a:fld>
            <a:endParaRPr lang="en-US"/>
          </a:p>
        </p:txBody>
      </p:sp>
      <p:sp>
        <p:nvSpPr>
          <p:cNvPr id="9830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27AEC4D-A006-43B6-B4FD-9827175F4B51}" type="slidenum">
              <a:rPr lang="en-US"/>
              <a:pPr/>
              <a:t>69</a:t>
            </a:fld>
            <a:endParaRPr lang="en-US"/>
          </a:p>
        </p:txBody>
      </p:sp>
      <p:sp>
        <p:nvSpPr>
          <p:cNvPr id="9830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3EC52C-64D1-4EF5-AC14-14AF6A3FC30C}" type="slidenum">
              <a:rPr lang="en-US" smtClean="0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440300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27AEC4D-A006-43B6-B4FD-9827175F4B51}" type="slidenum">
              <a:rPr lang="en-US"/>
              <a:pPr/>
              <a:t>71</a:t>
            </a:fld>
            <a:endParaRPr lang="en-US"/>
          </a:p>
        </p:txBody>
      </p:sp>
      <p:sp>
        <p:nvSpPr>
          <p:cNvPr id="9830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27AEC4D-A006-43B6-B4FD-9827175F4B51}" type="slidenum">
              <a:rPr lang="en-US"/>
              <a:pPr/>
              <a:t>72</a:t>
            </a:fld>
            <a:endParaRPr lang="en-US"/>
          </a:p>
        </p:txBody>
      </p:sp>
      <p:sp>
        <p:nvSpPr>
          <p:cNvPr id="9830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27AEC4D-A006-43B6-B4FD-9827175F4B51}" type="slidenum">
              <a:rPr lang="en-US"/>
              <a:pPr/>
              <a:t>73</a:t>
            </a:fld>
            <a:endParaRPr lang="en-US"/>
          </a:p>
        </p:txBody>
      </p:sp>
      <p:sp>
        <p:nvSpPr>
          <p:cNvPr id="9830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3EC52C-64D1-4EF5-AC14-14AF6A3FC30C}" type="slidenum">
              <a:rPr lang="en-US" smtClean="0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440300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13261A8-65ED-410E-973A-345C4130B197}" type="slidenum">
              <a:rPr lang="en-US"/>
              <a:pPr/>
              <a:t>75</a:t>
            </a:fld>
            <a:endParaRPr lang="en-US"/>
          </a:p>
        </p:txBody>
      </p:sp>
      <p:sp>
        <p:nvSpPr>
          <p:cNvPr id="9891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91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BAED704-C661-4772-A638-AF47A6F1FAD0}" type="slidenum">
              <a:rPr lang="en-US"/>
              <a:pPr/>
              <a:t>76</a:t>
            </a:fld>
            <a:endParaRPr lang="en-US"/>
          </a:p>
        </p:txBody>
      </p:sp>
      <p:sp>
        <p:nvSpPr>
          <p:cNvPr id="9902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02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AD89123-87E4-4C2B-81D5-9EEE6DF63E2D}" type="slidenum">
              <a:rPr lang="en-US"/>
              <a:pPr/>
              <a:t>77</a:t>
            </a:fld>
            <a:endParaRPr lang="en-US"/>
          </a:p>
        </p:txBody>
      </p:sp>
      <p:sp>
        <p:nvSpPr>
          <p:cNvPr id="9912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12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13261A8-65ED-410E-973A-345C4130B197}" type="slidenum">
              <a:rPr lang="en-US"/>
              <a:pPr/>
              <a:t>78</a:t>
            </a:fld>
            <a:endParaRPr lang="en-US"/>
          </a:p>
        </p:txBody>
      </p:sp>
      <p:sp>
        <p:nvSpPr>
          <p:cNvPr id="9891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91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13261A8-65ED-410E-973A-345C4130B197}" type="slidenum">
              <a:rPr lang="en-US"/>
              <a:pPr/>
              <a:t>79</a:t>
            </a:fld>
            <a:endParaRPr lang="en-US"/>
          </a:p>
        </p:txBody>
      </p:sp>
      <p:sp>
        <p:nvSpPr>
          <p:cNvPr id="9891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91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609635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836AC56-9C0C-4A4B-A190-5BB108F95972}" type="slidenum">
              <a:rPr lang="en-US"/>
              <a:pPr/>
              <a:t>80</a:t>
            </a:fld>
            <a:endParaRPr lang="en-US"/>
          </a:p>
        </p:txBody>
      </p:sp>
      <p:sp>
        <p:nvSpPr>
          <p:cNvPr id="1057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77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1B2BE79-137C-48FC-A69C-42DD13B43902}" type="slidenum">
              <a:rPr lang="en-US"/>
              <a:pPr/>
              <a:t>81</a:t>
            </a:fld>
            <a:endParaRPr lang="en-US"/>
          </a:p>
        </p:txBody>
      </p:sp>
      <p:sp>
        <p:nvSpPr>
          <p:cNvPr id="9932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2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131C689-9B4B-4C58-92C8-6098F7B78CD9}" type="slidenum">
              <a:rPr lang="en-US"/>
              <a:pPr/>
              <a:t>82</a:t>
            </a:fld>
            <a:endParaRPr lang="en-US"/>
          </a:p>
        </p:txBody>
      </p:sp>
      <p:sp>
        <p:nvSpPr>
          <p:cNvPr id="9943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43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3EC52C-64D1-4EF5-AC14-14AF6A3FC30C}" type="slidenum">
              <a:rPr lang="en-US" smtClean="0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440300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13261A8-65ED-410E-973A-345C4130B197}" type="slidenum">
              <a:rPr lang="en-US"/>
              <a:pPr/>
              <a:t>84</a:t>
            </a:fld>
            <a:endParaRPr lang="en-US"/>
          </a:p>
        </p:txBody>
      </p:sp>
      <p:sp>
        <p:nvSpPr>
          <p:cNvPr id="9891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91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13261A8-65ED-410E-973A-345C4130B197}" type="slidenum">
              <a:rPr lang="en-US"/>
              <a:pPr/>
              <a:t>85</a:t>
            </a:fld>
            <a:endParaRPr lang="en-US"/>
          </a:p>
        </p:txBody>
      </p:sp>
      <p:sp>
        <p:nvSpPr>
          <p:cNvPr id="9891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91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13261A8-65ED-410E-973A-345C4130B197}" type="slidenum">
              <a:rPr lang="en-US"/>
              <a:pPr/>
              <a:t>86</a:t>
            </a:fld>
            <a:endParaRPr lang="en-US"/>
          </a:p>
        </p:txBody>
      </p:sp>
      <p:sp>
        <p:nvSpPr>
          <p:cNvPr id="9891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91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13261A8-65ED-410E-973A-345C4130B197}" type="slidenum">
              <a:rPr lang="en-US"/>
              <a:pPr/>
              <a:t>87</a:t>
            </a:fld>
            <a:endParaRPr lang="en-US"/>
          </a:p>
        </p:txBody>
      </p:sp>
      <p:sp>
        <p:nvSpPr>
          <p:cNvPr id="9891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91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3EC52C-64D1-4EF5-AC14-14AF6A3FC30C}" type="slidenum">
              <a:rPr lang="en-US" smtClean="0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440300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BCC77EE-D763-4A76-845B-5F2BC173BDBB}" type="slidenum">
              <a:rPr lang="en-US"/>
              <a:pPr/>
              <a:t>89</a:t>
            </a:fld>
            <a:endParaRPr lang="en-US"/>
          </a:p>
        </p:txBody>
      </p:sp>
      <p:sp>
        <p:nvSpPr>
          <p:cNvPr id="979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9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27AEC4D-A006-43B6-B4FD-9827175F4B51}" type="slidenum">
              <a:rPr lang="en-US"/>
              <a:pPr/>
              <a:t>90</a:t>
            </a:fld>
            <a:endParaRPr lang="en-US"/>
          </a:p>
        </p:txBody>
      </p:sp>
      <p:sp>
        <p:nvSpPr>
          <p:cNvPr id="9830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362070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27AEC4D-A006-43B6-B4FD-9827175F4B51}" type="slidenum">
              <a:rPr lang="en-US"/>
              <a:pPr/>
              <a:t>91</a:t>
            </a:fld>
            <a:endParaRPr lang="en-US"/>
          </a:p>
        </p:txBody>
      </p:sp>
      <p:sp>
        <p:nvSpPr>
          <p:cNvPr id="9830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438139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27AEC4D-A006-43B6-B4FD-9827175F4B51}" type="slidenum">
              <a:rPr lang="en-US"/>
              <a:pPr/>
              <a:t>92</a:t>
            </a:fld>
            <a:endParaRPr lang="en-US"/>
          </a:p>
        </p:txBody>
      </p:sp>
      <p:sp>
        <p:nvSpPr>
          <p:cNvPr id="9830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521894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27AEC4D-A006-43B6-B4FD-9827175F4B51}" type="slidenum">
              <a:rPr lang="en-US"/>
              <a:pPr/>
              <a:t>93</a:t>
            </a:fld>
            <a:endParaRPr lang="en-US"/>
          </a:p>
        </p:txBody>
      </p:sp>
      <p:sp>
        <p:nvSpPr>
          <p:cNvPr id="9830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4457AF8-CBE3-4774-8F45-08852C2DF296}" type="slidenum">
              <a:rPr lang="en-US"/>
              <a:pPr/>
              <a:t>94</a:t>
            </a:fld>
            <a:endParaRPr lang="en-US"/>
          </a:p>
        </p:txBody>
      </p:sp>
      <p:sp>
        <p:nvSpPr>
          <p:cNvPr id="9840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40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14A0E3C-FE7D-46F2-A3FA-F9402B1CFFCF}" type="slidenum">
              <a:rPr lang="en-US"/>
              <a:pPr/>
              <a:t>95</a:t>
            </a:fld>
            <a:endParaRPr lang="en-US"/>
          </a:p>
        </p:txBody>
      </p:sp>
      <p:sp>
        <p:nvSpPr>
          <p:cNvPr id="9850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50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4CE26E5-1FF9-4B6E-ABC4-48A24A646364}" type="slidenum">
              <a:rPr lang="en-US"/>
              <a:pPr/>
              <a:t>96</a:t>
            </a:fld>
            <a:endParaRPr lang="en-US"/>
          </a:p>
        </p:txBody>
      </p:sp>
      <p:sp>
        <p:nvSpPr>
          <p:cNvPr id="9871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71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EA395CB-B906-4D0D-BECD-0835704B3ED7}" type="slidenum">
              <a:rPr lang="en-US"/>
              <a:pPr/>
              <a:t>97</a:t>
            </a:fld>
            <a:endParaRPr lang="en-US"/>
          </a:p>
        </p:txBody>
      </p:sp>
      <p:sp>
        <p:nvSpPr>
          <p:cNvPr id="10516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16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3EC52C-64D1-4EF5-AC14-14AF6A3FC30C}" type="slidenum">
              <a:rPr lang="en-US" smtClean="0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440300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C7A5650-B954-431F-BC9D-AF5C892F4EA4}" type="slidenum">
              <a:rPr lang="en-US"/>
              <a:pPr/>
              <a:t>99</a:t>
            </a:fld>
            <a:endParaRPr lang="en-US"/>
          </a:p>
        </p:txBody>
      </p:sp>
      <p:sp>
        <p:nvSpPr>
          <p:cNvPr id="9953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53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A24B1C5-B02C-4267-9730-3C06857664A8}" type="slidenum">
              <a:rPr lang="en-US"/>
              <a:pPr/>
              <a:t>100</a:t>
            </a:fld>
            <a:endParaRPr lang="en-US"/>
          </a:p>
        </p:txBody>
      </p:sp>
      <p:sp>
        <p:nvSpPr>
          <p:cNvPr id="996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63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C300E77-0698-40BD-8209-D26986EB6F56}" type="slidenum">
              <a:rPr lang="en-US"/>
              <a:pPr/>
              <a:t>101</a:t>
            </a:fld>
            <a:endParaRPr lang="en-US"/>
          </a:p>
        </p:txBody>
      </p:sp>
      <p:sp>
        <p:nvSpPr>
          <p:cNvPr id="1059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98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3EC52C-64D1-4EF5-AC14-14AF6A3FC30C}" type="slidenum">
              <a:rPr lang="en-US" smtClean="0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440300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BD0D880-5E42-413F-8304-55CEB24A0ADC}" type="slidenum">
              <a:rPr lang="en-US"/>
              <a:pPr/>
              <a:t>103</a:t>
            </a:fld>
            <a:endParaRPr lang="en-US"/>
          </a:p>
        </p:txBody>
      </p:sp>
      <p:sp>
        <p:nvSpPr>
          <p:cNvPr id="997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73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BD0D880-5E42-413F-8304-55CEB24A0ADC}" type="slidenum">
              <a:rPr lang="en-US"/>
              <a:pPr/>
              <a:t>104</a:t>
            </a:fld>
            <a:endParaRPr lang="en-US"/>
          </a:p>
        </p:txBody>
      </p:sp>
      <p:sp>
        <p:nvSpPr>
          <p:cNvPr id="997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73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1194518-ED2A-4FE1-9A2F-282A916F9132}" type="slidenum">
              <a:rPr lang="en-US"/>
              <a:pPr/>
              <a:t>105</a:t>
            </a:fld>
            <a:endParaRPr lang="en-US"/>
          </a:p>
        </p:txBody>
      </p:sp>
      <p:sp>
        <p:nvSpPr>
          <p:cNvPr id="10711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11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F75B791-7938-4EF5-B09A-81FCA0ECAB92}" type="slidenum">
              <a:rPr lang="en-US"/>
              <a:pPr/>
              <a:t>106</a:t>
            </a:fld>
            <a:endParaRPr lang="en-US"/>
          </a:p>
        </p:txBody>
      </p:sp>
      <p:sp>
        <p:nvSpPr>
          <p:cNvPr id="11120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20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23BA3D7-4C80-4787-A38D-282410CAE6F1}" type="slidenum">
              <a:rPr lang="en-US"/>
              <a:pPr/>
              <a:t>107</a:t>
            </a:fld>
            <a:endParaRPr lang="en-US"/>
          </a:p>
        </p:txBody>
      </p:sp>
      <p:sp>
        <p:nvSpPr>
          <p:cNvPr id="10024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24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156CE4F-088A-4127-841E-97C4EBD66B79}" type="slidenum">
              <a:rPr lang="en-US"/>
              <a:pPr/>
              <a:t>108</a:t>
            </a:fld>
            <a:endParaRPr lang="en-US"/>
          </a:p>
        </p:txBody>
      </p:sp>
      <p:sp>
        <p:nvSpPr>
          <p:cNvPr id="1073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31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156CE4F-088A-4127-841E-97C4EBD66B79}" type="slidenum">
              <a:rPr lang="en-US"/>
              <a:pPr/>
              <a:t>109</a:t>
            </a:fld>
            <a:endParaRPr lang="en-US"/>
          </a:p>
        </p:txBody>
      </p:sp>
      <p:sp>
        <p:nvSpPr>
          <p:cNvPr id="1073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31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3EC52C-64D1-4EF5-AC14-14AF6A3FC30C}" type="slidenum">
              <a:rPr lang="en-US" smtClean="0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440300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23BA3D7-4C80-4787-A38D-282410CAE6F1}" type="slidenum">
              <a:rPr lang="en-US"/>
              <a:pPr/>
              <a:t>111</a:t>
            </a:fld>
            <a:endParaRPr lang="en-US"/>
          </a:p>
        </p:txBody>
      </p:sp>
      <p:sp>
        <p:nvSpPr>
          <p:cNvPr id="10024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24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C8471D6-9FAA-4144-972A-6465665D2280}" type="slidenum">
              <a:rPr lang="en-US"/>
              <a:pPr/>
              <a:t>112</a:t>
            </a:fld>
            <a:endParaRPr lang="en-US"/>
          </a:p>
        </p:txBody>
      </p:sp>
      <p:sp>
        <p:nvSpPr>
          <p:cNvPr id="1081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13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C8471D6-9FAA-4144-972A-6465665D2280}" type="slidenum">
              <a:rPr lang="en-US"/>
              <a:pPr/>
              <a:t>113</a:t>
            </a:fld>
            <a:endParaRPr lang="en-US"/>
          </a:p>
        </p:txBody>
      </p:sp>
      <p:sp>
        <p:nvSpPr>
          <p:cNvPr id="1081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13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3EC52C-64D1-4EF5-AC14-14AF6A3FC30C}" type="slidenum">
              <a:rPr lang="en-US" smtClean="0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440300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BC2A010-D8B5-4956-AD77-7CB697F294E6}" type="slidenum">
              <a:rPr lang="en-US"/>
              <a:pPr/>
              <a:t>115</a:t>
            </a:fld>
            <a:endParaRPr lang="en-US"/>
          </a:p>
        </p:txBody>
      </p:sp>
      <p:sp>
        <p:nvSpPr>
          <p:cNvPr id="1006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65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A3FED2E-1D6C-44A0-85F6-4B7E5EC7291D}" type="slidenum">
              <a:rPr lang="en-US"/>
              <a:pPr/>
              <a:t>116</a:t>
            </a:fld>
            <a:endParaRPr lang="en-US"/>
          </a:p>
        </p:txBody>
      </p:sp>
      <p:sp>
        <p:nvSpPr>
          <p:cNvPr id="10936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36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A3FED2E-1D6C-44A0-85F6-4B7E5EC7291D}" type="slidenum">
              <a:rPr lang="en-US"/>
              <a:pPr/>
              <a:t>117</a:t>
            </a:fld>
            <a:endParaRPr lang="en-US"/>
          </a:p>
        </p:txBody>
      </p:sp>
      <p:sp>
        <p:nvSpPr>
          <p:cNvPr id="10936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36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050649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9985811-86C3-430D-A2C0-E389873C63E0}" type="slidenum">
              <a:rPr lang="en-US"/>
              <a:pPr/>
              <a:t>118</a:t>
            </a:fld>
            <a:endParaRPr lang="en-US"/>
          </a:p>
        </p:txBody>
      </p:sp>
      <p:sp>
        <p:nvSpPr>
          <p:cNvPr id="10076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76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3EC52C-64D1-4EF5-AC14-14AF6A3FC30C}" type="slidenum">
              <a:rPr lang="en-US" smtClean="0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440300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01463B4-C7E6-4230-BF4B-6A95DDDD3D17}" type="slidenum">
              <a:rPr lang="en-US"/>
              <a:pPr/>
              <a:t>120</a:t>
            </a:fld>
            <a:endParaRPr lang="en-US"/>
          </a:p>
        </p:txBody>
      </p:sp>
      <p:sp>
        <p:nvSpPr>
          <p:cNvPr id="10096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96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9C8E213-DB51-472C-9866-EB9716505CA4}" type="slidenum">
              <a:rPr lang="en-US"/>
              <a:pPr/>
              <a:t>121</a:t>
            </a:fld>
            <a:endParaRPr lang="en-US"/>
          </a:p>
        </p:txBody>
      </p:sp>
      <p:sp>
        <p:nvSpPr>
          <p:cNvPr id="1097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77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302706F-ED4F-4262-84D0-62C0EEC2865D}" type="slidenum">
              <a:rPr lang="en-US"/>
              <a:pPr/>
              <a:t>122</a:t>
            </a:fld>
            <a:endParaRPr lang="en-US"/>
          </a:p>
        </p:txBody>
      </p:sp>
      <p:sp>
        <p:nvSpPr>
          <p:cNvPr id="10106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06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3EC52C-64D1-4EF5-AC14-14AF6A3FC30C}" type="slidenum">
              <a:rPr lang="en-US" smtClean="0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440300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BE05186-FCC2-4A2D-A400-07B1D3379528}" type="slidenum">
              <a:rPr lang="en-US"/>
              <a:pPr/>
              <a:t>124</a:t>
            </a:fld>
            <a:endParaRPr lang="en-US"/>
          </a:p>
        </p:txBody>
      </p:sp>
      <p:sp>
        <p:nvSpPr>
          <p:cNvPr id="10117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17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B0DA16-AD53-4042-9247-495EB0C84AF1}" type="slidenum">
              <a:rPr lang="en-US"/>
              <a:pPr/>
              <a:t>125</a:t>
            </a:fld>
            <a:endParaRPr lang="en-US"/>
          </a:p>
        </p:txBody>
      </p:sp>
      <p:sp>
        <p:nvSpPr>
          <p:cNvPr id="10127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27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73252E0-C543-453A-A3CD-7D3E22E429E1}" type="slidenum">
              <a:rPr lang="en-US"/>
              <a:pPr/>
              <a:t>126</a:t>
            </a:fld>
            <a:endParaRPr lang="en-US"/>
          </a:p>
        </p:txBody>
      </p:sp>
      <p:sp>
        <p:nvSpPr>
          <p:cNvPr id="10137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7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C1116A2-289C-46C5-9D36-D6AE93CCD44C}" type="slidenum">
              <a:rPr lang="en-US"/>
              <a:pPr/>
              <a:t>127</a:t>
            </a:fld>
            <a:endParaRPr lang="en-US"/>
          </a:p>
        </p:txBody>
      </p:sp>
      <p:sp>
        <p:nvSpPr>
          <p:cNvPr id="10147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47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3D9EDBB-1C0D-423E-BD1A-31C54EAD9EC4}" type="slidenum">
              <a:rPr lang="en-US"/>
              <a:pPr/>
              <a:t>128</a:t>
            </a:fld>
            <a:endParaRPr lang="en-US"/>
          </a:p>
        </p:txBody>
      </p:sp>
      <p:sp>
        <p:nvSpPr>
          <p:cNvPr id="10158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58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C3F9E32-A147-4A89-84FC-CDED79CE5E5A}" type="slidenum">
              <a:rPr lang="en-US"/>
              <a:pPr/>
              <a:t>129</a:t>
            </a:fld>
            <a:endParaRPr lang="en-US"/>
          </a:p>
        </p:txBody>
      </p:sp>
      <p:sp>
        <p:nvSpPr>
          <p:cNvPr id="10168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68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22EA0A7-C596-4378-9E3B-264C02717B05}" type="slidenum">
              <a:rPr lang="en-US"/>
              <a:pPr/>
              <a:t>130</a:t>
            </a:fld>
            <a:endParaRPr lang="en-US"/>
          </a:p>
        </p:txBody>
      </p:sp>
      <p:sp>
        <p:nvSpPr>
          <p:cNvPr id="10178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78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D157202-96F5-4EC5-94AB-A335E1449AAB}" type="slidenum">
              <a:rPr lang="en-US"/>
              <a:pPr/>
              <a:t>131</a:t>
            </a:fld>
            <a:endParaRPr lang="en-US"/>
          </a:p>
        </p:txBody>
      </p:sp>
      <p:sp>
        <p:nvSpPr>
          <p:cNvPr id="10188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88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BCFF6C5-8D54-44FA-ADEE-D1E2AA125DCC}" type="slidenum">
              <a:rPr lang="en-US"/>
              <a:pPr/>
              <a:t>132</a:t>
            </a:fld>
            <a:endParaRPr lang="en-US"/>
          </a:p>
        </p:txBody>
      </p:sp>
      <p:sp>
        <p:nvSpPr>
          <p:cNvPr id="10199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99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09316B91-6EC7-44FA-904A-DEB4C956EB6A}" type="slidenum">
              <a:rPr lang="en-US" sz="1200">
                <a:latin typeface="Times New Roman" pitchFamily="18" charset="0"/>
              </a:rPr>
              <a:pPr eaLnBrk="1" hangingPunct="1"/>
              <a:t>133</a:t>
            </a:fld>
            <a:endParaRPr lang="en-US" sz="1200">
              <a:latin typeface="Times New Roman" pitchFamily="18" charset="0"/>
            </a:endParaRPr>
          </a:p>
        </p:txBody>
      </p:sp>
      <p:sp>
        <p:nvSpPr>
          <p:cNvPr id="2252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28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0336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F7A13AD7-69E1-6248-A6EE-FE0CFBC4AE8F}"/>
              </a:ext>
            </a:extLst>
          </p:cNvPr>
          <p:cNvSpPr/>
          <p:nvPr userDrawn="1"/>
        </p:nvSpPr>
        <p:spPr>
          <a:xfrm>
            <a:off x="154744" y="126608"/>
            <a:ext cx="8820443" cy="6594867"/>
          </a:xfrm>
          <a:prstGeom prst="roundRect">
            <a:avLst/>
          </a:prstGeom>
          <a:solidFill>
            <a:srgbClr val="EEAA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5235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36990"/>
            <a:ext cx="7886700" cy="68995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181686"/>
            <a:ext cx="7886700" cy="4995277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13462147-EDE9-BE4D-B854-4A088E87CB19}"/>
              </a:ext>
            </a:extLst>
          </p:cNvPr>
          <p:cNvSpPr/>
          <p:nvPr userDrawn="1"/>
        </p:nvSpPr>
        <p:spPr>
          <a:xfrm>
            <a:off x="166255" y="6356354"/>
            <a:ext cx="8811489" cy="337610"/>
          </a:xfrm>
          <a:prstGeom prst="roundRect">
            <a:avLst/>
          </a:prstGeom>
          <a:solidFill>
            <a:srgbClr val="EEAA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D80D60CE-160C-7C4C-9296-D50FFDD4BB0A}"/>
              </a:ext>
            </a:extLst>
          </p:cNvPr>
          <p:cNvSpPr/>
          <p:nvPr userDrawn="1"/>
        </p:nvSpPr>
        <p:spPr>
          <a:xfrm>
            <a:off x="166255" y="336990"/>
            <a:ext cx="8811490" cy="689952"/>
          </a:xfrm>
          <a:prstGeom prst="roundRect">
            <a:avLst/>
          </a:prstGeom>
          <a:solidFill>
            <a:srgbClr val="EEAA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372E7C-10C9-4444-B1E4-C472D5E03086}"/>
              </a:ext>
            </a:extLst>
          </p:cNvPr>
          <p:cNvSpPr txBox="1"/>
          <p:nvPr userDrawn="1"/>
        </p:nvSpPr>
        <p:spPr>
          <a:xfrm>
            <a:off x="209551" y="6369051"/>
            <a:ext cx="183237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b="1" i="0" dirty="0">
                <a:latin typeface="Arial Black" panose="020B0604020202020204" pitchFamily="34" charset="0"/>
                <a:cs typeface="Arial Black" panose="020B0604020202020204" pitchFamily="34" charset="0"/>
              </a:rPr>
              <a:t>From Zero to One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068E1A1-02DD-FC4B-9FA6-051F4533EE86}"/>
              </a:ext>
            </a:extLst>
          </p:cNvPr>
          <p:cNvSpPr txBox="1"/>
          <p:nvPr userDrawn="1"/>
        </p:nvSpPr>
        <p:spPr>
          <a:xfrm>
            <a:off x="166255" y="6369203"/>
            <a:ext cx="8811489" cy="3010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50" b="1" i="0" dirty="0">
                <a:latin typeface="Arial Black" panose="020B0604020202020204" pitchFamily="34" charset="0"/>
                <a:cs typeface="Arial Black" panose="020B0604020202020204" pitchFamily="34" charset="0"/>
              </a:rPr>
              <a:t>Number Systems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75450" y="6356351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49FDE98-FD47-6140-A9A6-6873DAAB1D3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39963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38B95755-7905-5D42-BBB8-DA95748EB582}"/>
              </a:ext>
            </a:extLst>
          </p:cNvPr>
          <p:cNvSpPr/>
          <p:nvPr userDrawn="1"/>
        </p:nvSpPr>
        <p:spPr>
          <a:xfrm>
            <a:off x="154744" y="126608"/>
            <a:ext cx="8820443" cy="6594867"/>
          </a:xfrm>
          <a:prstGeom prst="roundRect">
            <a:avLst/>
          </a:prstGeom>
          <a:solidFill>
            <a:srgbClr val="EEAA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1393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D7609159-D48E-F349-B256-DB7D17048C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181686"/>
            <a:ext cx="7886700" cy="4995277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97B5FEFB-3CBA-0746-B65C-AC24D8B74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3ACCF0AD-1768-4647-8DA0-B0101BAFB7A9}"/>
              </a:ext>
            </a:extLst>
          </p:cNvPr>
          <p:cNvSpPr/>
          <p:nvPr userDrawn="1"/>
        </p:nvSpPr>
        <p:spPr>
          <a:xfrm>
            <a:off x="166255" y="6356354"/>
            <a:ext cx="8811489" cy="337610"/>
          </a:xfrm>
          <a:prstGeom prst="roundRect">
            <a:avLst/>
          </a:prstGeom>
          <a:solidFill>
            <a:srgbClr val="EEAA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3943E0AD-46FE-A640-B37A-D239E4671D92}"/>
              </a:ext>
            </a:extLst>
          </p:cNvPr>
          <p:cNvSpPr/>
          <p:nvPr userDrawn="1"/>
        </p:nvSpPr>
        <p:spPr>
          <a:xfrm>
            <a:off x="166255" y="148248"/>
            <a:ext cx="8811490" cy="689952"/>
          </a:xfrm>
          <a:prstGeom prst="roundRect">
            <a:avLst/>
          </a:prstGeom>
          <a:solidFill>
            <a:srgbClr val="EEAA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D8E6EF9-CBB8-E14A-8F32-0E138FE95B27}"/>
              </a:ext>
            </a:extLst>
          </p:cNvPr>
          <p:cNvSpPr txBox="1"/>
          <p:nvPr userDrawn="1"/>
        </p:nvSpPr>
        <p:spPr>
          <a:xfrm>
            <a:off x="1095375" y="6369050"/>
            <a:ext cx="405764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b="1" i="0" dirty="0">
                <a:latin typeface="Arial Black" panose="020B0604020202020204" pitchFamily="34" charset="0"/>
                <a:cs typeface="Arial Black" panose="020B0604020202020204" pitchFamily="34" charset="0"/>
              </a:rPr>
              <a:t>Digital Design &amp; Computer Architecture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E1939DC-A761-BD4C-807B-E9FC1AA47780}"/>
              </a:ext>
            </a:extLst>
          </p:cNvPr>
          <p:cNvSpPr txBox="1"/>
          <p:nvPr userDrawn="1"/>
        </p:nvSpPr>
        <p:spPr>
          <a:xfrm>
            <a:off x="4267200" y="6369050"/>
            <a:ext cx="462915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50" b="1" i="0" dirty="0">
                <a:latin typeface="Arial Black" panose="020B0604020202020204" pitchFamily="34" charset="0"/>
                <a:cs typeface="Arial Black" panose="020B0604020202020204" pitchFamily="34" charset="0"/>
              </a:rPr>
              <a:t>Combinational Logic Design</a:t>
            </a:r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9893A605-5BCD-A541-8199-9350D8B25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757238" y="6316707"/>
            <a:ext cx="1739900" cy="3524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fld id="{E49FDE98-FD47-6140-A9A6-6873DAAB1D3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43080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 dirty="0" smtClean="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1-&lt;</a:t>
            </a:r>
            <a:fld id="{CC12C447-90FA-420C-B74C-1A635C444937}" type="slidenum">
              <a:rPr lang="en-US"/>
              <a:pPr>
                <a:defRPr/>
              </a:pPr>
              <a:t>‹#›</a:t>
            </a:fld>
            <a:r>
              <a:rPr lang="en-US"/>
              <a:t>&gt;</a:t>
            </a:r>
          </a:p>
          <a:p>
            <a:pPr>
              <a:defRPr/>
            </a:pP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4295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" y="101600"/>
            <a:ext cx="7772400" cy="889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219200"/>
            <a:ext cx="3810000" cy="4953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219200"/>
            <a:ext cx="3810000" cy="2400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771900"/>
            <a:ext cx="3810000" cy="2400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 dirty="0" smtClean="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1-&lt;</a:t>
            </a:r>
            <a:fld id="{E7ED6BBA-2425-4A43-B586-383F2BB07C4C}" type="slidenum">
              <a:rPr lang="en-US"/>
              <a:pPr>
                <a:defRPr/>
              </a:pPr>
              <a:t>‹#›</a:t>
            </a:fld>
            <a:r>
              <a:rPr lang="en-US"/>
              <a:t>&gt;</a:t>
            </a:r>
          </a:p>
          <a:p>
            <a:pPr>
              <a:defRPr/>
            </a:pP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1367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" y="101600"/>
            <a:ext cx="7772400" cy="889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85800" y="1219200"/>
            <a:ext cx="7772400" cy="49530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1-&lt;</a:t>
            </a:r>
            <a:fld id="{68946159-E475-47D9-8550-A9F0B445C791}" type="slidenum">
              <a:rPr lang="en-US"/>
              <a:pPr>
                <a:defRPr/>
              </a:pPr>
              <a:t>‹#›</a:t>
            </a:fld>
            <a:r>
              <a:rPr lang="en-US"/>
              <a:t>&gt;</a:t>
            </a:r>
          </a:p>
          <a:p>
            <a:pPr>
              <a:defRPr/>
            </a:pP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33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101600" y="101600"/>
            <a:ext cx="7772400" cy="889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85800" y="1219200"/>
            <a:ext cx="3810000" cy="2400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219200"/>
            <a:ext cx="3810000" cy="2400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85800" y="3771900"/>
            <a:ext cx="3810000" cy="2400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771900"/>
            <a:ext cx="3810000" cy="2400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1-&lt;</a:t>
            </a:r>
            <a:fld id="{CCDCC2DC-EBCD-44EE-92DB-9C06DDE632FD}" type="slidenum">
              <a:rPr lang="en-US"/>
              <a:pPr>
                <a:defRPr/>
              </a:pPr>
              <a:t>‹#›</a:t>
            </a:fld>
            <a:r>
              <a:rPr lang="en-US"/>
              <a:t>&gt;</a:t>
            </a:r>
          </a:p>
          <a:p>
            <a:pPr>
              <a:defRPr/>
            </a:pP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34680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219200"/>
            <a:ext cx="38100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19200"/>
            <a:ext cx="38100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0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1-&lt;</a:t>
            </a:r>
            <a:fld id="{B4FEF99E-A19F-4A0B-A62E-3729EECDD901}" type="slidenum">
              <a:rPr lang="en-US"/>
              <a:pPr>
                <a:defRPr/>
              </a:pPr>
              <a:t>‹#›</a:t>
            </a:fld>
            <a:r>
              <a:rPr lang="en-US"/>
              <a:t>&gt;</a:t>
            </a:r>
          </a:p>
          <a:p>
            <a:pPr>
              <a:defRPr/>
            </a:pP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95014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" y="101600"/>
            <a:ext cx="7772400" cy="889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219200"/>
            <a:ext cx="3810000" cy="4953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19200"/>
            <a:ext cx="3810000" cy="4953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1-&lt;</a:t>
            </a:r>
            <a:fld id="{9F7ADD3E-E1D6-46D5-BCAD-B4AEBA813F75}" type="slidenum">
              <a:rPr lang="en-US"/>
              <a:pPr>
                <a:defRPr/>
              </a:pPr>
              <a:t>‹#›</a:t>
            </a:fld>
            <a:r>
              <a:rPr lang="en-US"/>
              <a:t>&gt;</a:t>
            </a:r>
          </a:p>
          <a:p>
            <a:pPr>
              <a:defRPr/>
            </a:pP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76607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5928846"/>
            <a:ext cx="9144000" cy="929154"/>
          </a:xfrm>
          <a:prstGeom prst="rect">
            <a:avLst/>
          </a:prstGeom>
          <a:solidFill>
            <a:srgbClr val="231F20"/>
          </a:solidFill>
          <a:ln>
            <a:solidFill>
              <a:srgbClr val="231F2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9144000" cy="919089"/>
          </a:xfrm>
          <a:prstGeom prst="rect">
            <a:avLst/>
          </a:prstGeom>
          <a:solidFill>
            <a:srgbClr val="231F20"/>
          </a:solidFill>
          <a:ln>
            <a:solidFill>
              <a:srgbClr val="231F2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972064"/>
            <a:ext cx="990600" cy="8859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9600" y="5943600"/>
            <a:ext cx="773569" cy="864310"/>
          </a:xfrm>
          <a:prstGeom prst="rect">
            <a:avLst/>
          </a:prstGeom>
        </p:spPr>
      </p:pic>
      <p:sp>
        <p:nvSpPr>
          <p:cNvPr id="12" name="TextBox 11"/>
          <p:cNvSpPr txBox="1"/>
          <p:nvPr userDrawn="1"/>
        </p:nvSpPr>
        <p:spPr>
          <a:xfrm>
            <a:off x="6477000" y="6248400"/>
            <a:ext cx="1981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aseline="0" dirty="0">
                <a:solidFill>
                  <a:schemeClr val="bg1"/>
                </a:solidFill>
              </a:rPr>
              <a:t>Chapter 2 &lt;</a:t>
            </a:r>
            <a:fld id="{D1B2EFE9-D440-4A3B-858C-5FEDF5DD0E10}" type="slidenum">
              <a:rPr lang="en-US" sz="1400" smtClean="0">
                <a:solidFill>
                  <a:schemeClr val="bg1"/>
                </a:solidFill>
              </a:rPr>
              <a:pPr/>
              <a:t>‹#›</a:t>
            </a:fld>
            <a:r>
              <a:rPr lang="en-US" sz="1400" dirty="0">
                <a:solidFill>
                  <a:schemeClr val="bg1"/>
                </a:solidFill>
              </a:rPr>
              <a:t>&gt; 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6248400"/>
            <a:ext cx="5257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Digital Design and Computer Architecture:</a:t>
            </a:r>
            <a:r>
              <a:rPr lang="en-US" sz="1400" baseline="0" dirty="0">
                <a:solidFill>
                  <a:schemeClr val="bg1"/>
                </a:solidFill>
              </a:rPr>
              <a:t> ARM® Edition © 2015</a:t>
            </a:r>
            <a:endParaRPr lang="en-US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04278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335001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3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image" Target="../media/image5.wmf"/><Relationship Id="rId5" Type="http://schemas.openxmlformats.org/officeDocument/2006/relationships/oleObject" Target="../embeddings/oleObject1.bin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image" Target="../media/image6.wmf"/><Relationship Id="rId5" Type="http://schemas.openxmlformats.org/officeDocument/2006/relationships/oleObject" Target="../embeddings/oleObject2.bin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image" Target="../media/image5.wmf"/><Relationship Id="rId5" Type="http://schemas.openxmlformats.org/officeDocument/2006/relationships/oleObject" Target="../embeddings/oleObject3.bin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image" Target="../media/image7.wmf"/><Relationship Id="rId5" Type="http://schemas.openxmlformats.org/officeDocument/2006/relationships/oleObject" Target="../embeddings/oleObject4.bin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image" Target="../media/image8.wmf"/><Relationship Id="rId5" Type="http://schemas.openxmlformats.org/officeDocument/2006/relationships/oleObject" Target="../embeddings/oleObject5.bin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23.xml"/><Relationship Id="rId13" Type="http://schemas.openxmlformats.org/officeDocument/2006/relationships/tags" Target="../tags/tag28.xml"/><Relationship Id="rId18" Type="http://schemas.openxmlformats.org/officeDocument/2006/relationships/slideLayout" Target="../slideLayouts/slideLayout4.xml"/><Relationship Id="rId3" Type="http://schemas.openxmlformats.org/officeDocument/2006/relationships/tags" Target="../tags/tag18.xml"/><Relationship Id="rId7" Type="http://schemas.openxmlformats.org/officeDocument/2006/relationships/tags" Target="../tags/tag22.xml"/><Relationship Id="rId12" Type="http://schemas.openxmlformats.org/officeDocument/2006/relationships/tags" Target="../tags/tag27.xml"/><Relationship Id="rId17" Type="http://schemas.openxmlformats.org/officeDocument/2006/relationships/tags" Target="../tags/tag32.xml"/><Relationship Id="rId2" Type="http://schemas.openxmlformats.org/officeDocument/2006/relationships/tags" Target="../tags/tag17.xml"/><Relationship Id="rId16" Type="http://schemas.openxmlformats.org/officeDocument/2006/relationships/tags" Target="../tags/tag31.xml"/><Relationship Id="rId1" Type="http://schemas.openxmlformats.org/officeDocument/2006/relationships/tags" Target="../tags/tag16.xml"/><Relationship Id="rId6" Type="http://schemas.openxmlformats.org/officeDocument/2006/relationships/tags" Target="../tags/tag21.xml"/><Relationship Id="rId11" Type="http://schemas.openxmlformats.org/officeDocument/2006/relationships/tags" Target="../tags/tag26.xml"/><Relationship Id="rId5" Type="http://schemas.openxmlformats.org/officeDocument/2006/relationships/tags" Target="../tags/tag20.xml"/><Relationship Id="rId15" Type="http://schemas.openxmlformats.org/officeDocument/2006/relationships/tags" Target="../tags/tag30.xml"/><Relationship Id="rId10" Type="http://schemas.openxmlformats.org/officeDocument/2006/relationships/tags" Target="../tags/tag25.xml"/><Relationship Id="rId19" Type="http://schemas.openxmlformats.org/officeDocument/2006/relationships/notesSlide" Target="../notesSlides/notesSlide10.xml"/><Relationship Id="rId4" Type="http://schemas.openxmlformats.org/officeDocument/2006/relationships/tags" Target="../tags/tag19.xml"/><Relationship Id="rId9" Type="http://schemas.openxmlformats.org/officeDocument/2006/relationships/tags" Target="../tags/tag24.xml"/><Relationship Id="rId14" Type="http://schemas.openxmlformats.org/officeDocument/2006/relationships/tags" Target="../tags/tag29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emf"/><Relationship Id="rId3" Type="http://schemas.openxmlformats.org/officeDocument/2006/relationships/tags" Target="../tags/tag35.xml"/><Relationship Id="rId7" Type="http://schemas.openxmlformats.org/officeDocument/2006/relationships/oleObject" Target="../embeddings/oleObject6.bin"/><Relationship Id="rId2" Type="http://schemas.openxmlformats.org/officeDocument/2006/relationships/tags" Target="../tags/tag34.xml"/><Relationship Id="rId1" Type="http://schemas.openxmlformats.org/officeDocument/2006/relationships/tags" Target="../tags/tag33.xml"/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4.xml"/><Relationship Id="rId4" Type="http://schemas.openxmlformats.org/officeDocument/2006/relationships/tags" Target="../tags/tag36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3" Type="http://schemas.openxmlformats.org/officeDocument/2006/relationships/tags" Target="../tags/tag39.xml"/><Relationship Id="rId7" Type="http://schemas.openxmlformats.org/officeDocument/2006/relationships/notesSlide" Target="../notesSlides/notesSlide12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6" Type="http://schemas.openxmlformats.org/officeDocument/2006/relationships/slideLayout" Target="../slideLayouts/slideLayout4.xml"/><Relationship Id="rId5" Type="http://schemas.openxmlformats.org/officeDocument/2006/relationships/tags" Target="../tags/tag41.xml"/><Relationship Id="rId4" Type="http://schemas.openxmlformats.org/officeDocument/2006/relationships/tags" Target="../tags/tag40.xml"/><Relationship Id="rId9" Type="http://schemas.openxmlformats.org/officeDocument/2006/relationships/image" Target="../media/image10.e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emf"/><Relationship Id="rId3" Type="http://schemas.openxmlformats.org/officeDocument/2006/relationships/tags" Target="../tags/tag44.xml"/><Relationship Id="rId7" Type="http://schemas.openxmlformats.org/officeDocument/2006/relationships/oleObject" Target="../embeddings/oleObject8.bin"/><Relationship Id="rId2" Type="http://schemas.openxmlformats.org/officeDocument/2006/relationships/tags" Target="../tags/tag43.xml"/><Relationship Id="rId1" Type="http://schemas.openxmlformats.org/officeDocument/2006/relationships/tags" Target="../tags/tag42.xml"/><Relationship Id="rId6" Type="http://schemas.openxmlformats.org/officeDocument/2006/relationships/notesSlide" Target="../notesSlides/notesSlide13.xml"/><Relationship Id="rId5" Type="http://schemas.openxmlformats.org/officeDocument/2006/relationships/slideLayout" Target="../slideLayouts/slideLayout4.xml"/><Relationship Id="rId4" Type="http://schemas.openxmlformats.org/officeDocument/2006/relationships/tags" Target="../tags/tag4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46.xml"/><Relationship Id="rId5" Type="http://schemas.openxmlformats.org/officeDocument/2006/relationships/image" Target="../media/image12.emf"/><Relationship Id="rId4" Type="http://schemas.openxmlformats.org/officeDocument/2006/relationships/oleObject" Target="../embeddings/oleObject9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.bin"/><Relationship Id="rId3" Type="http://schemas.openxmlformats.org/officeDocument/2006/relationships/tags" Target="../tags/tag49.xml"/><Relationship Id="rId7" Type="http://schemas.openxmlformats.org/officeDocument/2006/relationships/image" Target="../media/image13.emf"/><Relationship Id="rId2" Type="http://schemas.openxmlformats.org/officeDocument/2006/relationships/tags" Target="../tags/tag48.xml"/><Relationship Id="rId1" Type="http://schemas.openxmlformats.org/officeDocument/2006/relationships/tags" Target="../tags/tag47.xml"/><Relationship Id="rId6" Type="http://schemas.openxmlformats.org/officeDocument/2006/relationships/oleObject" Target="../embeddings/oleObject10.bin"/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4.e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tags" Target="../tags/tag57.xml"/><Relationship Id="rId13" Type="http://schemas.openxmlformats.org/officeDocument/2006/relationships/image" Target="../media/image15.emf"/><Relationship Id="rId3" Type="http://schemas.openxmlformats.org/officeDocument/2006/relationships/tags" Target="../tags/tag52.xml"/><Relationship Id="rId7" Type="http://schemas.openxmlformats.org/officeDocument/2006/relationships/tags" Target="../tags/tag56.xml"/><Relationship Id="rId12" Type="http://schemas.openxmlformats.org/officeDocument/2006/relationships/oleObject" Target="../embeddings/oleObject12.bin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6" Type="http://schemas.openxmlformats.org/officeDocument/2006/relationships/tags" Target="../tags/tag55.xml"/><Relationship Id="rId11" Type="http://schemas.openxmlformats.org/officeDocument/2006/relationships/notesSlide" Target="../notesSlides/notesSlide16.xml"/><Relationship Id="rId5" Type="http://schemas.openxmlformats.org/officeDocument/2006/relationships/tags" Target="../tags/tag54.xml"/><Relationship Id="rId15" Type="http://schemas.openxmlformats.org/officeDocument/2006/relationships/image" Target="../media/image16.emf"/><Relationship Id="rId10" Type="http://schemas.openxmlformats.org/officeDocument/2006/relationships/slideLayout" Target="../slideLayouts/slideLayout4.xml"/><Relationship Id="rId4" Type="http://schemas.openxmlformats.org/officeDocument/2006/relationships/tags" Target="../tags/tag53.xml"/><Relationship Id="rId9" Type="http://schemas.openxmlformats.org/officeDocument/2006/relationships/tags" Target="../tags/tag58.xml"/><Relationship Id="rId14" Type="http://schemas.openxmlformats.org/officeDocument/2006/relationships/oleObject" Target="../embeddings/oleObject13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tags" Target="../tags/tag61.xml"/><Relationship Id="rId2" Type="http://schemas.openxmlformats.org/officeDocument/2006/relationships/tags" Target="../tags/tag60.xml"/><Relationship Id="rId1" Type="http://schemas.openxmlformats.org/officeDocument/2006/relationships/tags" Target="../tags/tag59.xml"/><Relationship Id="rId6" Type="http://schemas.openxmlformats.org/officeDocument/2006/relationships/notesSlide" Target="../notesSlides/notesSlide17.xml"/><Relationship Id="rId5" Type="http://schemas.openxmlformats.org/officeDocument/2006/relationships/slideLayout" Target="../slideLayouts/slideLayout4.xml"/><Relationship Id="rId4" Type="http://schemas.openxmlformats.org/officeDocument/2006/relationships/tags" Target="../tags/tag6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Relationship Id="rId6" Type="http://schemas.openxmlformats.org/officeDocument/2006/relationships/notesSlide" Target="../notesSlides/notesSlide18.xml"/><Relationship Id="rId5" Type="http://schemas.openxmlformats.org/officeDocument/2006/relationships/slideLayout" Target="../slideLayouts/slideLayout4.xml"/><Relationship Id="rId4" Type="http://schemas.openxmlformats.org/officeDocument/2006/relationships/tags" Target="../tags/tag6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tags" Target="../tags/tag67.xml"/><Relationship Id="rId6" Type="http://schemas.openxmlformats.org/officeDocument/2006/relationships/notesSlide" Target="../notesSlides/notesSlide19.xml"/><Relationship Id="rId5" Type="http://schemas.openxmlformats.org/officeDocument/2006/relationships/slideLayout" Target="../slideLayouts/slideLayout4.xml"/><Relationship Id="rId4" Type="http://schemas.openxmlformats.org/officeDocument/2006/relationships/tags" Target="../tags/tag7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tags" Target="../tags/tag73.xml"/><Relationship Id="rId2" Type="http://schemas.openxmlformats.org/officeDocument/2006/relationships/tags" Target="../tags/tag72.xml"/><Relationship Id="rId1" Type="http://schemas.openxmlformats.org/officeDocument/2006/relationships/tags" Target="../tags/tag71.xml"/><Relationship Id="rId6" Type="http://schemas.openxmlformats.org/officeDocument/2006/relationships/notesSlide" Target="../notesSlides/notesSlide20.xml"/><Relationship Id="rId5" Type="http://schemas.openxmlformats.org/officeDocument/2006/relationships/slideLayout" Target="../slideLayouts/slideLayout4.xml"/><Relationship Id="rId4" Type="http://schemas.openxmlformats.org/officeDocument/2006/relationships/tags" Target="../tags/tag7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tags" Target="../tags/tag77.xml"/><Relationship Id="rId2" Type="http://schemas.openxmlformats.org/officeDocument/2006/relationships/tags" Target="../tags/tag76.xml"/><Relationship Id="rId1" Type="http://schemas.openxmlformats.org/officeDocument/2006/relationships/tags" Target="../tags/tag75.xml"/><Relationship Id="rId6" Type="http://schemas.openxmlformats.org/officeDocument/2006/relationships/notesSlide" Target="../notesSlides/notesSlide21.xml"/><Relationship Id="rId5" Type="http://schemas.openxmlformats.org/officeDocument/2006/relationships/slideLayout" Target="../slideLayouts/slideLayout4.xml"/><Relationship Id="rId4" Type="http://schemas.openxmlformats.org/officeDocument/2006/relationships/tags" Target="../tags/tag7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7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80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8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tags" Target="../tags/tag84.xml"/><Relationship Id="rId7" Type="http://schemas.openxmlformats.org/officeDocument/2006/relationships/image" Target="../media/image17.wmf"/><Relationship Id="rId2" Type="http://schemas.openxmlformats.org/officeDocument/2006/relationships/tags" Target="../tags/tag83.xml"/><Relationship Id="rId1" Type="http://schemas.openxmlformats.org/officeDocument/2006/relationships/tags" Target="../tags/tag82.xml"/><Relationship Id="rId6" Type="http://schemas.openxmlformats.org/officeDocument/2006/relationships/oleObject" Target="../embeddings/oleObject14.bin"/><Relationship Id="rId5" Type="http://schemas.openxmlformats.org/officeDocument/2006/relationships/notesSlide" Target="../notesSlides/notesSlide29.xml"/><Relationship Id="rId4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tags" Target="../tags/tag87.xml"/><Relationship Id="rId7" Type="http://schemas.openxmlformats.org/officeDocument/2006/relationships/image" Target="../media/image18.wmf"/><Relationship Id="rId2" Type="http://schemas.openxmlformats.org/officeDocument/2006/relationships/tags" Target="../tags/tag86.xml"/><Relationship Id="rId1" Type="http://schemas.openxmlformats.org/officeDocument/2006/relationships/tags" Target="../tags/tag85.xml"/><Relationship Id="rId6" Type="http://schemas.openxmlformats.org/officeDocument/2006/relationships/oleObject" Target="../embeddings/oleObject15.bin"/><Relationship Id="rId5" Type="http://schemas.openxmlformats.org/officeDocument/2006/relationships/notesSlide" Target="../notesSlides/notesSlide30.xml"/><Relationship Id="rId4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tags" Target="../tags/tag90.xml"/><Relationship Id="rId7" Type="http://schemas.openxmlformats.org/officeDocument/2006/relationships/image" Target="../media/image19.wmf"/><Relationship Id="rId2" Type="http://schemas.openxmlformats.org/officeDocument/2006/relationships/tags" Target="../tags/tag89.xml"/><Relationship Id="rId1" Type="http://schemas.openxmlformats.org/officeDocument/2006/relationships/tags" Target="../tags/tag88.xml"/><Relationship Id="rId6" Type="http://schemas.openxmlformats.org/officeDocument/2006/relationships/oleObject" Target="../embeddings/oleObject16.bin"/><Relationship Id="rId5" Type="http://schemas.openxmlformats.org/officeDocument/2006/relationships/notesSlide" Target="../notesSlides/notesSlide31.xml"/><Relationship Id="rId4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wmf"/><Relationship Id="rId3" Type="http://schemas.openxmlformats.org/officeDocument/2006/relationships/tags" Target="../tags/tag93.xml"/><Relationship Id="rId7" Type="http://schemas.openxmlformats.org/officeDocument/2006/relationships/oleObject" Target="../embeddings/oleObject17.bin"/><Relationship Id="rId2" Type="http://schemas.openxmlformats.org/officeDocument/2006/relationships/tags" Target="../tags/tag92.xml"/><Relationship Id="rId1" Type="http://schemas.openxmlformats.org/officeDocument/2006/relationships/tags" Target="../tags/tag91.xml"/><Relationship Id="rId6" Type="http://schemas.openxmlformats.org/officeDocument/2006/relationships/notesSlide" Target="../notesSlides/notesSlide32.xml"/><Relationship Id="rId5" Type="http://schemas.openxmlformats.org/officeDocument/2006/relationships/slideLayout" Target="../slideLayouts/slideLayout4.xml"/><Relationship Id="rId4" Type="http://schemas.openxmlformats.org/officeDocument/2006/relationships/tags" Target="../tags/tag94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.bin"/><Relationship Id="rId3" Type="http://schemas.openxmlformats.org/officeDocument/2006/relationships/tags" Target="../tags/tag97.xml"/><Relationship Id="rId7" Type="http://schemas.openxmlformats.org/officeDocument/2006/relationships/notesSlide" Target="../notesSlides/notesSlide33.xml"/><Relationship Id="rId2" Type="http://schemas.openxmlformats.org/officeDocument/2006/relationships/tags" Target="../tags/tag96.xml"/><Relationship Id="rId1" Type="http://schemas.openxmlformats.org/officeDocument/2006/relationships/tags" Target="../tags/tag95.xml"/><Relationship Id="rId6" Type="http://schemas.openxmlformats.org/officeDocument/2006/relationships/slideLayout" Target="../slideLayouts/slideLayout4.xml"/><Relationship Id="rId5" Type="http://schemas.openxmlformats.org/officeDocument/2006/relationships/tags" Target="../tags/tag99.xml"/><Relationship Id="rId4" Type="http://schemas.openxmlformats.org/officeDocument/2006/relationships/tags" Target="../tags/tag98.xml"/><Relationship Id="rId9" Type="http://schemas.openxmlformats.org/officeDocument/2006/relationships/image" Target="../media/image21.wmf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00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102.xml"/><Relationship Id="rId1" Type="http://schemas.openxmlformats.org/officeDocument/2006/relationships/tags" Target="../tags/tag101.xml"/><Relationship Id="rId4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0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9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0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0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05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06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2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0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5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08.xm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tags" Target="../tags/tag116.xml"/><Relationship Id="rId3" Type="http://schemas.openxmlformats.org/officeDocument/2006/relationships/tags" Target="../tags/tag111.xml"/><Relationship Id="rId7" Type="http://schemas.openxmlformats.org/officeDocument/2006/relationships/tags" Target="../tags/tag115.xml"/><Relationship Id="rId2" Type="http://schemas.openxmlformats.org/officeDocument/2006/relationships/tags" Target="../tags/tag110.xml"/><Relationship Id="rId1" Type="http://schemas.openxmlformats.org/officeDocument/2006/relationships/tags" Target="../tags/tag109.xml"/><Relationship Id="rId6" Type="http://schemas.openxmlformats.org/officeDocument/2006/relationships/tags" Target="../tags/tag114.xml"/><Relationship Id="rId5" Type="http://schemas.openxmlformats.org/officeDocument/2006/relationships/tags" Target="../tags/tag113.xml"/><Relationship Id="rId10" Type="http://schemas.openxmlformats.org/officeDocument/2006/relationships/notesSlide" Target="../notesSlides/notesSlide46.xml"/><Relationship Id="rId4" Type="http://schemas.openxmlformats.org/officeDocument/2006/relationships/tags" Target="../tags/tag112.xml"/><Relationship Id="rId9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tags" Target="../tags/tag119.xml"/><Relationship Id="rId2" Type="http://schemas.openxmlformats.org/officeDocument/2006/relationships/tags" Target="../tags/tag118.xml"/><Relationship Id="rId1" Type="http://schemas.openxmlformats.org/officeDocument/2006/relationships/tags" Target="../tags/tag117.xml"/><Relationship Id="rId5" Type="http://schemas.openxmlformats.org/officeDocument/2006/relationships/notesSlide" Target="../notesSlides/notesSlide47.xml"/><Relationship Id="rId4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.xml"/><Relationship Id="rId3" Type="http://schemas.openxmlformats.org/officeDocument/2006/relationships/tags" Target="../tags/tag122.xml"/><Relationship Id="rId7" Type="http://schemas.openxmlformats.org/officeDocument/2006/relationships/tags" Target="../tags/tag126.xml"/><Relationship Id="rId2" Type="http://schemas.openxmlformats.org/officeDocument/2006/relationships/tags" Target="../tags/tag121.xml"/><Relationship Id="rId1" Type="http://schemas.openxmlformats.org/officeDocument/2006/relationships/tags" Target="../tags/tag120.xml"/><Relationship Id="rId6" Type="http://schemas.openxmlformats.org/officeDocument/2006/relationships/tags" Target="../tags/tag125.xml"/><Relationship Id="rId5" Type="http://schemas.openxmlformats.org/officeDocument/2006/relationships/tags" Target="../tags/tag124.xml"/><Relationship Id="rId4" Type="http://schemas.openxmlformats.org/officeDocument/2006/relationships/tags" Target="../tags/tag123.xml"/><Relationship Id="rId9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128.xml"/><Relationship Id="rId1" Type="http://schemas.openxmlformats.org/officeDocument/2006/relationships/tags" Target="../tags/tag127.xml"/><Relationship Id="rId4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0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29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1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30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2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3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3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3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4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33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5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34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6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35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7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36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8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3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0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38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1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39.xml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tags" Target="../tags/tag147.xml"/><Relationship Id="rId3" Type="http://schemas.openxmlformats.org/officeDocument/2006/relationships/tags" Target="../tags/tag142.xml"/><Relationship Id="rId7" Type="http://schemas.openxmlformats.org/officeDocument/2006/relationships/tags" Target="../tags/tag146.xml"/><Relationship Id="rId2" Type="http://schemas.openxmlformats.org/officeDocument/2006/relationships/tags" Target="../tags/tag141.xml"/><Relationship Id="rId1" Type="http://schemas.openxmlformats.org/officeDocument/2006/relationships/tags" Target="../tags/tag140.xml"/><Relationship Id="rId6" Type="http://schemas.openxmlformats.org/officeDocument/2006/relationships/tags" Target="../tags/tag145.xml"/><Relationship Id="rId5" Type="http://schemas.openxmlformats.org/officeDocument/2006/relationships/tags" Target="../tags/tag144.xml"/><Relationship Id="rId10" Type="http://schemas.openxmlformats.org/officeDocument/2006/relationships/notesSlide" Target="../notesSlides/notesSlide62.xml"/><Relationship Id="rId4" Type="http://schemas.openxmlformats.org/officeDocument/2006/relationships/tags" Target="../tags/tag143.xml"/><Relationship Id="rId9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3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48.xml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tags" Target="../tags/tag156.xml"/><Relationship Id="rId13" Type="http://schemas.openxmlformats.org/officeDocument/2006/relationships/tags" Target="../tags/tag161.xml"/><Relationship Id="rId18" Type="http://schemas.openxmlformats.org/officeDocument/2006/relationships/tags" Target="../tags/tag166.xml"/><Relationship Id="rId26" Type="http://schemas.openxmlformats.org/officeDocument/2006/relationships/image" Target="../media/image16.emf"/><Relationship Id="rId3" Type="http://schemas.openxmlformats.org/officeDocument/2006/relationships/tags" Target="../tags/tag151.xml"/><Relationship Id="rId21" Type="http://schemas.openxmlformats.org/officeDocument/2006/relationships/slideLayout" Target="../slideLayouts/slideLayout4.xml"/><Relationship Id="rId7" Type="http://schemas.openxmlformats.org/officeDocument/2006/relationships/tags" Target="../tags/tag155.xml"/><Relationship Id="rId12" Type="http://schemas.openxmlformats.org/officeDocument/2006/relationships/tags" Target="../tags/tag160.xml"/><Relationship Id="rId17" Type="http://schemas.openxmlformats.org/officeDocument/2006/relationships/tags" Target="../tags/tag165.xml"/><Relationship Id="rId25" Type="http://schemas.openxmlformats.org/officeDocument/2006/relationships/oleObject" Target="../embeddings/oleObject20.bin"/><Relationship Id="rId2" Type="http://schemas.openxmlformats.org/officeDocument/2006/relationships/tags" Target="../tags/tag150.xml"/><Relationship Id="rId16" Type="http://schemas.openxmlformats.org/officeDocument/2006/relationships/tags" Target="../tags/tag164.xml"/><Relationship Id="rId20" Type="http://schemas.openxmlformats.org/officeDocument/2006/relationships/tags" Target="../tags/tag168.xml"/><Relationship Id="rId1" Type="http://schemas.openxmlformats.org/officeDocument/2006/relationships/tags" Target="../tags/tag149.xml"/><Relationship Id="rId6" Type="http://schemas.openxmlformats.org/officeDocument/2006/relationships/tags" Target="../tags/tag154.xml"/><Relationship Id="rId11" Type="http://schemas.openxmlformats.org/officeDocument/2006/relationships/tags" Target="../tags/tag159.xml"/><Relationship Id="rId24" Type="http://schemas.openxmlformats.org/officeDocument/2006/relationships/image" Target="../media/image15.emf"/><Relationship Id="rId5" Type="http://schemas.openxmlformats.org/officeDocument/2006/relationships/tags" Target="../tags/tag153.xml"/><Relationship Id="rId15" Type="http://schemas.openxmlformats.org/officeDocument/2006/relationships/tags" Target="../tags/tag163.xml"/><Relationship Id="rId23" Type="http://schemas.openxmlformats.org/officeDocument/2006/relationships/oleObject" Target="../embeddings/oleObject19.bin"/><Relationship Id="rId10" Type="http://schemas.openxmlformats.org/officeDocument/2006/relationships/tags" Target="../tags/tag158.xml"/><Relationship Id="rId19" Type="http://schemas.openxmlformats.org/officeDocument/2006/relationships/tags" Target="../tags/tag167.xml"/><Relationship Id="rId4" Type="http://schemas.openxmlformats.org/officeDocument/2006/relationships/tags" Target="../tags/tag152.xml"/><Relationship Id="rId9" Type="http://schemas.openxmlformats.org/officeDocument/2006/relationships/tags" Target="../tags/tag157.xml"/><Relationship Id="rId14" Type="http://schemas.openxmlformats.org/officeDocument/2006/relationships/tags" Target="../tags/tag162.xml"/><Relationship Id="rId2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4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6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69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7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70.xml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tags" Target="../tags/tag178.xml"/><Relationship Id="rId13" Type="http://schemas.openxmlformats.org/officeDocument/2006/relationships/tags" Target="../tags/tag183.xml"/><Relationship Id="rId3" Type="http://schemas.openxmlformats.org/officeDocument/2006/relationships/tags" Target="../tags/tag173.xml"/><Relationship Id="rId7" Type="http://schemas.openxmlformats.org/officeDocument/2006/relationships/tags" Target="../tags/tag177.xml"/><Relationship Id="rId12" Type="http://schemas.openxmlformats.org/officeDocument/2006/relationships/tags" Target="../tags/tag182.xml"/><Relationship Id="rId2" Type="http://schemas.openxmlformats.org/officeDocument/2006/relationships/tags" Target="../tags/tag172.xml"/><Relationship Id="rId1" Type="http://schemas.openxmlformats.org/officeDocument/2006/relationships/tags" Target="../tags/tag171.xml"/><Relationship Id="rId6" Type="http://schemas.openxmlformats.org/officeDocument/2006/relationships/tags" Target="../tags/tag176.xml"/><Relationship Id="rId11" Type="http://schemas.openxmlformats.org/officeDocument/2006/relationships/tags" Target="../tags/tag181.xml"/><Relationship Id="rId5" Type="http://schemas.openxmlformats.org/officeDocument/2006/relationships/tags" Target="../tags/tag175.xml"/><Relationship Id="rId15" Type="http://schemas.openxmlformats.org/officeDocument/2006/relationships/notesSlide" Target="../notesSlides/notesSlide68.xml"/><Relationship Id="rId10" Type="http://schemas.openxmlformats.org/officeDocument/2006/relationships/tags" Target="../tags/tag180.xml"/><Relationship Id="rId4" Type="http://schemas.openxmlformats.org/officeDocument/2006/relationships/tags" Target="../tags/tag174.xml"/><Relationship Id="rId9" Type="http://schemas.openxmlformats.org/officeDocument/2006/relationships/tags" Target="../tags/tag179.xml"/><Relationship Id="rId14" Type="http://schemas.openxmlformats.org/officeDocument/2006/relationships/slideLayout" Target="../slideLayouts/slideLayout4.xml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tags" Target="../tags/tag191.xml"/><Relationship Id="rId13" Type="http://schemas.openxmlformats.org/officeDocument/2006/relationships/tags" Target="../tags/tag196.xml"/><Relationship Id="rId18" Type="http://schemas.openxmlformats.org/officeDocument/2006/relationships/tags" Target="../tags/tag201.xml"/><Relationship Id="rId26" Type="http://schemas.openxmlformats.org/officeDocument/2006/relationships/notesSlide" Target="../notesSlides/notesSlide69.xml"/><Relationship Id="rId3" Type="http://schemas.openxmlformats.org/officeDocument/2006/relationships/tags" Target="../tags/tag186.xml"/><Relationship Id="rId21" Type="http://schemas.openxmlformats.org/officeDocument/2006/relationships/tags" Target="../tags/tag204.xml"/><Relationship Id="rId7" Type="http://schemas.openxmlformats.org/officeDocument/2006/relationships/tags" Target="../tags/tag190.xml"/><Relationship Id="rId12" Type="http://schemas.openxmlformats.org/officeDocument/2006/relationships/tags" Target="../tags/tag195.xml"/><Relationship Id="rId17" Type="http://schemas.openxmlformats.org/officeDocument/2006/relationships/tags" Target="../tags/tag200.xml"/><Relationship Id="rId25" Type="http://schemas.openxmlformats.org/officeDocument/2006/relationships/slideLayout" Target="../slideLayouts/slideLayout4.xml"/><Relationship Id="rId2" Type="http://schemas.openxmlformats.org/officeDocument/2006/relationships/tags" Target="../tags/tag185.xml"/><Relationship Id="rId16" Type="http://schemas.openxmlformats.org/officeDocument/2006/relationships/tags" Target="../tags/tag199.xml"/><Relationship Id="rId20" Type="http://schemas.openxmlformats.org/officeDocument/2006/relationships/tags" Target="../tags/tag203.xml"/><Relationship Id="rId1" Type="http://schemas.openxmlformats.org/officeDocument/2006/relationships/tags" Target="../tags/tag184.xml"/><Relationship Id="rId6" Type="http://schemas.openxmlformats.org/officeDocument/2006/relationships/tags" Target="../tags/tag189.xml"/><Relationship Id="rId11" Type="http://schemas.openxmlformats.org/officeDocument/2006/relationships/tags" Target="../tags/tag194.xml"/><Relationship Id="rId24" Type="http://schemas.openxmlformats.org/officeDocument/2006/relationships/tags" Target="../tags/tag207.xml"/><Relationship Id="rId5" Type="http://schemas.openxmlformats.org/officeDocument/2006/relationships/tags" Target="../tags/tag188.xml"/><Relationship Id="rId15" Type="http://schemas.openxmlformats.org/officeDocument/2006/relationships/tags" Target="../tags/tag198.xml"/><Relationship Id="rId23" Type="http://schemas.openxmlformats.org/officeDocument/2006/relationships/tags" Target="../tags/tag206.xml"/><Relationship Id="rId10" Type="http://schemas.openxmlformats.org/officeDocument/2006/relationships/tags" Target="../tags/tag193.xml"/><Relationship Id="rId19" Type="http://schemas.openxmlformats.org/officeDocument/2006/relationships/tags" Target="../tags/tag202.xml"/><Relationship Id="rId4" Type="http://schemas.openxmlformats.org/officeDocument/2006/relationships/tags" Target="../tags/tag187.xml"/><Relationship Id="rId9" Type="http://schemas.openxmlformats.org/officeDocument/2006/relationships/tags" Target="../tags/tag192.xml"/><Relationship Id="rId14" Type="http://schemas.openxmlformats.org/officeDocument/2006/relationships/tags" Target="../tags/tag197.xml"/><Relationship Id="rId22" Type="http://schemas.openxmlformats.org/officeDocument/2006/relationships/tags" Target="../tags/tag205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209.xml"/><Relationship Id="rId1" Type="http://schemas.openxmlformats.org/officeDocument/2006/relationships/tags" Target="../tags/tag208.xml"/><Relationship Id="rId4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4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4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4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4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10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tags" Target="../tags/tag213.xml"/><Relationship Id="rId7" Type="http://schemas.openxmlformats.org/officeDocument/2006/relationships/image" Target="../media/image22.emf"/><Relationship Id="rId2" Type="http://schemas.openxmlformats.org/officeDocument/2006/relationships/tags" Target="../tags/tag212.xml"/><Relationship Id="rId1" Type="http://schemas.openxmlformats.org/officeDocument/2006/relationships/tags" Target="../tags/tag211.xml"/><Relationship Id="rId6" Type="http://schemas.openxmlformats.org/officeDocument/2006/relationships/oleObject" Target="../embeddings/oleObject21.bin"/><Relationship Id="rId5" Type="http://schemas.openxmlformats.org/officeDocument/2006/relationships/notesSlide" Target="../notesSlides/notesSlide75.xml"/><Relationship Id="rId4" Type="http://schemas.openxmlformats.org/officeDocument/2006/relationships/slideLayout" Target="../slideLayouts/slideLayout4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6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14.xml"/><Relationship Id="rId5" Type="http://schemas.openxmlformats.org/officeDocument/2006/relationships/image" Target="../media/image22.emf"/><Relationship Id="rId4" Type="http://schemas.openxmlformats.org/officeDocument/2006/relationships/oleObject" Target="../embeddings/oleObject22.bin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216.xml"/><Relationship Id="rId1" Type="http://schemas.openxmlformats.org/officeDocument/2006/relationships/tags" Target="../tags/tag215.xml"/><Relationship Id="rId6" Type="http://schemas.openxmlformats.org/officeDocument/2006/relationships/image" Target="../media/image23.wmf"/><Relationship Id="rId5" Type="http://schemas.openxmlformats.org/officeDocument/2006/relationships/oleObject" Target="../embeddings/oleObject23.bin"/><Relationship Id="rId4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8" Type="http://schemas.openxmlformats.org/officeDocument/2006/relationships/tags" Target="../tags/tag224.xml"/><Relationship Id="rId3" Type="http://schemas.openxmlformats.org/officeDocument/2006/relationships/tags" Target="../tags/tag219.xml"/><Relationship Id="rId7" Type="http://schemas.openxmlformats.org/officeDocument/2006/relationships/tags" Target="../tags/tag223.xml"/><Relationship Id="rId12" Type="http://schemas.openxmlformats.org/officeDocument/2006/relationships/image" Target="../media/image24.emf"/><Relationship Id="rId2" Type="http://schemas.openxmlformats.org/officeDocument/2006/relationships/tags" Target="../tags/tag218.xml"/><Relationship Id="rId1" Type="http://schemas.openxmlformats.org/officeDocument/2006/relationships/tags" Target="../tags/tag217.xml"/><Relationship Id="rId6" Type="http://schemas.openxmlformats.org/officeDocument/2006/relationships/tags" Target="../tags/tag222.xml"/><Relationship Id="rId11" Type="http://schemas.openxmlformats.org/officeDocument/2006/relationships/oleObject" Target="../embeddings/oleObject24.bin"/><Relationship Id="rId5" Type="http://schemas.openxmlformats.org/officeDocument/2006/relationships/tags" Target="../tags/tag221.xml"/><Relationship Id="rId10" Type="http://schemas.openxmlformats.org/officeDocument/2006/relationships/notesSlide" Target="../notesSlides/notesSlide78.xml"/><Relationship Id="rId4" Type="http://schemas.openxmlformats.org/officeDocument/2006/relationships/tags" Target="../tags/tag220.xml"/><Relationship Id="rId9" Type="http://schemas.openxmlformats.org/officeDocument/2006/relationships/slideLayout" Target="../slideLayouts/slideLayout4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7" Type="http://schemas.openxmlformats.org/officeDocument/2006/relationships/image" Target="../media/image26.jpg"/><Relationship Id="rId2" Type="http://schemas.openxmlformats.org/officeDocument/2006/relationships/tags" Target="../tags/tag226.xml"/><Relationship Id="rId1" Type="http://schemas.openxmlformats.org/officeDocument/2006/relationships/tags" Target="../tags/tag225.xml"/><Relationship Id="rId6" Type="http://schemas.openxmlformats.org/officeDocument/2006/relationships/image" Target="../media/image25.wmf"/><Relationship Id="rId5" Type="http://schemas.openxmlformats.org/officeDocument/2006/relationships/oleObject" Target="../embeddings/oleObject25.bin"/><Relationship Id="rId4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7.bin"/><Relationship Id="rId3" Type="http://schemas.openxmlformats.org/officeDocument/2006/relationships/tags" Target="../tags/tag229.xml"/><Relationship Id="rId7" Type="http://schemas.openxmlformats.org/officeDocument/2006/relationships/image" Target="../media/image27.wmf"/><Relationship Id="rId2" Type="http://schemas.openxmlformats.org/officeDocument/2006/relationships/tags" Target="../tags/tag228.xml"/><Relationship Id="rId1" Type="http://schemas.openxmlformats.org/officeDocument/2006/relationships/tags" Target="../tags/tag227.xml"/><Relationship Id="rId6" Type="http://schemas.openxmlformats.org/officeDocument/2006/relationships/oleObject" Target="../embeddings/oleObject26.bin"/><Relationship Id="rId5" Type="http://schemas.openxmlformats.org/officeDocument/2006/relationships/notesSlide" Target="../notesSlides/notesSlide80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8.wmf"/></Relationships>
</file>

<file path=ppt/slides/_rels/slide8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wmf"/><Relationship Id="rId3" Type="http://schemas.openxmlformats.org/officeDocument/2006/relationships/slideLayout" Target="../slideLayouts/slideLayout4.xml"/><Relationship Id="rId7" Type="http://schemas.openxmlformats.org/officeDocument/2006/relationships/oleObject" Target="../embeddings/oleObject29.bin"/><Relationship Id="rId2" Type="http://schemas.openxmlformats.org/officeDocument/2006/relationships/tags" Target="../tags/tag231.xml"/><Relationship Id="rId1" Type="http://schemas.openxmlformats.org/officeDocument/2006/relationships/tags" Target="../tags/tag230.xml"/><Relationship Id="rId6" Type="http://schemas.openxmlformats.org/officeDocument/2006/relationships/image" Target="../media/image29.wmf"/><Relationship Id="rId5" Type="http://schemas.openxmlformats.org/officeDocument/2006/relationships/oleObject" Target="../embeddings/oleObject28.bin"/><Relationship Id="rId4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wmf"/><Relationship Id="rId3" Type="http://schemas.openxmlformats.org/officeDocument/2006/relationships/slideLayout" Target="../slideLayouts/slideLayout4.xml"/><Relationship Id="rId7" Type="http://schemas.openxmlformats.org/officeDocument/2006/relationships/oleObject" Target="../embeddings/oleObject31.bin"/><Relationship Id="rId2" Type="http://schemas.openxmlformats.org/officeDocument/2006/relationships/tags" Target="../tags/tag233.xml"/><Relationship Id="rId1" Type="http://schemas.openxmlformats.org/officeDocument/2006/relationships/tags" Target="../tags/tag232.xml"/><Relationship Id="rId6" Type="http://schemas.openxmlformats.org/officeDocument/2006/relationships/image" Target="../media/image30.wmf"/><Relationship Id="rId5" Type="http://schemas.openxmlformats.org/officeDocument/2006/relationships/oleObject" Target="../embeddings/oleObject30.bin"/><Relationship Id="rId4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3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34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4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35.xml"/></Relationships>
</file>

<file path=ppt/slides/_rels/slide8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emf"/><Relationship Id="rId3" Type="http://schemas.openxmlformats.org/officeDocument/2006/relationships/tags" Target="../tags/tag238.xml"/><Relationship Id="rId7" Type="http://schemas.openxmlformats.org/officeDocument/2006/relationships/oleObject" Target="../embeddings/oleObject32.bin"/><Relationship Id="rId2" Type="http://schemas.openxmlformats.org/officeDocument/2006/relationships/tags" Target="../tags/tag237.xml"/><Relationship Id="rId1" Type="http://schemas.openxmlformats.org/officeDocument/2006/relationships/tags" Target="../tags/tag236.xml"/><Relationship Id="rId6" Type="http://schemas.openxmlformats.org/officeDocument/2006/relationships/notesSlide" Target="../notesSlides/notesSlide85.xml"/><Relationship Id="rId5" Type="http://schemas.openxmlformats.org/officeDocument/2006/relationships/slideLayout" Target="../slideLayouts/slideLayout4.xml"/><Relationship Id="rId4" Type="http://schemas.openxmlformats.org/officeDocument/2006/relationships/tags" Target="../tags/tag239.xml"/></Relationships>
</file>

<file path=ppt/slides/_rels/slide86.xml.rels><?xml version="1.0" encoding="UTF-8" standalone="yes"?>
<Relationships xmlns="http://schemas.openxmlformats.org/package/2006/relationships"><Relationship Id="rId8" Type="http://schemas.openxmlformats.org/officeDocument/2006/relationships/tags" Target="../tags/tag247.xml"/><Relationship Id="rId13" Type="http://schemas.openxmlformats.org/officeDocument/2006/relationships/image" Target="../media/image24.emf"/><Relationship Id="rId3" Type="http://schemas.openxmlformats.org/officeDocument/2006/relationships/tags" Target="../tags/tag242.xml"/><Relationship Id="rId7" Type="http://schemas.openxmlformats.org/officeDocument/2006/relationships/tags" Target="../tags/tag246.xml"/><Relationship Id="rId12" Type="http://schemas.openxmlformats.org/officeDocument/2006/relationships/oleObject" Target="../embeddings/oleObject33.bin"/><Relationship Id="rId2" Type="http://schemas.openxmlformats.org/officeDocument/2006/relationships/tags" Target="../tags/tag241.xml"/><Relationship Id="rId1" Type="http://schemas.openxmlformats.org/officeDocument/2006/relationships/tags" Target="../tags/tag240.xml"/><Relationship Id="rId6" Type="http://schemas.openxmlformats.org/officeDocument/2006/relationships/tags" Target="../tags/tag245.xml"/><Relationship Id="rId11" Type="http://schemas.openxmlformats.org/officeDocument/2006/relationships/notesSlide" Target="../notesSlides/notesSlide86.xml"/><Relationship Id="rId5" Type="http://schemas.openxmlformats.org/officeDocument/2006/relationships/tags" Target="../tags/tag244.xml"/><Relationship Id="rId15" Type="http://schemas.openxmlformats.org/officeDocument/2006/relationships/image" Target="../media/image32.emf"/><Relationship Id="rId10" Type="http://schemas.openxmlformats.org/officeDocument/2006/relationships/slideLayout" Target="../slideLayouts/slideLayout4.xml"/><Relationship Id="rId4" Type="http://schemas.openxmlformats.org/officeDocument/2006/relationships/tags" Target="../tags/tag243.xml"/><Relationship Id="rId9" Type="http://schemas.openxmlformats.org/officeDocument/2006/relationships/tags" Target="../tags/tag248.xml"/><Relationship Id="rId14" Type="http://schemas.openxmlformats.org/officeDocument/2006/relationships/oleObject" Target="../embeddings/oleObject34.bin"/></Relationships>
</file>

<file path=ppt/slides/_rels/slide8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emf"/><Relationship Id="rId3" Type="http://schemas.openxmlformats.org/officeDocument/2006/relationships/tags" Target="../tags/tag251.xml"/><Relationship Id="rId7" Type="http://schemas.openxmlformats.org/officeDocument/2006/relationships/oleObject" Target="../embeddings/oleObject35.bin"/><Relationship Id="rId2" Type="http://schemas.openxmlformats.org/officeDocument/2006/relationships/tags" Target="../tags/tag250.xml"/><Relationship Id="rId1" Type="http://schemas.openxmlformats.org/officeDocument/2006/relationships/tags" Target="../tags/tag249.xml"/><Relationship Id="rId6" Type="http://schemas.openxmlformats.org/officeDocument/2006/relationships/notesSlide" Target="../notesSlides/notesSlide87.xml"/><Relationship Id="rId5" Type="http://schemas.openxmlformats.org/officeDocument/2006/relationships/slideLayout" Target="../slideLayouts/slideLayout4.xml"/><Relationship Id="rId10" Type="http://schemas.openxmlformats.org/officeDocument/2006/relationships/image" Target="../media/image33.emf"/><Relationship Id="rId4" Type="http://schemas.openxmlformats.org/officeDocument/2006/relationships/tags" Target="../tags/tag252.xml"/><Relationship Id="rId9" Type="http://schemas.openxmlformats.org/officeDocument/2006/relationships/oleObject" Target="../embeddings/oleObject36.bin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8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53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4.xml"/></Relationships>
</file>

<file path=ppt/slides/_rels/slide90.xml.rels><?xml version="1.0" encoding="UTF-8" standalone="yes"?>
<Relationships xmlns="http://schemas.openxmlformats.org/package/2006/relationships"><Relationship Id="rId8" Type="http://schemas.openxmlformats.org/officeDocument/2006/relationships/tags" Target="../tags/tag261.xml"/><Relationship Id="rId3" Type="http://schemas.openxmlformats.org/officeDocument/2006/relationships/tags" Target="../tags/tag256.xml"/><Relationship Id="rId7" Type="http://schemas.openxmlformats.org/officeDocument/2006/relationships/tags" Target="../tags/tag260.xml"/><Relationship Id="rId2" Type="http://schemas.openxmlformats.org/officeDocument/2006/relationships/tags" Target="../tags/tag255.xml"/><Relationship Id="rId1" Type="http://schemas.openxmlformats.org/officeDocument/2006/relationships/tags" Target="../tags/tag254.xml"/><Relationship Id="rId6" Type="http://schemas.openxmlformats.org/officeDocument/2006/relationships/tags" Target="../tags/tag259.xml"/><Relationship Id="rId5" Type="http://schemas.openxmlformats.org/officeDocument/2006/relationships/tags" Target="../tags/tag258.xml"/><Relationship Id="rId10" Type="http://schemas.openxmlformats.org/officeDocument/2006/relationships/notesSlide" Target="../notesSlides/notesSlide90.xml"/><Relationship Id="rId4" Type="http://schemas.openxmlformats.org/officeDocument/2006/relationships/tags" Target="../tags/tag257.xml"/><Relationship Id="rId9" Type="http://schemas.openxmlformats.org/officeDocument/2006/relationships/slideLayout" Target="../slideLayouts/slideLayout4.xml"/></Relationships>
</file>

<file path=ppt/slides/_rels/slide91.xml.rels><?xml version="1.0" encoding="UTF-8" standalone="yes"?>
<Relationships xmlns="http://schemas.openxmlformats.org/package/2006/relationships"><Relationship Id="rId8" Type="http://schemas.openxmlformats.org/officeDocument/2006/relationships/tags" Target="../tags/tag269.xml"/><Relationship Id="rId13" Type="http://schemas.openxmlformats.org/officeDocument/2006/relationships/tags" Target="../tags/tag274.xml"/><Relationship Id="rId18" Type="http://schemas.openxmlformats.org/officeDocument/2006/relationships/tags" Target="../tags/tag279.xml"/><Relationship Id="rId3" Type="http://schemas.openxmlformats.org/officeDocument/2006/relationships/tags" Target="../tags/tag264.xml"/><Relationship Id="rId21" Type="http://schemas.openxmlformats.org/officeDocument/2006/relationships/slideLayout" Target="../slideLayouts/slideLayout4.xml"/><Relationship Id="rId7" Type="http://schemas.openxmlformats.org/officeDocument/2006/relationships/tags" Target="../tags/tag268.xml"/><Relationship Id="rId12" Type="http://schemas.openxmlformats.org/officeDocument/2006/relationships/tags" Target="../tags/tag273.xml"/><Relationship Id="rId17" Type="http://schemas.openxmlformats.org/officeDocument/2006/relationships/tags" Target="../tags/tag278.xml"/><Relationship Id="rId2" Type="http://schemas.openxmlformats.org/officeDocument/2006/relationships/tags" Target="../tags/tag263.xml"/><Relationship Id="rId16" Type="http://schemas.openxmlformats.org/officeDocument/2006/relationships/tags" Target="../tags/tag277.xml"/><Relationship Id="rId20" Type="http://schemas.openxmlformats.org/officeDocument/2006/relationships/tags" Target="../tags/tag281.xml"/><Relationship Id="rId1" Type="http://schemas.openxmlformats.org/officeDocument/2006/relationships/tags" Target="../tags/tag262.xml"/><Relationship Id="rId6" Type="http://schemas.openxmlformats.org/officeDocument/2006/relationships/tags" Target="../tags/tag267.xml"/><Relationship Id="rId11" Type="http://schemas.openxmlformats.org/officeDocument/2006/relationships/tags" Target="../tags/tag272.xml"/><Relationship Id="rId5" Type="http://schemas.openxmlformats.org/officeDocument/2006/relationships/tags" Target="../tags/tag266.xml"/><Relationship Id="rId15" Type="http://schemas.openxmlformats.org/officeDocument/2006/relationships/tags" Target="../tags/tag276.xml"/><Relationship Id="rId10" Type="http://schemas.openxmlformats.org/officeDocument/2006/relationships/tags" Target="../tags/tag271.xml"/><Relationship Id="rId19" Type="http://schemas.openxmlformats.org/officeDocument/2006/relationships/tags" Target="../tags/tag280.xml"/><Relationship Id="rId4" Type="http://schemas.openxmlformats.org/officeDocument/2006/relationships/tags" Target="../tags/tag265.xml"/><Relationship Id="rId9" Type="http://schemas.openxmlformats.org/officeDocument/2006/relationships/tags" Target="../tags/tag270.xml"/><Relationship Id="rId14" Type="http://schemas.openxmlformats.org/officeDocument/2006/relationships/tags" Target="../tags/tag275.xml"/><Relationship Id="rId22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8" Type="http://schemas.openxmlformats.org/officeDocument/2006/relationships/tags" Target="../tags/tag289.xml"/><Relationship Id="rId13" Type="http://schemas.openxmlformats.org/officeDocument/2006/relationships/tags" Target="../tags/tag294.xml"/><Relationship Id="rId18" Type="http://schemas.openxmlformats.org/officeDocument/2006/relationships/tags" Target="../tags/tag299.xml"/><Relationship Id="rId3" Type="http://schemas.openxmlformats.org/officeDocument/2006/relationships/tags" Target="../tags/tag284.xml"/><Relationship Id="rId21" Type="http://schemas.openxmlformats.org/officeDocument/2006/relationships/tags" Target="../tags/tag302.xml"/><Relationship Id="rId7" Type="http://schemas.openxmlformats.org/officeDocument/2006/relationships/tags" Target="../tags/tag288.xml"/><Relationship Id="rId12" Type="http://schemas.openxmlformats.org/officeDocument/2006/relationships/tags" Target="../tags/tag293.xml"/><Relationship Id="rId17" Type="http://schemas.openxmlformats.org/officeDocument/2006/relationships/tags" Target="../tags/tag298.xml"/><Relationship Id="rId25" Type="http://schemas.openxmlformats.org/officeDocument/2006/relationships/notesSlide" Target="../notesSlides/notesSlide92.xml"/><Relationship Id="rId2" Type="http://schemas.openxmlformats.org/officeDocument/2006/relationships/tags" Target="../tags/tag283.xml"/><Relationship Id="rId16" Type="http://schemas.openxmlformats.org/officeDocument/2006/relationships/tags" Target="../tags/tag297.xml"/><Relationship Id="rId20" Type="http://schemas.openxmlformats.org/officeDocument/2006/relationships/tags" Target="../tags/tag301.xml"/><Relationship Id="rId1" Type="http://schemas.openxmlformats.org/officeDocument/2006/relationships/tags" Target="../tags/tag282.xml"/><Relationship Id="rId6" Type="http://schemas.openxmlformats.org/officeDocument/2006/relationships/tags" Target="../tags/tag287.xml"/><Relationship Id="rId11" Type="http://schemas.openxmlformats.org/officeDocument/2006/relationships/tags" Target="../tags/tag292.xml"/><Relationship Id="rId24" Type="http://schemas.openxmlformats.org/officeDocument/2006/relationships/slideLayout" Target="../slideLayouts/slideLayout4.xml"/><Relationship Id="rId5" Type="http://schemas.openxmlformats.org/officeDocument/2006/relationships/tags" Target="../tags/tag286.xml"/><Relationship Id="rId15" Type="http://schemas.openxmlformats.org/officeDocument/2006/relationships/tags" Target="../tags/tag296.xml"/><Relationship Id="rId23" Type="http://schemas.openxmlformats.org/officeDocument/2006/relationships/tags" Target="../tags/tag304.xml"/><Relationship Id="rId10" Type="http://schemas.openxmlformats.org/officeDocument/2006/relationships/tags" Target="../tags/tag291.xml"/><Relationship Id="rId19" Type="http://schemas.openxmlformats.org/officeDocument/2006/relationships/tags" Target="../tags/tag300.xml"/><Relationship Id="rId4" Type="http://schemas.openxmlformats.org/officeDocument/2006/relationships/tags" Target="../tags/tag285.xml"/><Relationship Id="rId9" Type="http://schemas.openxmlformats.org/officeDocument/2006/relationships/tags" Target="../tags/tag290.xml"/><Relationship Id="rId14" Type="http://schemas.openxmlformats.org/officeDocument/2006/relationships/tags" Target="../tags/tag295.xml"/><Relationship Id="rId22" Type="http://schemas.openxmlformats.org/officeDocument/2006/relationships/tags" Target="../tags/tag303.xml"/></Relationships>
</file>

<file path=ppt/slides/_rels/slide93.xml.rels><?xml version="1.0" encoding="UTF-8" standalone="yes"?>
<Relationships xmlns="http://schemas.openxmlformats.org/package/2006/relationships"><Relationship Id="rId8" Type="http://schemas.openxmlformats.org/officeDocument/2006/relationships/tags" Target="../tags/tag312.xml"/><Relationship Id="rId13" Type="http://schemas.openxmlformats.org/officeDocument/2006/relationships/oleObject" Target="../embeddings/oleObject37.bin"/><Relationship Id="rId3" Type="http://schemas.openxmlformats.org/officeDocument/2006/relationships/tags" Target="../tags/tag307.xml"/><Relationship Id="rId7" Type="http://schemas.openxmlformats.org/officeDocument/2006/relationships/tags" Target="../tags/tag311.xml"/><Relationship Id="rId12" Type="http://schemas.openxmlformats.org/officeDocument/2006/relationships/notesSlide" Target="../notesSlides/notesSlide93.xml"/><Relationship Id="rId2" Type="http://schemas.openxmlformats.org/officeDocument/2006/relationships/tags" Target="../tags/tag306.xml"/><Relationship Id="rId16" Type="http://schemas.openxmlformats.org/officeDocument/2006/relationships/image" Target="../media/image35.wmf"/><Relationship Id="rId1" Type="http://schemas.openxmlformats.org/officeDocument/2006/relationships/tags" Target="../tags/tag305.xml"/><Relationship Id="rId6" Type="http://schemas.openxmlformats.org/officeDocument/2006/relationships/tags" Target="../tags/tag310.xml"/><Relationship Id="rId11" Type="http://schemas.openxmlformats.org/officeDocument/2006/relationships/slideLayout" Target="../slideLayouts/slideLayout4.xml"/><Relationship Id="rId5" Type="http://schemas.openxmlformats.org/officeDocument/2006/relationships/tags" Target="../tags/tag309.xml"/><Relationship Id="rId15" Type="http://schemas.openxmlformats.org/officeDocument/2006/relationships/oleObject" Target="../embeddings/oleObject38.bin"/><Relationship Id="rId10" Type="http://schemas.openxmlformats.org/officeDocument/2006/relationships/tags" Target="../tags/tag314.xml"/><Relationship Id="rId4" Type="http://schemas.openxmlformats.org/officeDocument/2006/relationships/tags" Target="../tags/tag308.xml"/><Relationship Id="rId9" Type="http://schemas.openxmlformats.org/officeDocument/2006/relationships/tags" Target="../tags/tag313.xml"/><Relationship Id="rId14" Type="http://schemas.openxmlformats.org/officeDocument/2006/relationships/image" Target="../media/image34.wmf"/></Relationships>
</file>

<file path=ppt/slides/_rels/slide9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0.bin"/><Relationship Id="rId3" Type="http://schemas.openxmlformats.org/officeDocument/2006/relationships/tags" Target="../tags/tag317.xml"/><Relationship Id="rId7" Type="http://schemas.openxmlformats.org/officeDocument/2006/relationships/image" Target="../media/image36.wmf"/><Relationship Id="rId2" Type="http://schemas.openxmlformats.org/officeDocument/2006/relationships/tags" Target="../tags/tag316.xml"/><Relationship Id="rId1" Type="http://schemas.openxmlformats.org/officeDocument/2006/relationships/tags" Target="../tags/tag315.xml"/><Relationship Id="rId6" Type="http://schemas.openxmlformats.org/officeDocument/2006/relationships/oleObject" Target="../embeddings/oleObject39.bin"/><Relationship Id="rId5" Type="http://schemas.openxmlformats.org/officeDocument/2006/relationships/notesSlide" Target="../notesSlides/notesSlide94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7.wmf"/></Relationships>
</file>

<file path=ppt/slides/_rels/slide9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wmf"/><Relationship Id="rId3" Type="http://schemas.openxmlformats.org/officeDocument/2006/relationships/tags" Target="../tags/tag320.xml"/><Relationship Id="rId7" Type="http://schemas.openxmlformats.org/officeDocument/2006/relationships/oleObject" Target="../embeddings/oleObject41.bin"/><Relationship Id="rId2" Type="http://schemas.openxmlformats.org/officeDocument/2006/relationships/tags" Target="../tags/tag319.xml"/><Relationship Id="rId1" Type="http://schemas.openxmlformats.org/officeDocument/2006/relationships/tags" Target="../tags/tag318.xml"/><Relationship Id="rId6" Type="http://schemas.openxmlformats.org/officeDocument/2006/relationships/notesSlide" Target="../notesSlides/notesSlide95.xml"/><Relationship Id="rId5" Type="http://schemas.openxmlformats.org/officeDocument/2006/relationships/slideLayout" Target="../slideLayouts/slideLayout4.xml"/><Relationship Id="rId10" Type="http://schemas.openxmlformats.org/officeDocument/2006/relationships/image" Target="../media/image39.emf"/><Relationship Id="rId4" Type="http://schemas.openxmlformats.org/officeDocument/2006/relationships/tags" Target="../tags/tag321.xml"/><Relationship Id="rId9" Type="http://schemas.openxmlformats.org/officeDocument/2006/relationships/oleObject" Target="../embeddings/oleObject42.bin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323.xml"/><Relationship Id="rId1" Type="http://schemas.openxmlformats.org/officeDocument/2006/relationships/tags" Target="../tags/tag322.xml"/><Relationship Id="rId6" Type="http://schemas.openxmlformats.org/officeDocument/2006/relationships/image" Target="../media/image25.wmf"/><Relationship Id="rId5" Type="http://schemas.openxmlformats.org/officeDocument/2006/relationships/oleObject" Target="../embeddings/oleObject25.bin"/><Relationship Id="rId4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wmf"/><Relationship Id="rId3" Type="http://schemas.openxmlformats.org/officeDocument/2006/relationships/slideLayout" Target="../slideLayouts/slideLayout4.xml"/><Relationship Id="rId7" Type="http://schemas.openxmlformats.org/officeDocument/2006/relationships/oleObject" Target="../embeddings/oleObject25.bin"/><Relationship Id="rId2" Type="http://schemas.openxmlformats.org/officeDocument/2006/relationships/tags" Target="../tags/tag325.xml"/><Relationship Id="rId1" Type="http://schemas.openxmlformats.org/officeDocument/2006/relationships/tags" Target="../tags/tag324.xml"/><Relationship Id="rId6" Type="http://schemas.openxmlformats.org/officeDocument/2006/relationships/image" Target="../media/image40.wmf"/><Relationship Id="rId5" Type="http://schemas.openxmlformats.org/officeDocument/2006/relationships/oleObject" Target="../embeddings/oleObject43.bin"/><Relationship Id="rId4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8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326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328.xml"/><Relationship Id="rId1" Type="http://schemas.openxmlformats.org/officeDocument/2006/relationships/tags" Target="../tags/tag327.xml"/><Relationship Id="rId6" Type="http://schemas.openxmlformats.org/officeDocument/2006/relationships/image" Target="../media/image41.wmf"/><Relationship Id="rId5" Type="http://schemas.openxmlformats.org/officeDocument/2006/relationships/oleObject" Target="../embeddings/oleObject44.bin"/><Relationship Id="rId4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330.xml"/><Relationship Id="rId1" Type="http://schemas.openxmlformats.org/officeDocument/2006/relationships/tags" Target="../tags/tag329.xml"/><Relationship Id="rId6" Type="http://schemas.openxmlformats.org/officeDocument/2006/relationships/image" Target="../media/image42.wmf"/><Relationship Id="rId5" Type="http://schemas.openxmlformats.org/officeDocument/2006/relationships/oleObject" Target="../embeddings/oleObject45.bin"/><Relationship Id="rId4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332.xml"/><Relationship Id="rId1" Type="http://schemas.openxmlformats.org/officeDocument/2006/relationships/tags" Target="../tags/tag331.xml"/><Relationship Id="rId6" Type="http://schemas.openxmlformats.org/officeDocument/2006/relationships/image" Target="../media/image43.wmf"/><Relationship Id="rId5" Type="http://schemas.openxmlformats.org/officeDocument/2006/relationships/oleObject" Target="../embeddings/oleObject46.bin"/><Relationship Id="rId4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2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333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tags" Target="../tags/tag336.xml"/><Relationship Id="rId7" Type="http://schemas.openxmlformats.org/officeDocument/2006/relationships/image" Target="../media/image44.emf"/><Relationship Id="rId2" Type="http://schemas.openxmlformats.org/officeDocument/2006/relationships/tags" Target="../tags/tag335.xml"/><Relationship Id="rId1" Type="http://schemas.openxmlformats.org/officeDocument/2006/relationships/tags" Target="../tags/tag334.xml"/><Relationship Id="rId6" Type="http://schemas.openxmlformats.org/officeDocument/2006/relationships/oleObject" Target="../embeddings/oleObject47.bin"/><Relationship Id="rId5" Type="http://schemas.openxmlformats.org/officeDocument/2006/relationships/notesSlide" Target="../notesSlides/notesSlide103.xml"/><Relationship Id="rId4" Type="http://schemas.openxmlformats.org/officeDocument/2006/relationships/slideLayout" Target="../slideLayouts/slideLayout4.xml"/></Relationships>
</file>

<file path=ppt/slides/_rels/slide104.xml.rels><?xml version="1.0" encoding="UTF-8" standalone="yes"?>
<Relationships xmlns="http://schemas.openxmlformats.org/package/2006/relationships"><Relationship Id="rId8" Type="http://schemas.openxmlformats.org/officeDocument/2006/relationships/tags" Target="../tags/tag344.xml"/><Relationship Id="rId13" Type="http://schemas.openxmlformats.org/officeDocument/2006/relationships/notesSlide" Target="../notesSlides/notesSlide104.xml"/><Relationship Id="rId3" Type="http://schemas.openxmlformats.org/officeDocument/2006/relationships/tags" Target="../tags/tag339.xml"/><Relationship Id="rId7" Type="http://schemas.openxmlformats.org/officeDocument/2006/relationships/tags" Target="../tags/tag343.xml"/><Relationship Id="rId12" Type="http://schemas.openxmlformats.org/officeDocument/2006/relationships/slideLayout" Target="../slideLayouts/slideLayout4.xml"/><Relationship Id="rId2" Type="http://schemas.openxmlformats.org/officeDocument/2006/relationships/tags" Target="../tags/tag338.xml"/><Relationship Id="rId1" Type="http://schemas.openxmlformats.org/officeDocument/2006/relationships/tags" Target="../tags/tag337.xml"/><Relationship Id="rId6" Type="http://schemas.openxmlformats.org/officeDocument/2006/relationships/tags" Target="../tags/tag342.xml"/><Relationship Id="rId11" Type="http://schemas.openxmlformats.org/officeDocument/2006/relationships/tags" Target="../tags/tag347.xml"/><Relationship Id="rId5" Type="http://schemas.openxmlformats.org/officeDocument/2006/relationships/tags" Target="../tags/tag341.xml"/><Relationship Id="rId15" Type="http://schemas.openxmlformats.org/officeDocument/2006/relationships/image" Target="../media/image45.emf"/><Relationship Id="rId10" Type="http://schemas.openxmlformats.org/officeDocument/2006/relationships/tags" Target="../tags/tag346.xml"/><Relationship Id="rId4" Type="http://schemas.openxmlformats.org/officeDocument/2006/relationships/tags" Target="../tags/tag340.xml"/><Relationship Id="rId9" Type="http://schemas.openxmlformats.org/officeDocument/2006/relationships/tags" Target="../tags/tag345.xml"/><Relationship Id="rId14" Type="http://schemas.openxmlformats.org/officeDocument/2006/relationships/oleObject" Target="../embeddings/oleObject48.bin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7" Type="http://schemas.openxmlformats.org/officeDocument/2006/relationships/oleObject" Target="../embeddings/oleObject50.bin"/><Relationship Id="rId2" Type="http://schemas.openxmlformats.org/officeDocument/2006/relationships/tags" Target="../tags/tag349.xml"/><Relationship Id="rId1" Type="http://schemas.openxmlformats.org/officeDocument/2006/relationships/tags" Target="../tags/tag348.xml"/><Relationship Id="rId6" Type="http://schemas.openxmlformats.org/officeDocument/2006/relationships/image" Target="../media/image46.emf"/><Relationship Id="rId5" Type="http://schemas.openxmlformats.org/officeDocument/2006/relationships/oleObject" Target="../embeddings/oleObject49.bin"/><Relationship Id="rId4" Type="http://schemas.openxmlformats.org/officeDocument/2006/relationships/notesSlide" Target="../notesSlides/notesSlide105.xml"/></Relationships>
</file>

<file path=ppt/slides/_rels/slide106.xml.rels><?xml version="1.0" encoding="UTF-8" standalone="yes"?>
<Relationships xmlns="http://schemas.openxmlformats.org/package/2006/relationships"><Relationship Id="rId8" Type="http://schemas.openxmlformats.org/officeDocument/2006/relationships/tags" Target="../tags/tag357.xml"/><Relationship Id="rId3" Type="http://schemas.openxmlformats.org/officeDocument/2006/relationships/tags" Target="../tags/tag352.xml"/><Relationship Id="rId7" Type="http://schemas.openxmlformats.org/officeDocument/2006/relationships/tags" Target="../tags/tag356.xml"/><Relationship Id="rId2" Type="http://schemas.openxmlformats.org/officeDocument/2006/relationships/tags" Target="../tags/tag351.xml"/><Relationship Id="rId1" Type="http://schemas.openxmlformats.org/officeDocument/2006/relationships/tags" Target="../tags/tag350.xml"/><Relationship Id="rId6" Type="http://schemas.openxmlformats.org/officeDocument/2006/relationships/tags" Target="../tags/tag355.xml"/><Relationship Id="rId11" Type="http://schemas.openxmlformats.org/officeDocument/2006/relationships/notesSlide" Target="../notesSlides/notesSlide106.xml"/><Relationship Id="rId5" Type="http://schemas.openxmlformats.org/officeDocument/2006/relationships/tags" Target="../tags/tag354.xml"/><Relationship Id="rId10" Type="http://schemas.openxmlformats.org/officeDocument/2006/relationships/slideLayout" Target="../slideLayouts/slideLayout4.xml"/><Relationship Id="rId4" Type="http://schemas.openxmlformats.org/officeDocument/2006/relationships/tags" Target="../tags/tag353.xml"/><Relationship Id="rId9" Type="http://schemas.openxmlformats.org/officeDocument/2006/relationships/tags" Target="../tags/tag358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7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359.xml"/></Relationships>
</file>

<file path=ppt/slides/_rels/slide10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emf"/><Relationship Id="rId3" Type="http://schemas.openxmlformats.org/officeDocument/2006/relationships/slideLayout" Target="../slideLayouts/slideLayout4.xml"/><Relationship Id="rId7" Type="http://schemas.openxmlformats.org/officeDocument/2006/relationships/oleObject" Target="../embeddings/oleObject52.bin"/><Relationship Id="rId2" Type="http://schemas.openxmlformats.org/officeDocument/2006/relationships/tags" Target="../tags/tag361.xml"/><Relationship Id="rId1" Type="http://schemas.openxmlformats.org/officeDocument/2006/relationships/tags" Target="../tags/tag360.xml"/><Relationship Id="rId6" Type="http://schemas.openxmlformats.org/officeDocument/2006/relationships/image" Target="../media/image47.emf"/><Relationship Id="rId5" Type="http://schemas.openxmlformats.org/officeDocument/2006/relationships/oleObject" Target="../embeddings/oleObject51.bin"/><Relationship Id="rId4" Type="http://schemas.openxmlformats.org/officeDocument/2006/relationships/notesSlide" Target="../notesSlides/notesSlide108.xml"/></Relationships>
</file>

<file path=ppt/slides/_rels/slide10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emf"/><Relationship Id="rId3" Type="http://schemas.openxmlformats.org/officeDocument/2006/relationships/slideLayout" Target="../slideLayouts/slideLayout4.xml"/><Relationship Id="rId7" Type="http://schemas.openxmlformats.org/officeDocument/2006/relationships/oleObject" Target="../embeddings/oleObject54.bin"/><Relationship Id="rId2" Type="http://schemas.openxmlformats.org/officeDocument/2006/relationships/tags" Target="../tags/tag363.xml"/><Relationship Id="rId1" Type="http://schemas.openxmlformats.org/officeDocument/2006/relationships/tags" Target="../tags/tag362.xml"/><Relationship Id="rId6" Type="http://schemas.openxmlformats.org/officeDocument/2006/relationships/image" Target="../media/image49.wmf"/><Relationship Id="rId5" Type="http://schemas.openxmlformats.org/officeDocument/2006/relationships/oleObject" Target="../embeddings/oleObject53.bin"/><Relationship Id="rId4" Type="http://schemas.openxmlformats.org/officeDocument/2006/relationships/notesSlide" Target="../notesSlides/notesSlide109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0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364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1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365.xml"/></Relationships>
</file>

<file path=ppt/slides/_rels/slide1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emf"/><Relationship Id="rId3" Type="http://schemas.openxmlformats.org/officeDocument/2006/relationships/slideLayout" Target="../slideLayouts/slideLayout4.xml"/><Relationship Id="rId7" Type="http://schemas.openxmlformats.org/officeDocument/2006/relationships/oleObject" Target="../embeddings/oleObject56.bin"/><Relationship Id="rId2" Type="http://schemas.openxmlformats.org/officeDocument/2006/relationships/tags" Target="../tags/tag367.xml"/><Relationship Id="rId1" Type="http://schemas.openxmlformats.org/officeDocument/2006/relationships/tags" Target="../tags/tag366.xml"/><Relationship Id="rId6" Type="http://schemas.openxmlformats.org/officeDocument/2006/relationships/image" Target="../media/image51.emf"/><Relationship Id="rId5" Type="http://schemas.openxmlformats.org/officeDocument/2006/relationships/oleObject" Target="../embeddings/oleObject55.bin"/><Relationship Id="rId4" Type="http://schemas.openxmlformats.org/officeDocument/2006/relationships/notesSlide" Target="../notesSlides/notesSlide112.xml"/></Relationships>
</file>

<file path=ppt/slides/_rels/slide1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emf"/><Relationship Id="rId3" Type="http://schemas.openxmlformats.org/officeDocument/2006/relationships/slideLayout" Target="../slideLayouts/slideLayout4.xml"/><Relationship Id="rId7" Type="http://schemas.openxmlformats.org/officeDocument/2006/relationships/oleObject" Target="../embeddings/oleObject58.bin"/><Relationship Id="rId2" Type="http://schemas.openxmlformats.org/officeDocument/2006/relationships/tags" Target="../tags/tag369.xml"/><Relationship Id="rId1" Type="http://schemas.openxmlformats.org/officeDocument/2006/relationships/tags" Target="../tags/tag368.xml"/><Relationship Id="rId6" Type="http://schemas.openxmlformats.org/officeDocument/2006/relationships/image" Target="../media/image53.emf"/><Relationship Id="rId5" Type="http://schemas.openxmlformats.org/officeDocument/2006/relationships/oleObject" Target="../embeddings/oleObject57.bin"/><Relationship Id="rId4" Type="http://schemas.openxmlformats.org/officeDocument/2006/relationships/notesSlide" Target="../notesSlides/notesSlide113.xml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4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370.xml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5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371.xml"/><Relationship Id="rId5" Type="http://schemas.openxmlformats.org/officeDocument/2006/relationships/image" Target="../media/image55.emf"/><Relationship Id="rId4" Type="http://schemas.openxmlformats.org/officeDocument/2006/relationships/oleObject" Target="../embeddings/oleObject59.bin"/></Relationships>
</file>

<file path=ppt/slides/_rels/slide1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1.bin"/><Relationship Id="rId3" Type="http://schemas.openxmlformats.org/officeDocument/2006/relationships/tags" Target="../tags/tag374.xml"/><Relationship Id="rId7" Type="http://schemas.openxmlformats.org/officeDocument/2006/relationships/image" Target="../media/image56.emf"/><Relationship Id="rId2" Type="http://schemas.openxmlformats.org/officeDocument/2006/relationships/tags" Target="../tags/tag373.xml"/><Relationship Id="rId1" Type="http://schemas.openxmlformats.org/officeDocument/2006/relationships/tags" Target="../tags/tag372.xml"/><Relationship Id="rId6" Type="http://schemas.openxmlformats.org/officeDocument/2006/relationships/oleObject" Target="../embeddings/oleObject60.bin"/><Relationship Id="rId5" Type="http://schemas.openxmlformats.org/officeDocument/2006/relationships/notesSlide" Target="../notesSlides/notesSlide116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57.emf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emf"/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9.emf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8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375.xml"/><Relationship Id="rId5" Type="http://schemas.openxmlformats.org/officeDocument/2006/relationships/image" Target="../media/image60.emf"/><Relationship Id="rId4" Type="http://schemas.openxmlformats.org/officeDocument/2006/relationships/oleObject" Target="../embeddings/oleObject62.bin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9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376.xml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378.xml"/><Relationship Id="rId1" Type="http://schemas.openxmlformats.org/officeDocument/2006/relationships/tags" Target="../tags/tag377.xml"/><Relationship Id="rId6" Type="http://schemas.openxmlformats.org/officeDocument/2006/relationships/image" Target="../media/image61.emf"/><Relationship Id="rId5" Type="http://schemas.openxmlformats.org/officeDocument/2006/relationships/oleObject" Target="../embeddings/oleObject63.bin"/><Relationship Id="rId4" Type="http://schemas.openxmlformats.org/officeDocument/2006/relationships/notesSlide" Target="../notesSlides/notesSlide120.xml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1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379.xml"/><Relationship Id="rId5" Type="http://schemas.openxmlformats.org/officeDocument/2006/relationships/image" Target="../media/image62.wmf"/><Relationship Id="rId4" Type="http://schemas.openxmlformats.org/officeDocument/2006/relationships/oleObject" Target="../embeddings/oleObject64.bin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381.xml"/><Relationship Id="rId1" Type="http://schemas.openxmlformats.org/officeDocument/2006/relationships/tags" Target="../tags/tag380.xml"/><Relationship Id="rId6" Type="http://schemas.openxmlformats.org/officeDocument/2006/relationships/image" Target="../media/image63.wmf"/><Relationship Id="rId5" Type="http://schemas.openxmlformats.org/officeDocument/2006/relationships/oleObject" Target="../embeddings/oleObject65.bin"/><Relationship Id="rId4" Type="http://schemas.openxmlformats.org/officeDocument/2006/relationships/notesSlide" Target="../notesSlides/notesSlide122.xml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3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382.xml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384.xml"/><Relationship Id="rId1" Type="http://schemas.openxmlformats.org/officeDocument/2006/relationships/tags" Target="../tags/tag383.xml"/><Relationship Id="rId6" Type="http://schemas.openxmlformats.org/officeDocument/2006/relationships/image" Target="../media/image64.wmf"/><Relationship Id="rId5" Type="http://schemas.openxmlformats.org/officeDocument/2006/relationships/oleObject" Target="../embeddings/oleObject66.bin"/><Relationship Id="rId4" Type="http://schemas.openxmlformats.org/officeDocument/2006/relationships/notesSlide" Target="../notesSlides/notesSlide124.xml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386.xml"/><Relationship Id="rId1" Type="http://schemas.openxmlformats.org/officeDocument/2006/relationships/tags" Target="../tags/tag385.xml"/><Relationship Id="rId6" Type="http://schemas.openxmlformats.org/officeDocument/2006/relationships/image" Target="../media/image65.wmf"/><Relationship Id="rId5" Type="http://schemas.openxmlformats.org/officeDocument/2006/relationships/oleObject" Target="../embeddings/oleObject67.bin"/><Relationship Id="rId4" Type="http://schemas.openxmlformats.org/officeDocument/2006/relationships/notesSlide" Target="../notesSlides/notesSlide125.xml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388.xml"/><Relationship Id="rId1" Type="http://schemas.openxmlformats.org/officeDocument/2006/relationships/tags" Target="../tags/tag387.xml"/><Relationship Id="rId4" Type="http://schemas.openxmlformats.org/officeDocument/2006/relationships/notesSlide" Target="../notesSlides/notesSlide126.xml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tags" Target="../tags/tag391.xml"/><Relationship Id="rId7" Type="http://schemas.openxmlformats.org/officeDocument/2006/relationships/image" Target="../media/image66.wmf"/><Relationship Id="rId2" Type="http://schemas.openxmlformats.org/officeDocument/2006/relationships/tags" Target="../tags/tag390.xml"/><Relationship Id="rId1" Type="http://schemas.openxmlformats.org/officeDocument/2006/relationships/tags" Target="../tags/tag389.xml"/><Relationship Id="rId6" Type="http://schemas.openxmlformats.org/officeDocument/2006/relationships/oleObject" Target="../embeddings/oleObject68.bin"/><Relationship Id="rId5" Type="http://schemas.openxmlformats.org/officeDocument/2006/relationships/notesSlide" Target="../notesSlides/notesSlide127.xml"/><Relationship Id="rId4" Type="http://schemas.openxmlformats.org/officeDocument/2006/relationships/slideLayout" Target="../slideLayouts/slideLayout4.xml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393.xml"/><Relationship Id="rId1" Type="http://schemas.openxmlformats.org/officeDocument/2006/relationships/tags" Target="../tags/tag392.xml"/><Relationship Id="rId4" Type="http://schemas.openxmlformats.org/officeDocument/2006/relationships/notesSlide" Target="../notesSlides/notesSlide128.xml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tags" Target="../tags/tag396.xml"/><Relationship Id="rId7" Type="http://schemas.openxmlformats.org/officeDocument/2006/relationships/image" Target="../media/image67.wmf"/><Relationship Id="rId2" Type="http://schemas.openxmlformats.org/officeDocument/2006/relationships/tags" Target="../tags/tag395.xml"/><Relationship Id="rId1" Type="http://schemas.openxmlformats.org/officeDocument/2006/relationships/tags" Target="../tags/tag394.xml"/><Relationship Id="rId6" Type="http://schemas.openxmlformats.org/officeDocument/2006/relationships/oleObject" Target="../embeddings/oleObject69.bin"/><Relationship Id="rId5" Type="http://schemas.openxmlformats.org/officeDocument/2006/relationships/notesSlide" Target="../notesSlides/notesSlide129.xml"/><Relationship Id="rId4" Type="http://schemas.openxmlformats.org/officeDocument/2006/relationships/slideLayout" Target="../slideLayouts/slideLayout4.xml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0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397.xml"/><Relationship Id="rId5" Type="http://schemas.openxmlformats.org/officeDocument/2006/relationships/image" Target="../media/image68.wmf"/><Relationship Id="rId4" Type="http://schemas.openxmlformats.org/officeDocument/2006/relationships/oleObject" Target="../embeddings/oleObject70.bin"/></Relationships>
</file>

<file path=ppt/slides/_rels/slide1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2.bin"/><Relationship Id="rId3" Type="http://schemas.openxmlformats.org/officeDocument/2006/relationships/tags" Target="../tags/tag400.xml"/><Relationship Id="rId7" Type="http://schemas.openxmlformats.org/officeDocument/2006/relationships/image" Target="../media/image69.wmf"/><Relationship Id="rId2" Type="http://schemas.openxmlformats.org/officeDocument/2006/relationships/tags" Target="../tags/tag399.xml"/><Relationship Id="rId1" Type="http://schemas.openxmlformats.org/officeDocument/2006/relationships/tags" Target="../tags/tag398.xml"/><Relationship Id="rId6" Type="http://schemas.openxmlformats.org/officeDocument/2006/relationships/oleObject" Target="../embeddings/oleObject71.bin"/><Relationship Id="rId5" Type="http://schemas.openxmlformats.org/officeDocument/2006/relationships/notesSlide" Target="../notesSlides/notesSlide131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70.wmf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tags" Target="../tags/tag403.xml"/><Relationship Id="rId2" Type="http://schemas.openxmlformats.org/officeDocument/2006/relationships/tags" Target="../tags/tag402.xml"/><Relationship Id="rId1" Type="http://schemas.openxmlformats.org/officeDocument/2006/relationships/tags" Target="../tags/tag401.xml"/><Relationship Id="rId5" Type="http://schemas.openxmlformats.org/officeDocument/2006/relationships/notesSlide" Target="../notesSlides/notesSlide132.xml"/><Relationship Id="rId4" Type="http://schemas.openxmlformats.org/officeDocument/2006/relationships/slideLayout" Target="../slideLayouts/slideLayout4.xml"/></Relationships>
</file>

<file path=ppt/slides/_rels/slide1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3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40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3">
            <a:extLst>
              <a:ext uri="{FF2B5EF4-FFF2-40B4-BE49-F238E27FC236}">
                <a16:creationId xmlns:a16="http://schemas.microsoft.com/office/drawing/2014/main" id="{DAA03A6C-70A8-504F-B2A9-E24C66359451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457200" y="3200400"/>
            <a:ext cx="8305800" cy="1600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en-US" sz="7200" b="1" dirty="0"/>
              <a:t>Chapter 2: </a:t>
            </a:r>
          </a:p>
          <a:p>
            <a:pPr marL="0" indent="0" algn="ctr">
              <a:buFont typeface="Arial" pitchFamily="34" charset="0"/>
              <a:buNone/>
            </a:pPr>
            <a:r>
              <a:rPr lang="en-US" sz="7200" b="1" dirty="0"/>
              <a:t>Combinational Logic Design</a:t>
            </a:r>
            <a:endParaRPr lang="en-US" sz="7200" dirty="0"/>
          </a:p>
          <a:p>
            <a:pPr lvl="1" algn="ctr"/>
            <a:endParaRPr lang="en-US" sz="7200" dirty="0"/>
          </a:p>
          <a:p>
            <a:pPr algn="ctr">
              <a:buFontTx/>
              <a:buNone/>
            </a:pPr>
            <a:endParaRPr lang="en-US" sz="7200" dirty="0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E215E08-E5D1-4141-B204-0B80382DDC32}"/>
              </a:ext>
            </a:extLst>
          </p:cNvPr>
          <p:cNvSpPr/>
          <p:nvPr/>
        </p:nvSpPr>
        <p:spPr>
          <a:xfrm>
            <a:off x="1219200" y="457200"/>
            <a:ext cx="6705600" cy="2286000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E0841AF-DE14-1141-8434-E0942E0D4552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>
          <a:xfrm>
            <a:off x="457200" y="381000"/>
            <a:ext cx="8305800" cy="1600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en-US" sz="4800" b="1" dirty="0">
                <a:solidFill>
                  <a:schemeClr val="bg1"/>
                </a:solidFill>
              </a:rPr>
              <a:t>Digital Design &amp;</a:t>
            </a:r>
          </a:p>
          <a:p>
            <a:pPr marL="0" indent="0" algn="ctr">
              <a:buFont typeface="Arial" pitchFamily="34" charset="0"/>
              <a:buNone/>
            </a:pPr>
            <a:r>
              <a:rPr lang="en-US" sz="4800" b="1" dirty="0">
                <a:solidFill>
                  <a:schemeClr val="bg1"/>
                </a:solidFill>
              </a:rPr>
              <a:t>Computer Architecture</a:t>
            </a:r>
          </a:p>
          <a:p>
            <a:pPr marL="0" indent="0" algn="ctr">
              <a:buFont typeface="Arial" pitchFamily="34" charset="0"/>
              <a:buNone/>
            </a:pPr>
            <a:r>
              <a:rPr lang="en-US" b="1" dirty="0">
                <a:solidFill>
                  <a:schemeClr val="bg1"/>
                </a:solidFill>
              </a:rPr>
              <a:t>Sarah Harris &amp; David Harris</a:t>
            </a:r>
          </a:p>
        </p:txBody>
      </p:sp>
    </p:spTree>
    <p:extLst>
      <p:ext uri="{BB962C8B-B14F-4D97-AF65-F5344CB8AC3E}">
        <p14:creationId xmlns:p14="http://schemas.microsoft.com/office/powerpoint/2010/main" val="8414514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Chapter 2 :: Topics</a:t>
            </a:r>
          </a:p>
        </p:txBody>
      </p:sp>
      <p:sp>
        <p:nvSpPr>
          <p:cNvPr id="5" name="Rectangle 3"/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914400" y="12954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Combinational Circuits</a:t>
            </a:r>
          </a:p>
          <a:p>
            <a:r>
              <a:rPr lang="en-US" b="1" dirty="0"/>
              <a:t>Boolean Equations</a:t>
            </a:r>
          </a:p>
          <a:p>
            <a:r>
              <a:rPr lang="en-US" b="1" dirty="0"/>
              <a:t>Boolean Algebra</a:t>
            </a:r>
          </a:p>
          <a:p>
            <a:r>
              <a:rPr lang="en-US" b="1" dirty="0"/>
              <a:t>From Logic to Gates</a:t>
            </a:r>
          </a:p>
          <a:p>
            <a:r>
              <a:rPr lang="en-US" b="1" dirty="0"/>
              <a:t>X’s and Z’s, Oh My</a:t>
            </a:r>
          </a:p>
          <a:p>
            <a:r>
              <a:rPr lang="en-US" b="1" dirty="0"/>
              <a:t>Karnaugh Maps</a:t>
            </a:r>
          </a:p>
          <a:p>
            <a:r>
              <a:rPr lang="en-US" b="1" dirty="0"/>
              <a:t>Combinational Building Blocks</a:t>
            </a:r>
          </a:p>
          <a:p>
            <a:r>
              <a:rPr lang="en-US" b="1" dirty="0"/>
              <a:t>Timing</a:t>
            </a:r>
            <a:endParaRPr lang="en-US" dirty="0"/>
          </a:p>
          <a:p>
            <a:endParaRPr lang="en-GB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8491" y="1066800"/>
            <a:ext cx="1732109" cy="472440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2ADE091-BCAE-7A48-B001-49109D75C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75248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0" y="76200"/>
            <a:ext cx="9144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  <a:latin typeface="+mj-lt"/>
              </a:rPr>
              <a:t>Chapter 2: Combinational Logic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DAA03A6C-70A8-504F-B2A9-E24C66359451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0" y="2438400"/>
            <a:ext cx="9144000" cy="1600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en-US" sz="7200" b="1" dirty="0"/>
              <a:t>Combinational Circuits</a:t>
            </a:r>
            <a:endParaRPr lang="en-US" sz="7200" dirty="0"/>
          </a:p>
          <a:p>
            <a:pPr lvl="1" algn="ctr"/>
            <a:endParaRPr lang="en-US" sz="7200" dirty="0"/>
          </a:p>
          <a:p>
            <a:pPr algn="ctr">
              <a:buFontTx/>
              <a:buNone/>
            </a:pP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9477561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57764" name="Object 4"/>
          <p:cNvGraphicFramePr>
            <a:graphicFrameLocks noGrp="1" noChangeAspect="1"/>
          </p:cNvGraphicFramePr>
          <p:nvPr>
            <p:ph idx="1"/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91443185"/>
              </p:ext>
            </p:extLst>
          </p:nvPr>
        </p:nvGraphicFramePr>
        <p:xfrm>
          <a:off x="1905000" y="4114800"/>
          <a:ext cx="5725824" cy="152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1890000" imgH="504000" progId="Visio.Drawing.6">
                  <p:embed/>
                </p:oleObj>
              </mc:Choice>
              <mc:Fallback>
                <p:oleObj name="VISIO" r:id="rId5" imgW="1890000" imgH="50400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4114800"/>
                        <a:ext cx="5725824" cy="152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7763" name="Rectangle 3"/>
          <p:cNvSpPr>
            <a:spLocks noGrp="1" noChangeArrowheads="1"/>
          </p:cNvSpPr>
          <p:nvPr>
            <p:ph type="body" sz="half" idx="4294967295"/>
            <p:custDataLst>
              <p:tags r:id="rId2"/>
            </p:custDataLst>
          </p:nvPr>
        </p:nvSpPr>
        <p:spPr>
          <a:xfrm>
            <a:off x="533400" y="1219200"/>
            <a:ext cx="7620000" cy="4953000"/>
          </a:xfrm>
        </p:spPr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b="1" dirty="0"/>
              <a:t>A logic circuit is composed of:</a:t>
            </a:r>
          </a:p>
          <a:p>
            <a:pPr>
              <a:spcBef>
                <a:spcPts val="0"/>
              </a:spcBef>
            </a:pPr>
            <a:r>
              <a:rPr lang="en-US" dirty="0"/>
              <a:t>Inputs</a:t>
            </a:r>
          </a:p>
          <a:p>
            <a:pPr>
              <a:spcBef>
                <a:spcPts val="0"/>
              </a:spcBef>
            </a:pPr>
            <a:r>
              <a:rPr lang="en-US" dirty="0"/>
              <a:t>Outputs</a:t>
            </a:r>
          </a:p>
          <a:p>
            <a:pPr>
              <a:spcBef>
                <a:spcPts val="0"/>
              </a:spcBef>
            </a:pPr>
            <a:r>
              <a:rPr lang="en-US" dirty="0"/>
              <a:t>Functional specification</a:t>
            </a:r>
          </a:p>
          <a:p>
            <a:pPr>
              <a:spcBef>
                <a:spcPts val="0"/>
              </a:spcBef>
            </a:pPr>
            <a:r>
              <a:rPr lang="en-US" dirty="0"/>
              <a:t>Timing specification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Introduction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D495081-FB6E-234E-93C8-F3470A929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90148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59141" name="Object 5"/>
          <p:cNvGraphicFramePr>
            <a:graphicFrameLocks noGrp="1" noChangeAspect="1"/>
          </p:cNvGraphicFramePr>
          <p:nvPr>
            <p:ph idx="1"/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50260488"/>
              </p:ext>
            </p:extLst>
          </p:nvPr>
        </p:nvGraphicFramePr>
        <p:xfrm>
          <a:off x="3854931" y="1981201"/>
          <a:ext cx="4984269" cy="2122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1990080" imgH="847080" progId="Visio.Drawing.6">
                  <p:embed/>
                </p:oleObj>
              </mc:Choice>
              <mc:Fallback>
                <p:oleObj name="VISIO" r:id="rId5" imgW="1990080" imgH="84708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4931" y="1981201"/>
                        <a:ext cx="4984269" cy="21224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59139" name="Rectangle 3"/>
          <p:cNvSpPr>
            <a:spLocks noGrp="1" noChangeArrowheads="1"/>
          </p:cNvSpPr>
          <p:nvPr>
            <p:ph type="body" sz="half" idx="4294967295"/>
            <p:custDataLst>
              <p:tags r:id="rId2"/>
            </p:custDataLst>
          </p:nvPr>
        </p:nvSpPr>
        <p:spPr>
          <a:xfrm>
            <a:off x="533400" y="1143000"/>
            <a:ext cx="7620000" cy="4953000"/>
          </a:xfrm>
        </p:spPr>
        <p:txBody>
          <a:bodyPr/>
          <a:lstStyle/>
          <a:p>
            <a:r>
              <a:rPr lang="en-US" b="1" dirty="0"/>
              <a:t>Nodes</a:t>
            </a:r>
          </a:p>
          <a:p>
            <a:pPr lvl="1"/>
            <a:r>
              <a:rPr lang="en-US" dirty="0"/>
              <a:t>Inputs: </a:t>
            </a:r>
            <a:r>
              <a:rPr lang="en-US" i="1" dirty="0"/>
              <a:t>A</a:t>
            </a:r>
            <a:r>
              <a:rPr lang="en-US" dirty="0"/>
              <a:t>, </a:t>
            </a:r>
            <a:r>
              <a:rPr lang="en-US" i="1" dirty="0"/>
              <a:t>B</a:t>
            </a:r>
            <a:r>
              <a:rPr lang="en-US" dirty="0"/>
              <a:t>, </a:t>
            </a:r>
            <a:r>
              <a:rPr lang="en-US" i="1" dirty="0"/>
              <a:t>C</a:t>
            </a:r>
          </a:p>
          <a:p>
            <a:pPr lvl="1"/>
            <a:r>
              <a:rPr lang="en-US" dirty="0"/>
              <a:t>Outputs: </a:t>
            </a:r>
            <a:r>
              <a:rPr lang="en-US" i="1" dirty="0"/>
              <a:t>Y</a:t>
            </a:r>
            <a:r>
              <a:rPr lang="en-US" dirty="0"/>
              <a:t>, </a:t>
            </a:r>
            <a:r>
              <a:rPr lang="en-US" i="1" dirty="0"/>
              <a:t>Z</a:t>
            </a:r>
          </a:p>
          <a:p>
            <a:pPr lvl="1"/>
            <a:r>
              <a:rPr lang="en-US" dirty="0"/>
              <a:t>Internal: n1</a:t>
            </a:r>
          </a:p>
          <a:p>
            <a:r>
              <a:rPr lang="en-US" b="1" dirty="0"/>
              <a:t>Circuit elements</a:t>
            </a:r>
          </a:p>
          <a:p>
            <a:pPr lvl="1"/>
            <a:r>
              <a:rPr lang="en-US" dirty="0"/>
              <a:t>E1, E2, E3</a:t>
            </a:r>
          </a:p>
          <a:p>
            <a:pPr lvl="1"/>
            <a:r>
              <a:rPr lang="en-US" dirty="0"/>
              <a:t>Each a circuit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Circuits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65F6938-714F-D746-9E5B-8ED8B9D4A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00722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60164" name="Object 4"/>
          <p:cNvGraphicFramePr>
            <a:graphicFrameLocks noGrp="1" noChangeAspect="1"/>
          </p:cNvGraphicFramePr>
          <p:nvPr>
            <p:ph idx="1"/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55561373"/>
              </p:ext>
            </p:extLst>
          </p:nvPr>
        </p:nvGraphicFramePr>
        <p:xfrm>
          <a:off x="2133600" y="4495800"/>
          <a:ext cx="5153242" cy="137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1890000" imgH="504000" progId="Visio.Drawing.6">
                  <p:embed/>
                </p:oleObj>
              </mc:Choice>
              <mc:Fallback>
                <p:oleObj name="VISIO" r:id="rId5" imgW="1890000" imgH="50400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4495800"/>
                        <a:ext cx="5153242" cy="1371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60163" name="Rectangle 3"/>
          <p:cNvSpPr>
            <a:spLocks noGrp="1" noChangeArrowheads="1"/>
          </p:cNvSpPr>
          <p:nvPr>
            <p:ph type="body" sz="half" idx="4294967295"/>
            <p:custDataLst>
              <p:tags r:id="rId2"/>
            </p:custDataLst>
          </p:nvPr>
        </p:nvSpPr>
        <p:spPr>
          <a:xfrm>
            <a:off x="533400" y="1066800"/>
            <a:ext cx="7620000" cy="4953000"/>
          </a:xfrm>
        </p:spPr>
        <p:txBody>
          <a:bodyPr/>
          <a:lstStyle/>
          <a:p>
            <a:r>
              <a:rPr lang="en-US" b="1" dirty="0"/>
              <a:t>Combinational Logic</a:t>
            </a:r>
          </a:p>
          <a:p>
            <a:pPr lvl="1"/>
            <a:r>
              <a:rPr lang="en-US" sz="2400" dirty="0" err="1"/>
              <a:t>Memory</a:t>
            </a:r>
            <a:r>
              <a:rPr lang="en-US" sz="2400" i="1" dirty="0" err="1"/>
              <a:t>less</a:t>
            </a:r>
            <a:endParaRPr lang="en-US" sz="2400" i="1" dirty="0"/>
          </a:p>
          <a:p>
            <a:pPr lvl="1"/>
            <a:r>
              <a:rPr lang="en-US" sz="2400" dirty="0"/>
              <a:t>Outputs determined by current values of inputs</a:t>
            </a:r>
          </a:p>
          <a:p>
            <a:r>
              <a:rPr lang="en-US" b="1" dirty="0"/>
              <a:t>Sequential Logic</a:t>
            </a:r>
          </a:p>
          <a:p>
            <a:pPr lvl="1"/>
            <a:r>
              <a:rPr lang="en-US" sz="2400" dirty="0"/>
              <a:t>Has memory</a:t>
            </a:r>
          </a:p>
          <a:p>
            <a:pPr lvl="1"/>
            <a:r>
              <a:rPr lang="en-US" sz="2400" dirty="0"/>
              <a:t>Outputs determined by previous and current values of inputs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Types of Logic Circuits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784EA47-3BE4-C84E-ABEF-60F405A65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31421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66980" name="Object 4"/>
          <p:cNvGraphicFramePr>
            <a:graphicFrameLocks noGrp="1" noChangeAspect="1"/>
          </p:cNvGraphicFramePr>
          <p:nvPr>
            <p:ph idx="1"/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81278049"/>
              </p:ext>
            </p:extLst>
          </p:nvPr>
        </p:nvGraphicFramePr>
        <p:xfrm>
          <a:off x="3048000" y="3505200"/>
          <a:ext cx="3011882" cy="198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834840" imgH="549000" progId="Visio.Drawing.6">
                  <p:embed/>
                </p:oleObj>
              </mc:Choice>
              <mc:Fallback>
                <p:oleObj name="VISIO" r:id="rId5" imgW="834840" imgH="54900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3505200"/>
                        <a:ext cx="3011882" cy="198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6979" name="Rectangle 3"/>
          <p:cNvSpPr>
            <a:spLocks noGrp="1" noChangeArrowheads="1"/>
          </p:cNvSpPr>
          <p:nvPr>
            <p:ph type="body" sz="half" idx="4294967295"/>
            <p:custDataLst>
              <p:tags r:id="rId2"/>
            </p:custDataLst>
          </p:nvPr>
        </p:nvSpPr>
        <p:spPr>
          <a:xfrm>
            <a:off x="533400" y="1066800"/>
            <a:ext cx="7696200" cy="4953000"/>
          </a:xfrm>
        </p:spPr>
        <p:txBody>
          <a:bodyPr/>
          <a:lstStyle/>
          <a:p>
            <a:r>
              <a:rPr lang="en-US" dirty="0"/>
              <a:t>Every element is combinational</a:t>
            </a:r>
          </a:p>
          <a:p>
            <a:r>
              <a:rPr lang="en-US" dirty="0"/>
              <a:t>Every node is either an input or connects to </a:t>
            </a:r>
            <a:r>
              <a:rPr lang="en-US" i="1" dirty="0"/>
              <a:t>exactly one </a:t>
            </a:r>
            <a:r>
              <a:rPr lang="en-US" dirty="0"/>
              <a:t>output</a:t>
            </a:r>
          </a:p>
          <a:p>
            <a:r>
              <a:rPr lang="en-US" dirty="0"/>
              <a:t>The circuit contains no cyclic paths</a:t>
            </a:r>
          </a:p>
          <a:p>
            <a:r>
              <a:rPr lang="en-US" b="1" dirty="0"/>
              <a:t>Example:</a:t>
            </a:r>
          </a:p>
          <a:p>
            <a:pPr>
              <a:spcAft>
                <a:spcPts val="800"/>
              </a:spcAft>
              <a:buFontTx/>
              <a:buNone/>
            </a:pPr>
            <a:endParaRPr lang="en-US" sz="2400" dirty="0">
              <a:solidFill>
                <a:schemeClr val="accent2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68759"/>
            <a:ext cx="82296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200" dirty="0">
                <a:solidFill>
                  <a:schemeClr val="bg1"/>
                </a:solidFill>
                <a:latin typeface="+mj-lt"/>
              </a:rPr>
              <a:t>Rules of Combinational Composition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8070509-AD4E-C846-BEDC-C23BA551C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97399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0" y="76200"/>
            <a:ext cx="9144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  <a:latin typeface="+mj-lt"/>
              </a:rPr>
              <a:t>Chapter 2: Combinational Logic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DAA03A6C-70A8-504F-B2A9-E24C66359451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0" y="2438400"/>
            <a:ext cx="9144000" cy="1600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en-US" sz="7200" b="1" dirty="0"/>
              <a:t>Boolean Equations</a:t>
            </a:r>
            <a:endParaRPr lang="en-US" sz="7200" dirty="0"/>
          </a:p>
          <a:p>
            <a:pPr lvl="1" algn="ctr"/>
            <a:endParaRPr lang="en-US" sz="7200" dirty="0"/>
          </a:p>
          <a:p>
            <a:pPr algn="ctr">
              <a:buFontTx/>
              <a:buNone/>
            </a:pP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25877718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88836" name="Object 4"/>
          <p:cNvGraphicFramePr>
            <a:graphicFrameLocks noGrp="1" noChangeAspect="1"/>
          </p:cNvGraphicFramePr>
          <p:nvPr>
            <p:ph idx="1"/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7052723"/>
              </p:ext>
            </p:extLst>
          </p:nvPr>
        </p:nvGraphicFramePr>
        <p:xfrm>
          <a:off x="2468161" y="3505200"/>
          <a:ext cx="3780239" cy="243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1247040" imgH="805320" progId="Visio.Drawing.6">
                  <p:embed/>
                </p:oleObj>
              </mc:Choice>
              <mc:Fallback>
                <p:oleObj name="VISIO" r:id="rId5" imgW="1247040" imgH="80532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8161" y="3505200"/>
                        <a:ext cx="3780239" cy="2438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88835" name="Rectangle 3"/>
          <p:cNvSpPr>
            <a:spLocks noGrp="1" noChangeArrowheads="1"/>
          </p:cNvSpPr>
          <p:nvPr>
            <p:ph type="body" sz="half" idx="4294967295"/>
            <p:custDataLst>
              <p:tags r:id="rId2"/>
            </p:custDataLst>
          </p:nvPr>
        </p:nvSpPr>
        <p:spPr>
          <a:xfrm>
            <a:off x="533400" y="1143000"/>
            <a:ext cx="7772400" cy="4953000"/>
          </a:xfrm>
        </p:spPr>
        <p:txBody>
          <a:bodyPr>
            <a:normAutofit/>
          </a:bodyPr>
          <a:lstStyle/>
          <a:p>
            <a:r>
              <a:rPr lang="en-US" dirty="0"/>
              <a:t>Functional specification of outputs in terms of inputs</a:t>
            </a:r>
          </a:p>
          <a:p>
            <a:r>
              <a:rPr lang="en-US" b="1" dirty="0">
                <a:solidFill>
                  <a:srgbClr val="0070C0"/>
                </a:solidFill>
              </a:rPr>
              <a:t>Example:    </a:t>
            </a:r>
            <a:r>
              <a:rPr lang="en-US" sz="2800" i="1" dirty="0"/>
              <a:t>S</a:t>
            </a:r>
            <a:r>
              <a:rPr lang="en-US" sz="2800" dirty="0"/>
              <a:t>     = F(</a:t>
            </a:r>
            <a:r>
              <a:rPr lang="en-US" sz="2800" i="1" dirty="0"/>
              <a:t>A</a:t>
            </a:r>
            <a:r>
              <a:rPr lang="en-US" sz="2800" dirty="0"/>
              <a:t>, </a:t>
            </a:r>
            <a:r>
              <a:rPr lang="en-US" sz="2800" i="1" dirty="0"/>
              <a:t>B</a:t>
            </a:r>
            <a:r>
              <a:rPr lang="en-US" sz="2800" dirty="0"/>
              <a:t>, </a:t>
            </a:r>
            <a:r>
              <a:rPr lang="en-US" sz="2800" i="1" dirty="0" err="1"/>
              <a:t>C</a:t>
            </a:r>
            <a:r>
              <a:rPr lang="en-US" sz="2800" baseline="-25000" dirty="0" err="1"/>
              <a:t>in</a:t>
            </a:r>
            <a:r>
              <a:rPr lang="en-US" sz="2800" dirty="0"/>
              <a:t>)</a:t>
            </a:r>
          </a:p>
          <a:p>
            <a:pPr>
              <a:buFontTx/>
              <a:buNone/>
            </a:pPr>
            <a:r>
              <a:rPr lang="en-US" sz="2800" i="1" dirty="0"/>
              <a:t>                  	     </a:t>
            </a:r>
            <a:r>
              <a:rPr lang="en-US" sz="2800" i="1" dirty="0" err="1"/>
              <a:t>C</a:t>
            </a:r>
            <a:r>
              <a:rPr lang="en-US" sz="2800" baseline="-25000" dirty="0" err="1"/>
              <a:t>out</a:t>
            </a:r>
            <a:r>
              <a:rPr lang="en-US" sz="2800" dirty="0"/>
              <a:t> = F(</a:t>
            </a:r>
            <a:r>
              <a:rPr lang="en-US" sz="2800" i="1" dirty="0"/>
              <a:t>A</a:t>
            </a:r>
            <a:r>
              <a:rPr lang="en-US" sz="2800" dirty="0"/>
              <a:t>, </a:t>
            </a:r>
            <a:r>
              <a:rPr lang="en-US" sz="2800" i="1" dirty="0"/>
              <a:t>B</a:t>
            </a:r>
            <a:r>
              <a:rPr lang="en-US" sz="2800" dirty="0"/>
              <a:t>, </a:t>
            </a:r>
            <a:r>
              <a:rPr lang="en-US" sz="2800" i="1" dirty="0" err="1"/>
              <a:t>C</a:t>
            </a:r>
            <a:r>
              <a:rPr lang="en-US" sz="2800" baseline="-25000" dirty="0" err="1"/>
              <a:t>in</a:t>
            </a:r>
            <a:r>
              <a:rPr lang="en-US" sz="2800" dirty="0"/>
              <a:t>)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Boolean Equations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7212F05-80E8-AA4A-AA0E-EE2306D1E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7288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1043" name="Rectangle 3"/>
          <p:cNvSpPr>
            <a:spLocks noGrp="1" noChangeArrowheads="1"/>
          </p:cNvSpPr>
          <p:nvPr>
            <p:ph idx="1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 b="1" dirty="0"/>
              <a:t>Complement</a:t>
            </a:r>
            <a:r>
              <a:rPr lang="en-US" sz="2800" dirty="0"/>
              <a:t>: variable with a bar over it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800" b="1" dirty="0">
                <a:solidFill>
                  <a:srgbClr val="0070C0"/>
                </a:solidFill>
              </a:rPr>
              <a:t>    </a:t>
            </a:r>
            <a:r>
              <a:rPr lang="en-US" sz="2800" b="1" i="1" dirty="0">
                <a:solidFill>
                  <a:srgbClr val="0070C0"/>
                </a:solidFill>
              </a:rPr>
              <a:t>A</a:t>
            </a:r>
            <a:r>
              <a:rPr lang="en-US" sz="2800" b="1" dirty="0">
                <a:solidFill>
                  <a:srgbClr val="0070C0"/>
                </a:solidFill>
              </a:rPr>
              <a:t>, </a:t>
            </a:r>
            <a:r>
              <a:rPr lang="en-US" sz="2800" b="1" i="1" dirty="0">
                <a:solidFill>
                  <a:srgbClr val="0070C0"/>
                </a:solidFill>
              </a:rPr>
              <a:t>B</a:t>
            </a:r>
            <a:r>
              <a:rPr lang="en-US" sz="2800" b="1" dirty="0">
                <a:solidFill>
                  <a:srgbClr val="0070C0"/>
                </a:solidFill>
              </a:rPr>
              <a:t>, </a:t>
            </a:r>
            <a:r>
              <a:rPr lang="en-US" sz="2800" b="1" i="1" dirty="0">
                <a:solidFill>
                  <a:srgbClr val="0070C0"/>
                </a:solidFill>
              </a:rPr>
              <a:t>C</a:t>
            </a:r>
          </a:p>
          <a:p>
            <a:pPr>
              <a:lnSpc>
                <a:spcPct val="90000"/>
              </a:lnSpc>
            </a:pPr>
            <a:r>
              <a:rPr lang="en-US" sz="2800" b="1" dirty="0"/>
              <a:t>Literal</a:t>
            </a:r>
            <a:r>
              <a:rPr lang="en-US" sz="2800" dirty="0"/>
              <a:t>: variable or its complement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800" b="1" dirty="0">
                <a:solidFill>
                  <a:srgbClr val="0070C0"/>
                </a:solidFill>
              </a:rPr>
              <a:t>    </a:t>
            </a:r>
            <a:r>
              <a:rPr lang="en-US" sz="2800" b="1" i="1" dirty="0">
                <a:solidFill>
                  <a:srgbClr val="0070C0"/>
                </a:solidFill>
              </a:rPr>
              <a:t>A</a:t>
            </a:r>
            <a:r>
              <a:rPr lang="en-US" sz="2800" b="1" dirty="0">
                <a:solidFill>
                  <a:srgbClr val="0070C0"/>
                </a:solidFill>
              </a:rPr>
              <a:t>, </a:t>
            </a:r>
            <a:r>
              <a:rPr lang="en-US" sz="2800" b="1" i="1" dirty="0">
                <a:solidFill>
                  <a:srgbClr val="0070C0"/>
                </a:solidFill>
              </a:rPr>
              <a:t>A</a:t>
            </a:r>
            <a:r>
              <a:rPr lang="en-US" sz="2800" b="1" dirty="0">
                <a:solidFill>
                  <a:srgbClr val="0070C0"/>
                </a:solidFill>
              </a:rPr>
              <a:t>, </a:t>
            </a:r>
            <a:r>
              <a:rPr lang="en-US" sz="2800" b="1" i="1" dirty="0">
                <a:solidFill>
                  <a:srgbClr val="0070C0"/>
                </a:solidFill>
              </a:rPr>
              <a:t>B</a:t>
            </a:r>
            <a:r>
              <a:rPr lang="en-US" sz="2800" b="1" dirty="0">
                <a:solidFill>
                  <a:srgbClr val="0070C0"/>
                </a:solidFill>
              </a:rPr>
              <a:t>, </a:t>
            </a:r>
            <a:r>
              <a:rPr lang="en-US" sz="2800" b="1" i="1" dirty="0">
                <a:solidFill>
                  <a:srgbClr val="0070C0"/>
                </a:solidFill>
              </a:rPr>
              <a:t>B</a:t>
            </a:r>
            <a:r>
              <a:rPr lang="en-US" sz="2800" b="1" dirty="0">
                <a:solidFill>
                  <a:srgbClr val="0070C0"/>
                </a:solidFill>
              </a:rPr>
              <a:t>, </a:t>
            </a:r>
            <a:r>
              <a:rPr lang="en-US" sz="2800" b="1" i="1" dirty="0">
                <a:solidFill>
                  <a:srgbClr val="0070C0"/>
                </a:solidFill>
              </a:rPr>
              <a:t>C</a:t>
            </a:r>
            <a:r>
              <a:rPr lang="en-US" sz="2800" b="1" dirty="0">
                <a:solidFill>
                  <a:srgbClr val="0070C0"/>
                </a:solidFill>
              </a:rPr>
              <a:t>, </a:t>
            </a:r>
            <a:r>
              <a:rPr lang="en-US" sz="2800" b="1" i="1" dirty="0">
                <a:solidFill>
                  <a:srgbClr val="0070C0"/>
                </a:solidFill>
              </a:rPr>
              <a:t>C</a:t>
            </a:r>
            <a:endParaRPr lang="en-US" sz="2800" b="1" dirty="0">
              <a:solidFill>
                <a:srgbClr val="0070C0"/>
              </a:solidFill>
            </a:endParaRPr>
          </a:p>
          <a:p>
            <a:pPr>
              <a:lnSpc>
                <a:spcPct val="90000"/>
              </a:lnSpc>
            </a:pPr>
            <a:r>
              <a:rPr lang="en-US" sz="2800" b="1" dirty="0" err="1"/>
              <a:t>Implicant</a:t>
            </a:r>
            <a:r>
              <a:rPr lang="en-US" sz="2800" dirty="0"/>
              <a:t>: product of literals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800" dirty="0"/>
              <a:t>    </a:t>
            </a:r>
            <a:r>
              <a:rPr lang="en-US" sz="2800" b="1" i="1" dirty="0">
                <a:solidFill>
                  <a:srgbClr val="0070C0"/>
                </a:solidFill>
              </a:rPr>
              <a:t>ABC</a:t>
            </a:r>
            <a:r>
              <a:rPr lang="en-US" sz="2800" b="1" dirty="0">
                <a:solidFill>
                  <a:srgbClr val="0070C0"/>
                </a:solidFill>
              </a:rPr>
              <a:t>, </a:t>
            </a:r>
            <a:r>
              <a:rPr lang="en-US" sz="2800" b="1" i="1" dirty="0">
                <a:solidFill>
                  <a:srgbClr val="0070C0"/>
                </a:solidFill>
              </a:rPr>
              <a:t>AC</a:t>
            </a:r>
            <a:r>
              <a:rPr lang="en-US" sz="2800" b="1" dirty="0">
                <a:solidFill>
                  <a:srgbClr val="0070C0"/>
                </a:solidFill>
              </a:rPr>
              <a:t>, </a:t>
            </a:r>
            <a:r>
              <a:rPr lang="en-US" sz="2800" b="1" i="1" dirty="0">
                <a:solidFill>
                  <a:srgbClr val="0070C0"/>
                </a:solidFill>
              </a:rPr>
              <a:t>BC</a:t>
            </a:r>
          </a:p>
          <a:p>
            <a:pPr>
              <a:lnSpc>
                <a:spcPct val="90000"/>
              </a:lnSpc>
            </a:pPr>
            <a:r>
              <a:rPr lang="en-US" sz="2800" b="1" dirty="0" err="1"/>
              <a:t>Minterm</a:t>
            </a:r>
            <a:r>
              <a:rPr lang="en-US" sz="2800" dirty="0"/>
              <a:t>: product that includes all input variables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800" dirty="0"/>
              <a:t>    </a:t>
            </a:r>
            <a:r>
              <a:rPr lang="en-US" sz="2800" b="1" i="1" dirty="0">
                <a:solidFill>
                  <a:srgbClr val="0070C0"/>
                </a:solidFill>
              </a:rPr>
              <a:t>ABC</a:t>
            </a:r>
            <a:r>
              <a:rPr lang="en-US" sz="2800" b="1" dirty="0">
                <a:solidFill>
                  <a:srgbClr val="0070C0"/>
                </a:solidFill>
              </a:rPr>
              <a:t>, </a:t>
            </a:r>
            <a:r>
              <a:rPr lang="en-US" sz="2800" b="1" i="1" dirty="0">
                <a:solidFill>
                  <a:srgbClr val="0070C0"/>
                </a:solidFill>
              </a:rPr>
              <a:t>ABC</a:t>
            </a:r>
            <a:r>
              <a:rPr lang="en-US" sz="2800" b="1" dirty="0">
                <a:solidFill>
                  <a:srgbClr val="0070C0"/>
                </a:solidFill>
              </a:rPr>
              <a:t>, </a:t>
            </a:r>
            <a:r>
              <a:rPr lang="en-US" sz="2800" b="1" i="1" dirty="0">
                <a:solidFill>
                  <a:srgbClr val="0070C0"/>
                </a:solidFill>
              </a:rPr>
              <a:t>ABC</a:t>
            </a:r>
          </a:p>
          <a:p>
            <a:pPr>
              <a:lnSpc>
                <a:spcPct val="90000"/>
              </a:lnSpc>
            </a:pPr>
            <a:r>
              <a:rPr lang="en-US" sz="2800" b="1" dirty="0" err="1"/>
              <a:t>Maxterm</a:t>
            </a:r>
            <a:r>
              <a:rPr lang="en-US" sz="2800" dirty="0"/>
              <a:t>: sum that includes all input variables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800" dirty="0"/>
              <a:t> </a:t>
            </a:r>
            <a:r>
              <a:rPr lang="en-US" sz="2800" b="1" dirty="0">
                <a:solidFill>
                  <a:srgbClr val="0070C0"/>
                </a:solidFill>
              </a:rPr>
              <a:t>   </a:t>
            </a:r>
            <a:r>
              <a:rPr lang="en-US" sz="2800" b="1" i="1" dirty="0">
                <a:solidFill>
                  <a:srgbClr val="0070C0"/>
                </a:solidFill>
              </a:rPr>
              <a:t>(A+B+C)</a:t>
            </a:r>
            <a:r>
              <a:rPr lang="en-US" sz="2800" b="1" dirty="0">
                <a:solidFill>
                  <a:srgbClr val="0070C0"/>
                </a:solidFill>
              </a:rPr>
              <a:t>, </a:t>
            </a:r>
            <a:r>
              <a:rPr lang="en-US" sz="2800" b="1" i="1" dirty="0">
                <a:solidFill>
                  <a:srgbClr val="0070C0"/>
                </a:solidFill>
              </a:rPr>
              <a:t>(A+B+C)</a:t>
            </a:r>
            <a:r>
              <a:rPr lang="en-US" sz="2800" b="1" dirty="0">
                <a:solidFill>
                  <a:srgbClr val="0070C0"/>
                </a:solidFill>
              </a:rPr>
              <a:t>, </a:t>
            </a:r>
            <a:r>
              <a:rPr lang="en-US" sz="2800" b="1" i="1" dirty="0">
                <a:solidFill>
                  <a:srgbClr val="0070C0"/>
                </a:solidFill>
              </a:rPr>
              <a:t>(A+B+C)</a:t>
            </a:r>
          </a:p>
        </p:txBody>
      </p:sp>
      <p:sp>
        <p:nvSpPr>
          <p:cNvPr id="1111044" name="Line 4"/>
          <p:cNvSpPr>
            <a:spLocks noChangeShapeType="1"/>
          </p:cNvSpPr>
          <p:nvPr>
            <p:custDataLst>
              <p:tags r:id="rId2"/>
            </p:custDataLst>
          </p:nvPr>
        </p:nvSpPr>
        <p:spPr bwMode="auto">
          <a:xfrm>
            <a:off x="1871433" y="1720850"/>
            <a:ext cx="152400" cy="0"/>
          </a:xfrm>
          <a:prstGeom prst="line">
            <a:avLst/>
          </a:prstGeom>
          <a:noFill/>
          <a:ln w="28575">
            <a:solidFill>
              <a:srgbClr val="0070C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11045" name="Line 5"/>
          <p:cNvSpPr>
            <a:spLocks noChangeShapeType="1"/>
          </p:cNvSpPr>
          <p:nvPr>
            <p:custDataLst>
              <p:tags r:id="rId3"/>
            </p:custDataLst>
          </p:nvPr>
        </p:nvSpPr>
        <p:spPr bwMode="auto">
          <a:xfrm>
            <a:off x="1098550" y="1720850"/>
            <a:ext cx="152400" cy="0"/>
          </a:xfrm>
          <a:prstGeom prst="line">
            <a:avLst/>
          </a:prstGeom>
          <a:noFill/>
          <a:ln w="28575">
            <a:solidFill>
              <a:srgbClr val="0070C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11046" name="Line 6"/>
          <p:cNvSpPr>
            <a:spLocks noChangeShapeType="1"/>
          </p:cNvSpPr>
          <p:nvPr>
            <p:custDataLst>
              <p:tags r:id="rId4"/>
            </p:custDataLst>
          </p:nvPr>
        </p:nvSpPr>
        <p:spPr bwMode="auto">
          <a:xfrm>
            <a:off x="1479550" y="1720850"/>
            <a:ext cx="152400" cy="0"/>
          </a:xfrm>
          <a:prstGeom prst="line">
            <a:avLst/>
          </a:prstGeom>
          <a:noFill/>
          <a:ln w="28575">
            <a:solidFill>
              <a:srgbClr val="0070C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11047" name="Line 7"/>
          <p:cNvSpPr>
            <a:spLocks noChangeShapeType="1"/>
          </p:cNvSpPr>
          <p:nvPr>
            <p:custDataLst>
              <p:tags r:id="rId5"/>
            </p:custDataLst>
          </p:nvPr>
        </p:nvSpPr>
        <p:spPr bwMode="auto">
          <a:xfrm>
            <a:off x="2986440" y="2667000"/>
            <a:ext cx="152400" cy="0"/>
          </a:xfrm>
          <a:prstGeom prst="line">
            <a:avLst/>
          </a:prstGeom>
          <a:noFill/>
          <a:ln w="28575">
            <a:solidFill>
              <a:srgbClr val="0070C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11048" name="Line 8"/>
          <p:cNvSpPr>
            <a:spLocks noChangeShapeType="1"/>
          </p:cNvSpPr>
          <p:nvPr>
            <p:custDataLst>
              <p:tags r:id="rId6"/>
            </p:custDataLst>
          </p:nvPr>
        </p:nvSpPr>
        <p:spPr bwMode="auto">
          <a:xfrm>
            <a:off x="1479550" y="2667000"/>
            <a:ext cx="152400" cy="0"/>
          </a:xfrm>
          <a:prstGeom prst="line">
            <a:avLst/>
          </a:prstGeom>
          <a:noFill/>
          <a:ln w="28575">
            <a:solidFill>
              <a:srgbClr val="0070C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11049" name="Line 9"/>
          <p:cNvSpPr>
            <a:spLocks noChangeShapeType="1"/>
          </p:cNvSpPr>
          <p:nvPr>
            <p:custDataLst>
              <p:tags r:id="rId7"/>
            </p:custDataLst>
          </p:nvPr>
        </p:nvSpPr>
        <p:spPr bwMode="auto">
          <a:xfrm>
            <a:off x="2241550" y="2667000"/>
            <a:ext cx="152400" cy="0"/>
          </a:xfrm>
          <a:prstGeom prst="line">
            <a:avLst/>
          </a:prstGeom>
          <a:noFill/>
          <a:ln w="28575">
            <a:solidFill>
              <a:srgbClr val="0070C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11050" name="Line 10"/>
          <p:cNvSpPr>
            <a:spLocks noChangeShapeType="1"/>
          </p:cNvSpPr>
          <p:nvPr>
            <p:custDataLst>
              <p:tags r:id="rId8"/>
            </p:custDataLst>
          </p:nvPr>
        </p:nvSpPr>
        <p:spPr bwMode="auto">
          <a:xfrm>
            <a:off x="1511300" y="3605215"/>
            <a:ext cx="152400" cy="0"/>
          </a:xfrm>
          <a:prstGeom prst="line">
            <a:avLst/>
          </a:prstGeom>
          <a:noFill/>
          <a:ln w="28575">
            <a:solidFill>
              <a:srgbClr val="0070C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11051" name="Line 11"/>
          <p:cNvSpPr>
            <a:spLocks noChangeShapeType="1"/>
          </p:cNvSpPr>
          <p:nvPr>
            <p:custDataLst>
              <p:tags r:id="rId9"/>
            </p:custDataLst>
          </p:nvPr>
        </p:nvSpPr>
        <p:spPr bwMode="auto">
          <a:xfrm>
            <a:off x="1892300" y="3605215"/>
            <a:ext cx="152400" cy="0"/>
          </a:xfrm>
          <a:prstGeom prst="line">
            <a:avLst/>
          </a:prstGeom>
          <a:noFill/>
          <a:ln w="28575">
            <a:solidFill>
              <a:srgbClr val="0070C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11052" name="Line 12"/>
          <p:cNvSpPr>
            <a:spLocks noChangeShapeType="1"/>
          </p:cNvSpPr>
          <p:nvPr>
            <p:custDataLst>
              <p:tags r:id="rId10"/>
            </p:custDataLst>
          </p:nvPr>
        </p:nvSpPr>
        <p:spPr bwMode="auto">
          <a:xfrm>
            <a:off x="1511300" y="4545012"/>
            <a:ext cx="152400" cy="0"/>
          </a:xfrm>
          <a:prstGeom prst="line">
            <a:avLst/>
          </a:prstGeom>
          <a:noFill/>
          <a:ln w="28575">
            <a:solidFill>
              <a:srgbClr val="0070C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11053" name="Line 13"/>
          <p:cNvSpPr>
            <a:spLocks noChangeShapeType="1"/>
          </p:cNvSpPr>
          <p:nvPr>
            <p:custDataLst>
              <p:tags r:id="rId11"/>
            </p:custDataLst>
          </p:nvPr>
        </p:nvSpPr>
        <p:spPr bwMode="auto">
          <a:xfrm>
            <a:off x="2063750" y="4545012"/>
            <a:ext cx="152400" cy="0"/>
          </a:xfrm>
          <a:prstGeom prst="line">
            <a:avLst/>
          </a:prstGeom>
          <a:noFill/>
          <a:ln w="28575">
            <a:solidFill>
              <a:srgbClr val="0070C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11054" name="Line 14"/>
          <p:cNvSpPr>
            <a:spLocks noChangeShapeType="1"/>
          </p:cNvSpPr>
          <p:nvPr>
            <p:custDataLst>
              <p:tags r:id="rId12"/>
            </p:custDataLst>
          </p:nvPr>
        </p:nvSpPr>
        <p:spPr bwMode="auto">
          <a:xfrm>
            <a:off x="2292350" y="4545012"/>
            <a:ext cx="152400" cy="0"/>
          </a:xfrm>
          <a:prstGeom prst="line">
            <a:avLst/>
          </a:prstGeom>
          <a:noFill/>
          <a:ln w="28575">
            <a:solidFill>
              <a:srgbClr val="0070C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11055" name="Line 15"/>
          <p:cNvSpPr>
            <a:spLocks noChangeShapeType="1"/>
          </p:cNvSpPr>
          <p:nvPr>
            <p:custDataLst>
              <p:tags r:id="rId13"/>
            </p:custDataLst>
          </p:nvPr>
        </p:nvSpPr>
        <p:spPr bwMode="auto">
          <a:xfrm>
            <a:off x="1600200" y="5476874"/>
            <a:ext cx="152400" cy="0"/>
          </a:xfrm>
          <a:prstGeom prst="line">
            <a:avLst/>
          </a:prstGeom>
          <a:noFill/>
          <a:ln w="28575">
            <a:solidFill>
              <a:srgbClr val="0070C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11056" name="Line 16"/>
          <p:cNvSpPr>
            <a:spLocks noChangeShapeType="1"/>
          </p:cNvSpPr>
          <p:nvPr>
            <p:custDataLst>
              <p:tags r:id="rId14"/>
            </p:custDataLst>
          </p:nvPr>
        </p:nvSpPr>
        <p:spPr bwMode="auto">
          <a:xfrm>
            <a:off x="2566993" y="5476874"/>
            <a:ext cx="152400" cy="0"/>
          </a:xfrm>
          <a:prstGeom prst="line">
            <a:avLst/>
          </a:prstGeom>
          <a:noFill/>
          <a:ln w="28575">
            <a:solidFill>
              <a:srgbClr val="0070C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11057" name="Line 17"/>
          <p:cNvSpPr>
            <a:spLocks noChangeShapeType="1"/>
          </p:cNvSpPr>
          <p:nvPr>
            <p:custDataLst>
              <p:tags r:id="rId15"/>
            </p:custDataLst>
          </p:nvPr>
        </p:nvSpPr>
        <p:spPr bwMode="auto">
          <a:xfrm>
            <a:off x="3314696" y="5476874"/>
            <a:ext cx="152400" cy="0"/>
          </a:xfrm>
          <a:prstGeom prst="line">
            <a:avLst/>
          </a:prstGeom>
          <a:noFill/>
          <a:ln w="28575">
            <a:solidFill>
              <a:srgbClr val="0070C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11058" name="Line 18"/>
          <p:cNvSpPr>
            <a:spLocks noChangeShapeType="1"/>
          </p:cNvSpPr>
          <p:nvPr>
            <p:custDataLst>
              <p:tags r:id="rId16"/>
            </p:custDataLst>
          </p:nvPr>
        </p:nvSpPr>
        <p:spPr bwMode="auto">
          <a:xfrm>
            <a:off x="3905252" y="5476874"/>
            <a:ext cx="152400" cy="0"/>
          </a:xfrm>
          <a:prstGeom prst="line">
            <a:avLst/>
          </a:prstGeom>
          <a:noFill/>
          <a:ln w="28575">
            <a:solidFill>
              <a:srgbClr val="0070C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11059" name="Line 19"/>
          <p:cNvSpPr>
            <a:spLocks noChangeShapeType="1"/>
          </p:cNvSpPr>
          <p:nvPr>
            <p:custDataLst>
              <p:tags r:id="rId17"/>
            </p:custDataLst>
          </p:nvPr>
        </p:nvSpPr>
        <p:spPr bwMode="auto">
          <a:xfrm>
            <a:off x="4267200" y="5476874"/>
            <a:ext cx="152400" cy="0"/>
          </a:xfrm>
          <a:prstGeom prst="line">
            <a:avLst/>
          </a:prstGeom>
          <a:noFill/>
          <a:ln w="28575">
            <a:solidFill>
              <a:srgbClr val="0070C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Some Definitions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6607B67-ADD6-D048-A7D7-676A7ED4D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4310897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2979" name="Rectangle 3" hidden="1"/>
          <p:cNvSpPr>
            <a:spLocks noGrp="1" noChangeArrowheads="1"/>
          </p:cNvSpPr>
          <p:nvPr>
            <p:ph type="title" idx="4294967295"/>
            <p:custDataLst>
              <p:tags r:id="rId1"/>
            </p:custDataLst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r>
              <a:rPr lang="en-US"/>
              <a:t>Sum-of-Products Form</a:t>
            </a:r>
          </a:p>
        </p:txBody>
      </p:sp>
      <p:sp>
        <p:nvSpPr>
          <p:cNvPr id="1022978" name="Rectangle 2" hidden="1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022981" name="Rectangle 5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362200" y="5410200"/>
            <a:ext cx="5486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sz="2400" b="1" i="1" dirty="0">
                <a:latin typeface="Times New Roman" pitchFamily="18" charset="0"/>
                <a:cs typeface="Arial" charset="0"/>
              </a:rPr>
              <a:t>Y</a:t>
            </a:r>
            <a:r>
              <a:rPr lang="en-US" sz="2400" b="1" dirty="0">
                <a:latin typeface="Times New Roman" pitchFamily="18" charset="0"/>
                <a:cs typeface="Arial" charset="0"/>
              </a:rPr>
              <a:t> = F(</a:t>
            </a:r>
            <a:r>
              <a:rPr lang="en-US" sz="2400" b="1" i="1" dirty="0">
                <a:latin typeface="Times New Roman" pitchFamily="18" charset="0"/>
                <a:cs typeface="Arial" charset="0"/>
              </a:rPr>
              <a:t>A</a:t>
            </a:r>
            <a:r>
              <a:rPr lang="en-US" sz="2400" b="1" dirty="0">
                <a:latin typeface="Times New Roman" pitchFamily="18" charset="0"/>
                <a:cs typeface="Arial" charset="0"/>
              </a:rPr>
              <a:t>, </a:t>
            </a:r>
            <a:r>
              <a:rPr lang="en-US" sz="2400" b="1" i="1" dirty="0">
                <a:latin typeface="Times New Roman" pitchFamily="18" charset="0"/>
                <a:cs typeface="Arial" charset="0"/>
              </a:rPr>
              <a:t>B</a:t>
            </a:r>
            <a:r>
              <a:rPr lang="en-US" sz="2400" b="1" dirty="0">
                <a:latin typeface="Times New Roman" pitchFamily="18" charset="0"/>
                <a:cs typeface="Arial" charset="0"/>
              </a:rPr>
              <a:t>) =</a:t>
            </a:r>
            <a:endParaRPr lang="en-US" sz="2400" b="1" i="1" dirty="0">
              <a:solidFill>
                <a:srgbClr val="FF0000"/>
              </a:solidFill>
              <a:latin typeface="Times New Roman" pitchFamily="18" charset="0"/>
              <a:cs typeface="Arial" charset="0"/>
            </a:endParaRPr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0726657"/>
              </p:ext>
            </p:extLst>
          </p:nvPr>
        </p:nvGraphicFramePr>
        <p:xfrm>
          <a:off x="2514600" y="3581400"/>
          <a:ext cx="4332288" cy="198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7" imgW="1766596" imgH="808828" progId="Visio.Drawing.11">
                  <p:embed/>
                </p:oleObj>
              </mc:Choice>
              <mc:Fallback>
                <p:oleObj name="Visio" r:id="rId7" imgW="1766596" imgH="808828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3581400"/>
                        <a:ext cx="4332288" cy="198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8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457200" y="914400"/>
            <a:ext cx="86106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buFontTx/>
              <a:buChar char="•"/>
            </a:pPr>
            <a:r>
              <a:rPr lang="en-US" sz="2800" dirty="0">
                <a:latin typeface="+mj-lt"/>
                <a:cs typeface="Arial" charset="0"/>
              </a:rPr>
              <a:t>All </a:t>
            </a:r>
            <a:r>
              <a:rPr lang="en-US" sz="2800" dirty="0">
                <a:cs typeface="Arial" charset="0"/>
              </a:rPr>
              <a:t>Boolean </a:t>
            </a:r>
            <a:r>
              <a:rPr lang="en-US" sz="2800" dirty="0">
                <a:latin typeface="+mj-lt"/>
                <a:cs typeface="Arial" charset="0"/>
              </a:rPr>
              <a:t>equations can be written in SOP form</a:t>
            </a:r>
          </a:p>
          <a:p>
            <a:pPr marL="342900" indent="-342900">
              <a:buFontTx/>
              <a:buChar char="•"/>
            </a:pPr>
            <a:r>
              <a:rPr lang="en-US" sz="2800" dirty="0">
                <a:latin typeface="+mj-lt"/>
                <a:cs typeface="Arial" charset="0"/>
              </a:rPr>
              <a:t>Each row has a </a:t>
            </a:r>
            <a:r>
              <a:rPr lang="en-US" sz="2800" b="1" dirty="0" err="1">
                <a:latin typeface="+mj-lt"/>
                <a:cs typeface="Arial" charset="0"/>
              </a:rPr>
              <a:t>minterm</a:t>
            </a:r>
            <a:endParaRPr lang="en-US" sz="2800" b="1" dirty="0">
              <a:latin typeface="+mj-lt"/>
              <a:cs typeface="Arial" charset="0"/>
            </a:endParaRPr>
          </a:p>
          <a:p>
            <a:pPr marL="342900" indent="-342900">
              <a:buFontTx/>
              <a:buChar char="•"/>
            </a:pPr>
            <a:r>
              <a:rPr lang="en-US" sz="2800" dirty="0">
                <a:latin typeface="+mj-lt"/>
                <a:cs typeface="Arial" charset="0"/>
              </a:rPr>
              <a:t>A </a:t>
            </a:r>
            <a:r>
              <a:rPr lang="en-US" sz="2800" dirty="0" err="1">
                <a:latin typeface="+mj-lt"/>
                <a:cs typeface="Arial" charset="0"/>
              </a:rPr>
              <a:t>minterm</a:t>
            </a:r>
            <a:r>
              <a:rPr lang="en-US" sz="2800" dirty="0">
                <a:latin typeface="+mj-lt"/>
                <a:cs typeface="Arial" charset="0"/>
              </a:rPr>
              <a:t> is a </a:t>
            </a:r>
            <a:r>
              <a:rPr lang="en-US" sz="2800" b="1" dirty="0">
                <a:latin typeface="+mj-lt"/>
                <a:cs typeface="Arial" charset="0"/>
              </a:rPr>
              <a:t>product</a:t>
            </a:r>
            <a:r>
              <a:rPr lang="en-US" sz="2800" dirty="0">
                <a:latin typeface="+mj-lt"/>
                <a:cs typeface="Arial" charset="0"/>
              </a:rPr>
              <a:t> (AND) of literals</a:t>
            </a:r>
          </a:p>
          <a:p>
            <a:pPr marL="342900" indent="-342900">
              <a:buFontTx/>
              <a:buChar char="•"/>
            </a:pPr>
            <a:r>
              <a:rPr lang="en-US" sz="2800" dirty="0">
                <a:latin typeface="+mj-lt"/>
                <a:cs typeface="Arial" charset="0"/>
              </a:rPr>
              <a:t>Each </a:t>
            </a:r>
            <a:r>
              <a:rPr lang="en-US" sz="2800" dirty="0" err="1">
                <a:latin typeface="+mj-lt"/>
                <a:cs typeface="Arial" charset="0"/>
              </a:rPr>
              <a:t>minterm</a:t>
            </a:r>
            <a:r>
              <a:rPr lang="en-US" sz="2800" dirty="0">
                <a:latin typeface="+mj-lt"/>
                <a:cs typeface="Arial" charset="0"/>
              </a:rPr>
              <a:t> is </a:t>
            </a:r>
            <a:r>
              <a:rPr lang="en-US" sz="2800" b="1" dirty="0">
                <a:latin typeface="+mj-lt"/>
                <a:cs typeface="Arial" charset="0"/>
              </a:rPr>
              <a:t>TRUE</a:t>
            </a:r>
            <a:r>
              <a:rPr lang="en-US" sz="2800" dirty="0">
                <a:latin typeface="+mj-lt"/>
                <a:cs typeface="Arial" charset="0"/>
              </a:rPr>
              <a:t> for that row (and only that row)</a:t>
            </a:r>
          </a:p>
          <a:p>
            <a:pPr marL="342900" indent="-342900">
              <a:buFontTx/>
              <a:buChar char="•"/>
            </a:pPr>
            <a:r>
              <a:rPr lang="en-US" sz="2800" dirty="0">
                <a:latin typeface="+mj-lt"/>
                <a:cs typeface="Arial" charset="0"/>
              </a:rPr>
              <a:t>Form function by </a:t>
            </a:r>
            <a:r>
              <a:rPr lang="en-US" sz="2800" b="1" dirty="0" err="1">
                <a:latin typeface="+mj-lt"/>
                <a:cs typeface="Arial" charset="0"/>
              </a:rPr>
              <a:t>ORing</a:t>
            </a:r>
            <a:r>
              <a:rPr lang="en-US" sz="2800" b="1" dirty="0">
                <a:latin typeface="+mj-lt"/>
                <a:cs typeface="Arial" charset="0"/>
              </a:rPr>
              <a:t> </a:t>
            </a:r>
            <a:r>
              <a:rPr lang="en-US" sz="2800" b="1" dirty="0" err="1">
                <a:latin typeface="+mj-lt"/>
                <a:cs typeface="Arial" charset="0"/>
              </a:rPr>
              <a:t>minterms</a:t>
            </a:r>
            <a:r>
              <a:rPr lang="en-US" sz="2800" dirty="0">
                <a:latin typeface="+mj-lt"/>
                <a:cs typeface="Arial" charset="0"/>
              </a:rPr>
              <a:t> where output is </a:t>
            </a:r>
            <a:r>
              <a:rPr lang="en-US" sz="2800" b="1" dirty="0">
                <a:latin typeface="+mj-lt"/>
                <a:cs typeface="Arial" charset="0"/>
              </a:rPr>
              <a:t>1</a:t>
            </a:r>
          </a:p>
          <a:p>
            <a:pPr marL="342900" indent="-342900">
              <a:buFontTx/>
              <a:buChar char="•"/>
            </a:pPr>
            <a:r>
              <a:rPr lang="en-US" sz="2800" dirty="0">
                <a:latin typeface="+mj-lt"/>
                <a:cs typeface="Arial" charset="0"/>
              </a:rPr>
              <a:t>Thus, a </a:t>
            </a:r>
            <a:r>
              <a:rPr lang="en-US" sz="2800" b="1" dirty="0">
                <a:solidFill>
                  <a:srgbClr val="0070C0"/>
                </a:solidFill>
                <a:latin typeface="+mj-lt"/>
                <a:cs typeface="Arial" charset="0"/>
              </a:rPr>
              <a:t>sum</a:t>
            </a:r>
            <a:r>
              <a:rPr lang="en-US" sz="2800" dirty="0">
                <a:solidFill>
                  <a:srgbClr val="0070C0"/>
                </a:solidFill>
                <a:latin typeface="+mj-lt"/>
                <a:cs typeface="Arial" charset="0"/>
              </a:rPr>
              <a:t> </a:t>
            </a:r>
            <a:r>
              <a:rPr lang="en-US" sz="2800" dirty="0">
                <a:latin typeface="+mj-lt"/>
                <a:cs typeface="Arial" charset="0"/>
              </a:rPr>
              <a:t>(OR) of </a:t>
            </a:r>
            <a:r>
              <a:rPr lang="en-US" sz="2800" b="1" dirty="0">
                <a:solidFill>
                  <a:srgbClr val="FF0000"/>
                </a:solidFill>
                <a:latin typeface="+mj-lt"/>
                <a:cs typeface="Arial" charset="0"/>
              </a:rPr>
              <a:t>products</a:t>
            </a:r>
            <a:r>
              <a:rPr lang="en-US" sz="2800" dirty="0">
                <a:solidFill>
                  <a:srgbClr val="FF0000"/>
                </a:solidFill>
                <a:latin typeface="+mj-lt"/>
                <a:cs typeface="Arial" charset="0"/>
              </a:rPr>
              <a:t> </a:t>
            </a:r>
            <a:r>
              <a:rPr lang="en-US" sz="2800" dirty="0">
                <a:latin typeface="+mj-lt"/>
                <a:cs typeface="Arial" charset="0"/>
              </a:rPr>
              <a:t>(AND terms)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Sum-of-Products (SOP) Form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8F3521-D958-BF48-8F8A-79F7DA749B37}"/>
              </a:ext>
            </a:extLst>
          </p:cNvPr>
          <p:cNvSpPr txBox="1"/>
          <p:nvPr/>
        </p:nvSpPr>
        <p:spPr>
          <a:xfrm>
            <a:off x="3810000" y="4191000"/>
            <a:ext cx="363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EED7C51-2211-9544-819C-58AC45ADF7C8}"/>
              </a:ext>
            </a:extLst>
          </p:cNvPr>
          <p:cNvSpPr txBox="1"/>
          <p:nvPr/>
        </p:nvSpPr>
        <p:spPr>
          <a:xfrm>
            <a:off x="3809999" y="4462898"/>
            <a:ext cx="363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F2F477E-F8ED-1745-97F1-77CDDE65A449}"/>
              </a:ext>
            </a:extLst>
          </p:cNvPr>
          <p:cNvSpPr txBox="1"/>
          <p:nvPr/>
        </p:nvSpPr>
        <p:spPr>
          <a:xfrm>
            <a:off x="3809999" y="4723764"/>
            <a:ext cx="363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6673224-B537-4B44-9E67-EC7EE3101654}"/>
              </a:ext>
            </a:extLst>
          </p:cNvPr>
          <p:cNvSpPr txBox="1"/>
          <p:nvPr/>
        </p:nvSpPr>
        <p:spPr>
          <a:xfrm>
            <a:off x="3809998" y="4995662"/>
            <a:ext cx="363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81B180-69AE-9545-8E95-7E41A656F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9017327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2979" name="Rectangle 3" hidden="1"/>
          <p:cNvSpPr>
            <a:spLocks noGrp="1" noChangeArrowheads="1"/>
          </p:cNvSpPr>
          <p:nvPr>
            <p:ph type="title" idx="4294967295"/>
            <p:custDataLst>
              <p:tags r:id="rId1"/>
            </p:custDataLst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r>
              <a:rPr lang="en-US"/>
              <a:t>Sum-of-Products Form</a:t>
            </a:r>
          </a:p>
        </p:txBody>
      </p:sp>
      <p:sp>
        <p:nvSpPr>
          <p:cNvPr id="1022978" name="Rectangle 2" hidden="1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022981" name="Rectangle 5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362200" y="5410200"/>
            <a:ext cx="5486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sz="2400" b="1" i="1" dirty="0">
                <a:latin typeface="Times New Roman" pitchFamily="18" charset="0"/>
                <a:cs typeface="Arial" charset="0"/>
              </a:rPr>
              <a:t>Y</a:t>
            </a:r>
            <a:r>
              <a:rPr lang="en-US" sz="2400" b="1" dirty="0">
                <a:latin typeface="Times New Roman" pitchFamily="18" charset="0"/>
                <a:cs typeface="Arial" charset="0"/>
              </a:rPr>
              <a:t> = F(</a:t>
            </a:r>
            <a:r>
              <a:rPr lang="en-US" sz="2400" b="1" i="1" dirty="0">
                <a:latin typeface="Times New Roman" pitchFamily="18" charset="0"/>
                <a:cs typeface="Arial" charset="0"/>
              </a:rPr>
              <a:t>A</a:t>
            </a:r>
            <a:r>
              <a:rPr lang="en-US" sz="2400" b="1" dirty="0">
                <a:latin typeface="Times New Roman" pitchFamily="18" charset="0"/>
                <a:cs typeface="Arial" charset="0"/>
              </a:rPr>
              <a:t>, </a:t>
            </a:r>
            <a:r>
              <a:rPr lang="en-US" sz="2400" b="1" i="1" dirty="0">
                <a:latin typeface="Times New Roman" pitchFamily="18" charset="0"/>
                <a:cs typeface="Arial" charset="0"/>
              </a:rPr>
              <a:t>B</a:t>
            </a:r>
            <a:r>
              <a:rPr lang="en-US" sz="2400" b="1" dirty="0">
                <a:latin typeface="Times New Roman" pitchFamily="18" charset="0"/>
                <a:cs typeface="Arial" charset="0"/>
              </a:rPr>
              <a:t>) = </a:t>
            </a:r>
            <a:r>
              <a:rPr lang="en-US" sz="2400" b="1" i="1" dirty="0">
                <a:latin typeface="Times New Roman" pitchFamily="18" charset="0"/>
                <a:cs typeface="Arial" charset="0"/>
              </a:rPr>
              <a:t>AB</a:t>
            </a:r>
            <a:r>
              <a:rPr lang="en-US" sz="2400" b="1" dirty="0">
                <a:latin typeface="Times New Roman" pitchFamily="18" charset="0"/>
                <a:cs typeface="Arial" charset="0"/>
              </a:rPr>
              <a:t> + </a:t>
            </a:r>
            <a:r>
              <a:rPr lang="en-US" sz="2400" b="1" i="1" dirty="0">
                <a:latin typeface="Times New Roman" pitchFamily="18" charset="0"/>
                <a:cs typeface="Arial" charset="0"/>
              </a:rPr>
              <a:t>AB</a:t>
            </a:r>
            <a:r>
              <a:rPr lang="en-US" sz="2400" b="1" dirty="0">
                <a:latin typeface="Times New Roman" pitchFamily="18" charset="0"/>
                <a:cs typeface="Arial" charset="0"/>
              </a:rPr>
              <a:t> = </a:t>
            </a:r>
            <a:r>
              <a:rPr lang="el-GR" sz="2400" b="1" dirty="0">
                <a:latin typeface="Times New Roman" pitchFamily="18" charset="0"/>
                <a:cs typeface="Arial" charset="0"/>
              </a:rPr>
              <a:t>Σ</a:t>
            </a:r>
            <a:r>
              <a:rPr lang="en-US" sz="2400" b="1" dirty="0">
                <a:latin typeface="Times New Roman" pitchFamily="18" charset="0"/>
                <a:cs typeface="Arial" charset="0"/>
              </a:rPr>
              <a:t>(</a:t>
            </a:r>
            <a:r>
              <a:rPr lang="en-US" sz="2400" b="1" dirty="0">
                <a:solidFill>
                  <a:srgbClr val="FF0000"/>
                </a:solidFill>
                <a:latin typeface="Times New Roman" pitchFamily="18" charset="0"/>
                <a:cs typeface="Arial" charset="0"/>
              </a:rPr>
              <a:t>1</a:t>
            </a:r>
            <a:r>
              <a:rPr lang="en-US" sz="2400" b="1" dirty="0">
                <a:latin typeface="Times New Roman" pitchFamily="18" charset="0"/>
                <a:cs typeface="Arial" charset="0"/>
              </a:rPr>
              <a:t>, </a:t>
            </a:r>
            <a:r>
              <a:rPr lang="en-US" sz="2400" b="1" dirty="0">
                <a:solidFill>
                  <a:srgbClr val="FF0000"/>
                </a:solidFill>
                <a:latin typeface="Times New Roman" pitchFamily="18" charset="0"/>
                <a:cs typeface="Arial" charset="0"/>
              </a:rPr>
              <a:t>3</a:t>
            </a:r>
            <a:r>
              <a:rPr lang="en-US" sz="2400" b="1" dirty="0">
                <a:latin typeface="Times New Roman" pitchFamily="18" charset="0"/>
                <a:cs typeface="Arial" charset="0"/>
              </a:rPr>
              <a:t>)</a:t>
            </a:r>
            <a:endParaRPr lang="en-US" sz="2400" b="1" i="1" dirty="0">
              <a:latin typeface="Times New Roman" pitchFamily="18" charset="0"/>
              <a:cs typeface="Arial" charset="0"/>
            </a:endParaRPr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383359"/>
              </p:ext>
            </p:extLst>
          </p:nvPr>
        </p:nvGraphicFramePr>
        <p:xfrm>
          <a:off x="2514600" y="3581400"/>
          <a:ext cx="4332288" cy="198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8" imgW="1766596" imgH="808828" progId="Visio.Drawing.11">
                  <p:embed/>
                </p:oleObj>
              </mc:Choice>
              <mc:Fallback>
                <p:oleObj name="Visio" r:id="rId8" imgW="1766596" imgH="808828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3581400"/>
                        <a:ext cx="4332288" cy="198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8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457200" y="914400"/>
            <a:ext cx="86106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buFontTx/>
              <a:buChar char="•"/>
            </a:pPr>
            <a:r>
              <a:rPr lang="en-US" sz="2800" dirty="0">
                <a:latin typeface="+mj-lt"/>
                <a:cs typeface="Arial" charset="0"/>
              </a:rPr>
              <a:t>All </a:t>
            </a:r>
            <a:r>
              <a:rPr lang="en-US" sz="2800" dirty="0">
                <a:cs typeface="Arial" charset="0"/>
              </a:rPr>
              <a:t>Boolean </a:t>
            </a:r>
            <a:r>
              <a:rPr lang="en-US" sz="2800" dirty="0">
                <a:latin typeface="+mj-lt"/>
                <a:cs typeface="Arial" charset="0"/>
              </a:rPr>
              <a:t>equations can be written in SOP form</a:t>
            </a:r>
          </a:p>
          <a:p>
            <a:pPr marL="342900" indent="-342900">
              <a:buFontTx/>
              <a:buChar char="•"/>
            </a:pPr>
            <a:r>
              <a:rPr lang="en-US" sz="2800" dirty="0">
                <a:latin typeface="+mj-lt"/>
                <a:cs typeface="Arial" charset="0"/>
              </a:rPr>
              <a:t>Each row has a </a:t>
            </a:r>
            <a:r>
              <a:rPr lang="en-US" sz="2800" b="1" dirty="0" err="1">
                <a:latin typeface="+mj-lt"/>
                <a:cs typeface="Arial" charset="0"/>
              </a:rPr>
              <a:t>minterm</a:t>
            </a:r>
            <a:endParaRPr lang="en-US" sz="2800" b="1" dirty="0">
              <a:latin typeface="+mj-lt"/>
              <a:cs typeface="Arial" charset="0"/>
            </a:endParaRPr>
          </a:p>
          <a:p>
            <a:pPr marL="342900" indent="-342900">
              <a:buFontTx/>
              <a:buChar char="•"/>
            </a:pPr>
            <a:r>
              <a:rPr lang="en-US" sz="2800" dirty="0">
                <a:latin typeface="+mj-lt"/>
                <a:cs typeface="Arial" charset="0"/>
              </a:rPr>
              <a:t>A </a:t>
            </a:r>
            <a:r>
              <a:rPr lang="en-US" sz="2800" dirty="0" err="1">
                <a:latin typeface="+mj-lt"/>
                <a:cs typeface="Arial" charset="0"/>
              </a:rPr>
              <a:t>minterm</a:t>
            </a:r>
            <a:r>
              <a:rPr lang="en-US" sz="2800" dirty="0">
                <a:latin typeface="+mj-lt"/>
                <a:cs typeface="Arial" charset="0"/>
              </a:rPr>
              <a:t> is a </a:t>
            </a:r>
            <a:r>
              <a:rPr lang="en-US" sz="2800" b="1" dirty="0">
                <a:latin typeface="+mj-lt"/>
                <a:cs typeface="Arial" charset="0"/>
              </a:rPr>
              <a:t>product</a:t>
            </a:r>
            <a:r>
              <a:rPr lang="en-US" sz="2800" dirty="0">
                <a:latin typeface="+mj-lt"/>
                <a:cs typeface="Arial" charset="0"/>
              </a:rPr>
              <a:t> (AND) of literals</a:t>
            </a:r>
          </a:p>
          <a:p>
            <a:pPr marL="342900" indent="-342900">
              <a:buFontTx/>
              <a:buChar char="•"/>
            </a:pPr>
            <a:r>
              <a:rPr lang="en-US" sz="2800" dirty="0">
                <a:latin typeface="+mj-lt"/>
                <a:cs typeface="Arial" charset="0"/>
              </a:rPr>
              <a:t>Each </a:t>
            </a:r>
            <a:r>
              <a:rPr lang="en-US" sz="2800" dirty="0" err="1">
                <a:latin typeface="+mj-lt"/>
                <a:cs typeface="Arial" charset="0"/>
              </a:rPr>
              <a:t>minterm</a:t>
            </a:r>
            <a:r>
              <a:rPr lang="en-US" sz="2800" dirty="0">
                <a:latin typeface="+mj-lt"/>
                <a:cs typeface="Arial" charset="0"/>
              </a:rPr>
              <a:t> is </a:t>
            </a:r>
            <a:r>
              <a:rPr lang="en-US" sz="2800" b="1" dirty="0">
                <a:latin typeface="+mj-lt"/>
                <a:cs typeface="Arial" charset="0"/>
              </a:rPr>
              <a:t>TRUE</a:t>
            </a:r>
            <a:r>
              <a:rPr lang="en-US" sz="2800" dirty="0">
                <a:latin typeface="+mj-lt"/>
                <a:cs typeface="Arial" charset="0"/>
              </a:rPr>
              <a:t> for that row (and only that row)</a:t>
            </a:r>
          </a:p>
          <a:p>
            <a:pPr marL="342900" indent="-342900">
              <a:buFontTx/>
              <a:buChar char="•"/>
            </a:pPr>
            <a:r>
              <a:rPr lang="en-US" sz="2800" dirty="0">
                <a:latin typeface="+mj-lt"/>
                <a:cs typeface="Arial" charset="0"/>
              </a:rPr>
              <a:t>Form function by </a:t>
            </a:r>
            <a:r>
              <a:rPr lang="en-US" sz="2800" b="1" dirty="0" err="1">
                <a:latin typeface="+mj-lt"/>
                <a:cs typeface="Arial" charset="0"/>
              </a:rPr>
              <a:t>ORing</a:t>
            </a:r>
            <a:r>
              <a:rPr lang="en-US" sz="2800" b="1" dirty="0">
                <a:latin typeface="+mj-lt"/>
                <a:cs typeface="Arial" charset="0"/>
              </a:rPr>
              <a:t> </a:t>
            </a:r>
            <a:r>
              <a:rPr lang="en-US" sz="2800" b="1" dirty="0" err="1">
                <a:latin typeface="+mj-lt"/>
                <a:cs typeface="Arial" charset="0"/>
              </a:rPr>
              <a:t>minterms</a:t>
            </a:r>
            <a:r>
              <a:rPr lang="en-US" sz="2800" b="1" dirty="0">
                <a:latin typeface="+mj-lt"/>
                <a:cs typeface="Arial" charset="0"/>
              </a:rPr>
              <a:t> </a:t>
            </a:r>
            <a:r>
              <a:rPr lang="en-US" sz="2800" dirty="0">
                <a:latin typeface="+mj-lt"/>
                <a:cs typeface="Arial" charset="0"/>
              </a:rPr>
              <a:t>where output is </a:t>
            </a:r>
            <a:r>
              <a:rPr lang="en-US" sz="2800" b="1" dirty="0">
                <a:latin typeface="+mj-lt"/>
                <a:cs typeface="Arial" charset="0"/>
              </a:rPr>
              <a:t>1</a:t>
            </a:r>
          </a:p>
          <a:p>
            <a:pPr marL="342900" indent="-342900">
              <a:buFontTx/>
              <a:buChar char="•"/>
            </a:pPr>
            <a:r>
              <a:rPr lang="en-US" sz="2800" dirty="0">
                <a:latin typeface="+mj-lt"/>
                <a:cs typeface="Arial" charset="0"/>
              </a:rPr>
              <a:t>Thus, a </a:t>
            </a:r>
            <a:r>
              <a:rPr lang="en-US" sz="2800" b="1" dirty="0">
                <a:latin typeface="+mj-lt"/>
                <a:cs typeface="Arial" charset="0"/>
              </a:rPr>
              <a:t>sum</a:t>
            </a:r>
            <a:r>
              <a:rPr lang="en-US" sz="2800" dirty="0">
                <a:latin typeface="+mj-lt"/>
                <a:cs typeface="Arial" charset="0"/>
              </a:rPr>
              <a:t> (OR) of </a:t>
            </a:r>
            <a:r>
              <a:rPr lang="en-US" sz="2800" b="1" dirty="0">
                <a:latin typeface="+mj-lt"/>
                <a:cs typeface="Arial" charset="0"/>
              </a:rPr>
              <a:t>products</a:t>
            </a:r>
            <a:r>
              <a:rPr lang="en-US" sz="2800" dirty="0">
                <a:latin typeface="+mj-lt"/>
                <a:cs typeface="Arial" charset="0"/>
              </a:rPr>
              <a:t> (AND terms)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Sum-of-Products (SOP) Form</a:t>
            </a:r>
          </a:p>
        </p:txBody>
      </p:sp>
      <p:sp>
        <p:nvSpPr>
          <p:cNvPr id="11" name="Line 6"/>
          <p:cNvSpPr>
            <a:spLocks noChangeShapeType="1"/>
          </p:cNvSpPr>
          <p:nvPr>
            <p:custDataLst>
              <p:tags r:id="rId5"/>
            </p:custDataLst>
          </p:nvPr>
        </p:nvSpPr>
        <p:spPr bwMode="auto">
          <a:xfrm>
            <a:off x="4241800" y="5518150"/>
            <a:ext cx="228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5477494" y="5791200"/>
            <a:ext cx="13805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0070C0"/>
                </a:solidFill>
              </a:rPr>
              <a:t>Short-hand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76426" y="5791200"/>
            <a:ext cx="13099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0070C0"/>
                </a:solidFill>
              </a:rPr>
              <a:t>Long-hand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DABCCB3-F9B8-4E49-9D48-20A1FD4AA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2057931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954" name="Rectangle 2" hidden="1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893957" name="Rectangle 5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828800" y="5410200"/>
            <a:ext cx="5486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sz="2400" b="1" i="1" dirty="0">
                <a:latin typeface="Times New Roman" pitchFamily="18" charset="0"/>
                <a:cs typeface="Arial" charset="0"/>
              </a:rPr>
              <a:t>Y</a:t>
            </a:r>
            <a:r>
              <a:rPr lang="en-US" sz="2400" b="1" dirty="0">
                <a:latin typeface="Times New Roman" pitchFamily="18" charset="0"/>
                <a:cs typeface="Arial" charset="0"/>
              </a:rPr>
              <a:t> = F(</a:t>
            </a:r>
            <a:r>
              <a:rPr lang="en-US" sz="2400" b="1" i="1" dirty="0">
                <a:latin typeface="Times New Roman" pitchFamily="18" charset="0"/>
                <a:cs typeface="Arial" charset="0"/>
              </a:rPr>
              <a:t>A</a:t>
            </a:r>
            <a:r>
              <a:rPr lang="en-US" sz="2400" b="1" dirty="0">
                <a:latin typeface="Times New Roman" pitchFamily="18" charset="0"/>
                <a:cs typeface="Arial" charset="0"/>
              </a:rPr>
              <a:t>, </a:t>
            </a:r>
            <a:r>
              <a:rPr lang="en-US" sz="2400" b="1" i="1" dirty="0">
                <a:latin typeface="Times New Roman" pitchFamily="18" charset="0"/>
                <a:cs typeface="Arial" charset="0"/>
              </a:rPr>
              <a:t>B</a:t>
            </a:r>
            <a:r>
              <a:rPr lang="en-US" sz="2400" b="1" dirty="0">
                <a:latin typeface="Times New Roman" pitchFamily="18" charset="0"/>
                <a:cs typeface="Arial" charset="0"/>
              </a:rPr>
              <a:t>) = (</a:t>
            </a:r>
            <a:r>
              <a:rPr lang="en-US" sz="2400" b="1" i="1" dirty="0">
                <a:latin typeface="Times New Roman" pitchFamily="18" charset="0"/>
                <a:cs typeface="Arial" charset="0"/>
              </a:rPr>
              <a:t>A + B</a:t>
            </a:r>
            <a:r>
              <a:rPr lang="en-US" sz="2400" b="1" dirty="0">
                <a:latin typeface="Times New Roman" pitchFamily="18" charset="0"/>
                <a:cs typeface="Arial" charset="0"/>
              </a:rPr>
              <a:t>)●(</a:t>
            </a:r>
            <a:r>
              <a:rPr lang="en-US" sz="2400" b="1" i="1" dirty="0">
                <a:latin typeface="Times New Roman" pitchFamily="18" charset="0"/>
                <a:cs typeface="Arial" charset="0"/>
              </a:rPr>
              <a:t>A + B</a:t>
            </a:r>
            <a:r>
              <a:rPr lang="en-US" sz="2400" b="1" dirty="0">
                <a:latin typeface="Times New Roman" pitchFamily="18" charset="0"/>
                <a:cs typeface="Arial" charset="0"/>
              </a:rPr>
              <a:t>) = </a:t>
            </a:r>
            <a:r>
              <a:rPr lang="el-GR" sz="2400" b="1" dirty="0">
                <a:latin typeface="Times New Roman" pitchFamily="18" charset="0"/>
                <a:cs typeface="Arial" charset="0"/>
              </a:rPr>
              <a:t>Π</a:t>
            </a:r>
            <a:r>
              <a:rPr lang="en-US" sz="2400" b="1" dirty="0">
                <a:latin typeface="Times New Roman" pitchFamily="18" charset="0"/>
                <a:cs typeface="Arial" charset="0"/>
              </a:rPr>
              <a:t>(</a:t>
            </a:r>
            <a:r>
              <a:rPr lang="en-US" sz="2400" b="1" dirty="0">
                <a:solidFill>
                  <a:srgbClr val="FF0000"/>
                </a:solidFill>
                <a:latin typeface="Times New Roman" pitchFamily="18" charset="0"/>
                <a:cs typeface="Arial" charset="0"/>
              </a:rPr>
              <a:t>0</a:t>
            </a:r>
            <a:r>
              <a:rPr lang="en-US" sz="2400" b="1" dirty="0">
                <a:latin typeface="Times New Roman" pitchFamily="18" charset="0"/>
                <a:cs typeface="Arial" charset="0"/>
              </a:rPr>
              <a:t>, </a:t>
            </a:r>
            <a:r>
              <a:rPr lang="en-US" sz="2400" b="1" dirty="0">
                <a:solidFill>
                  <a:srgbClr val="FF0000"/>
                </a:solidFill>
                <a:latin typeface="Times New Roman" pitchFamily="18" charset="0"/>
                <a:cs typeface="Arial" charset="0"/>
              </a:rPr>
              <a:t>2</a:t>
            </a:r>
            <a:r>
              <a:rPr lang="en-US" sz="2400" b="1" dirty="0">
                <a:latin typeface="Times New Roman" pitchFamily="18" charset="0"/>
                <a:cs typeface="Arial" charset="0"/>
              </a:rPr>
              <a:t>)</a:t>
            </a:r>
            <a:r>
              <a:rPr lang="en-US" sz="2400" i="1" dirty="0">
                <a:latin typeface="Times New Roman" pitchFamily="18" charset="0"/>
                <a:cs typeface="Arial" charset="0"/>
              </a:rPr>
              <a:t> </a:t>
            </a:r>
            <a:endParaRPr lang="en-US" sz="2400" dirty="0">
              <a:latin typeface="Times New Roman" pitchFamily="18" charset="0"/>
              <a:cs typeface="Arial" charset="0"/>
            </a:endParaRPr>
          </a:p>
        </p:txBody>
      </p:sp>
      <p:sp>
        <p:nvSpPr>
          <p:cNvPr id="893959" name="Rectangle 7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457200" y="990600"/>
            <a:ext cx="86106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buFontTx/>
              <a:buChar char="•"/>
            </a:pPr>
            <a:r>
              <a:rPr lang="en-US" sz="2800" dirty="0">
                <a:latin typeface="+mj-lt"/>
                <a:cs typeface="Arial" charset="0"/>
              </a:rPr>
              <a:t>All Boolean equations can be written in POS form</a:t>
            </a:r>
          </a:p>
          <a:p>
            <a:pPr marL="342900" indent="-342900">
              <a:buFontTx/>
              <a:buChar char="•"/>
            </a:pPr>
            <a:r>
              <a:rPr lang="en-US" sz="2800" dirty="0">
                <a:latin typeface="+mj-lt"/>
                <a:cs typeface="Arial" charset="0"/>
              </a:rPr>
              <a:t>Each row has a </a:t>
            </a:r>
            <a:r>
              <a:rPr lang="en-US" sz="2800" b="1" dirty="0" err="1">
                <a:latin typeface="+mj-lt"/>
                <a:cs typeface="Arial" charset="0"/>
              </a:rPr>
              <a:t>maxterm</a:t>
            </a:r>
            <a:endParaRPr lang="en-US" sz="2800" b="1" dirty="0">
              <a:latin typeface="+mj-lt"/>
              <a:cs typeface="Arial" charset="0"/>
            </a:endParaRPr>
          </a:p>
          <a:p>
            <a:pPr marL="342900" indent="-342900">
              <a:buFontTx/>
              <a:buChar char="•"/>
            </a:pPr>
            <a:r>
              <a:rPr lang="en-US" sz="2800" dirty="0">
                <a:latin typeface="+mj-lt"/>
                <a:cs typeface="Arial" charset="0"/>
              </a:rPr>
              <a:t>A </a:t>
            </a:r>
            <a:r>
              <a:rPr lang="en-US" sz="2800" dirty="0" err="1">
                <a:latin typeface="+mj-lt"/>
                <a:cs typeface="Arial" charset="0"/>
              </a:rPr>
              <a:t>maxterm</a:t>
            </a:r>
            <a:r>
              <a:rPr lang="en-US" sz="2800" dirty="0">
                <a:latin typeface="+mj-lt"/>
                <a:cs typeface="Arial" charset="0"/>
              </a:rPr>
              <a:t> is a </a:t>
            </a:r>
            <a:r>
              <a:rPr lang="en-US" sz="2800" b="1" dirty="0">
                <a:latin typeface="+mj-lt"/>
                <a:cs typeface="Arial" charset="0"/>
              </a:rPr>
              <a:t>sum</a:t>
            </a:r>
            <a:r>
              <a:rPr lang="en-US" sz="2800" dirty="0">
                <a:latin typeface="+mj-lt"/>
                <a:cs typeface="Arial" charset="0"/>
              </a:rPr>
              <a:t> (OR) of literals</a:t>
            </a:r>
          </a:p>
          <a:p>
            <a:pPr marL="342900" indent="-342900">
              <a:buFontTx/>
              <a:buChar char="•"/>
            </a:pPr>
            <a:r>
              <a:rPr lang="en-US" sz="2800" dirty="0">
                <a:latin typeface="+mj-lt"/>
                <a:cs typeface="Arial" charset="0"/>
              </a:rPr>
              <a:t>Each </a:t>
            </a:r>
            <a:r>
              <a:rPr lang="en-US" sz="2800" dirty="0" err="1">
                <a:latin typeface="+mj-lt"/>
                <a:cs typeface="Arial" charset="0"/>
              </a:rPr>
              <a:t>maxterm</a:t>
            </a:r>
            <a:r>
              <a:rPr lang="en-US" sz="2800" dirty="0">
                <a:latin typeface="+mj-lt"/>
                <a:cs typeface="Arial" charset="0"/>
              </a:rPr>
              <a:t> is </a:t>
            </a:r>
            <a:r>
              <a:rPr lang="en-US" sz="2800" b="1" dirty="0">
                <a:latin typeface="+mj-lt"/>
                <a:cs typeface="Arial" charset="0"/>
              </a:rPr>
              <a:t>FALSE</a:t>
            </a:r>
            <a:r>
              <a:rPr lang="en-US" sz="2800" dirty="0">
                <a:latin typeface="+mj-lt"/>
                <a:cs typeface="Arial" charset="0"/>
              </a:rPr>
              <a:t> for that row (and only that row)</a:t>
            </a:r>
          </a:p>
          <a:p>
            <a:pPr marL="342900" indent="-342900">
              <a:buFontTx/>
              <a:buChar char="•"/>
            </a:pPr>
            <a:r>
              <a:rPr lang="en-US" sz="2800" dirty="0">
                <a:latin typeface="+mj-lt"/>
                <a:cs typeface="Arial" charset="0"/>
              </a:rPr>
              <a:t>Form function by </a:t>
            </a:r>
            <a:r>
              <a:rPr lang="en-US" sz="2800" b="1" dirty="0" err="1">
                <a:latin typeface="+mj-lt"/>
                <a:cs typeface="Arial" charset="0"/>
              </a:rPr>
              <a:t>ANDing</a:t>
            </a:r>
            <a:r>
              <a:rPr lang="en-US" sz="2800" b="1" dirty="0">
                <a:latin typeface="+mj-lt"/>
                <a:cs typeface="Arial" charset="0"/>
              </a:rPr>
              <a:t> </a:t>
            </a:r>
            <a:r>
              <a:rPr lang="en-US" sz="2800" b="1" dirty="0" err="1">
                <a:latin typeface="+mj-lt"/>
                <a:cs typeface="Arial" charset="0"/>
              </a:rPr>
              <a:t>maxterms</a:t>
            </a:r>
            <a:r>
              <a:rPr lang="en-US" sz="2800" b="1" dirty="0">
                <a:latin typeface="+mj-lt"/>
                <a:cs typeface="Arial" charset="0"/>
              </a:rPr>
              <a:t> </a:t>
            </a:r>
            <a:r>
              <a:rPr lang="en-US" sz="2800" dirty="0">
                <a:latin typeface="+mj-lt"/>
                <a:cs typeface="Arial" charset="0"/>
              </a:rPr>
              <a:t>where output is </a:t>
            </a:r>
            <a:r>
              <a:rPr lang="en-US" sz="2800" b="1" dirty="0">
                <a:latin typeface="+mj-lt"/>
                <a:cs typeface="Arial" charset="0"/>
              </a:rPr>
              <a:t>0</a:t>
            </a:r>
          </a:p>
          <a:p>
            <a:pPr marL="342900" indent="-342900">
              <a:buFontTx/>
              <a:buChar char="•"/>
            </a:pPr>
            <a:r>
              <a:rPr lang="en-US" sz="2800" dirty="0">
                <a:latin typeface="+mj-lt"/>
                <a:cs typeface="Arial" charset="0"/>
              </a:rPr>
              <a:t>Thus, a </a:t>
            </a:r>
            <a:r>
              <a:rPr lang="en-US" sz="2800" b="1" dirty="0">
                <a:latin typeface="+mj-lt"/>
                <a:cs typeface="Arial" charset="0"/>
              </a:rPr>
              <a:t>product</a:t>
            </a:r>
            <a:r>
              <a:rPr lang="en-US" sz="2800" dirty="0">
                <a:latin typeface="+mj-lt"/>
                <a:cs typeface="Arial" charset="0"/>
              </a:rPr>
              <a:t> (AND) of </a:t>
            </a:r>
            <a:r>
              <a:rPr lang="en-US" sz="2800" b="1" dirty="0">
                <a:latin typeface="+mj-lt"/>
                <a:cs typeface="Arial" charset="0"/>
              </a:rPr>
              <a:t>sums</a:t>
            </a:r>
            <a:r>
              <a:rPr lang="en-US" sz="2800" dirty="0">
                <a:latin typeface="+mj-lt"/>
                <a:cs typeface="Arial" charset="0"/>
              </a:rPr>
              <a:t> (OR terms)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Product-of-Sums (POS) Form</a:t>
            </a:r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4170250"/>
              </p:ext>
            </p:extLst>
          </p:nvPr>
        </p:nvGraphicFramePr>
        <p:xfrm>
          <a:off x="2133600" y="3505200"/>
          <a:ext cx="4572000" cy="21505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7" imgW="1795210" imgH="844573" progId="Visio.Drawing.11">
                  <p:embed/>
                </p:oleObj>
              </mc:Choice>
              <mc:Fallback>
                <p:oleObj name="Visio" r:id="rId7" imgW="1795210" imgH="844573" progId="Visio.Drawing.1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133600" y="3505200"/>
                        <a:ext cx="4572000" cy="21505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Line 6"/>
          <p:cNvSpPr>
            <a:spLocks noChangeShapeType="1"/>
          </p:cNvSpPr>
          <p:nvPr>
            <p:custDataLst>
              <p:tags r:id="rId4"/>
            </p:custDataLst>
          </p:nvPr>
        </p:nvSpPr>
        <p:spPr bwMode="auto">
          <a:xfrm>
            <a:off x="4945858" y="5524500"/>
            <a:ext cx="228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5715000" y="5791200"/>
            <a:ext cx="13805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0070C0"/>
                </a:solidFill>
              </a:rPr>
              <a:t>Short-hand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4026" y="5791200"/>
            <a:ext cx="13099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0070C0"/>
                </a:solidFill>
              </a:rPr>
              <a:t>Long-hand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CE8BE23-7EB4-DC47-904B-748C19389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6748390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Boolean Equations Example</a:t>
            </a:r>
          </a:p>
        </p:txBody>
      </p:sp>
      <p:sp>
        <p:nvSpPr>
          <p:cNvPr id="7" name="Rectangle 3"/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33400" y="990600"/>
            <a:ext cx="7924800" cy="4953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You are going to the cafeteria for lunch</a:t>
            </a:r>
          </a:p>
          <a:p>
            <a:pPr lvl="1"/>
            <a:r>
              <a:rPr lang="en-US" dirty="0"/>
              <a:t>You won’t eat lunch (E = 0) </a:t>
            </a:r>
          </a:p>
          <a:p>
            <a:pPr lvl="2"/>
            <a:r>
              <a:rPr lang="en-US" dirty="0"/>
              <a:t>If it’s not clean (C = 0) or</a:t>
            </a:r>
          </a:p>
          <a:p>
            <a:pPr lvl="2"/>
            <a:r>
              <a:rPr lang="en-US" dirty="0"/>
              <a:t>If they only serve meatloaf (M = 1)</a:t>
            </a:r>
          </a:p>
          <a:p>
            <a:r>
              <a:rPr lang="en-US" dirty="0"/>
              <a:t>Write a truth table for determining if you will eat lunch (E).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4419600"/>
            <a:ext cx="304800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5943600" y="4800600"/>
            <a:ext cx="304800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5943600" y="5181600"/>
            <a:ext cx="304800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5943600" y="5486400"/>
            <a:ext cx="304800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867234"/>
              </p:ext>
            </p:extLst>
          </p:nvPr>
        </p:nvGraphicFramePr>
        <p:xfrm>
          <a:off x="4064793" y="3581400"/>
          <a:ext cx="2470311" cy="24205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709541" imgH="695360" progId="Visio.Drawing.11">
                  <p:embed/>
                </p:oleObj>
              </mc:Choice>
              <mc:Fallback>
                <p:oleObj name="Visio" r:id="rId4" imgW="709541" imgH="695360" progId="Visio.Drawing.1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064793" y="3581400"/>
                        <a:ext cx="2470311" cy="242057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13"/>
          <p:cNvSpPr/>
          <p:nvPr/>
        </p:nvSpPr>
        <p:spPr>
          <a:xfrm>
            <a:off x="5867400" y="4343400"/>
            <a:ext cx="609599" cy="381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5791200" y="4724400"/>
            <a:ext cx="609599" cy="381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5943601" y="5105400"/>
            <a:ext cx="609599" cy="381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5867401" y="5486400"/>
            <a:ext cx="609599" cy="381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58E66BF-8B29-6A4E-94EB-C34A25B7B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566628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6" grpId="0" animBg="1"/>
      <p:bldP spid="17" grpId="0" animBg="1"/>
      <p:bldP spid="1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06962" name="Object 18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48771093"/>
              </p:ext>
            </p:extLst>
          </p:nvPr>
        </p:nvGraphicFramePr>
        <p:xfrm>
          <a:off x="1524000" y="3810000"/>
          <a:ext cx="3386138" cy="199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6" imgW="1288039" imgH="757289" progId="Visio.Drawing.11">
                  <p:embed/>
                </p:oleObj>
              </mc:Choice>
              <mc:Fallback>
                <p:oleObj name="Visio" r:id="rId6" imgW="1288039" imgH="757289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3810000"/>
                        <a:ext cx="3386138" cy="1990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6963" name="Object 19"/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893573426"/>
              </p:ext>
            </p:extLst>
          </p:nvPr>
        </p:nvGraphicFramePr>
        <p:xfrm>
          <a:off x="1447800" y="1355725"/>
          <a:ext cx="3657600" cy="2149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8" imgW="1280575" imgH="752302" progId="Visio.Drawing.11">
                  <p:embed/>
                </p:oleObj>
              </mc:Choice>
              <mc:Fallback>
                <p:oleObj name="Visio" r:id="rId8" imgW="1280575" imgH="752302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1355725"/>
                        <a:ext cx="3657600" cy="2149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SOP &amp; POS Form</a:t>
            </a:r>
          </a:p>
        </p:txBody>
      </p:sp>
      <p:sp>
        <p:nvSpPr>
          <p:cNvPr id="7" name="Rectangle 3"/>
          <p:cNvSpPr txBox="1">
            <a:spLocks noChangeArrowheads="1"/>
          </p:cNvSpPr>
          <p:nvPr>
            <p:custDataLst>
              <p:tags r:id="rId3"/>
            </p:custDataLst>
          </p:nvPr>
        </p:nvSpPr>
        <p:spPr>
          <a:xfrm>
            <a:off x="762000" y="914400"/>
            <a:ext cx="5638800" cy="4953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b="1" dirty="0">
                <a:solidFill>
                  <a:srgbClr val="0070C0"/>
                </a:solidFill>
              </a:rPr>
              <a:t>SOP – sum-of-products</a:t>
            </a:r>
          </a:p>
          <a:p>
            <a:endParaRPr lang="en-US" sz="2400" b="1" dirty="0">
              <a:solidFill>
                <a:srgbClr val="0070C0"/>
              </a:solidFill>
            </a:endParaRPr>
          </a:p>
          <a:p>
            <a:endParaRPr lang="en-US" sz="2400" b="1" dirty="0">
              <a:solidFill>
                <a:srgbClr val="0070C0"/>
              </a:solidFill>
            </a:endParaRPr>
          </a:p>
          <a:p>
            <a:endParaRPr lang="en-US" sz="2400" b="1" dirty="0">
              <a:solidFill>
                <a:srgbClr val="0070C0"/>
              </a:solidFill>
            </a:endParaRPr>
          </a:p>
          <a:p>
            <a:pPr marL="0" indent="0">
              <a:buFont typeface="Arial" pitchFamily="34" charset="0"/>
              <a:buNone/>
            </a:pPr>
            <a:endParaRPr lang="en-US" sz="2400" b="1" dirty="0">
              <a:solidFill>
                <a:srgbClr val="0070C0"/>
              </a:solidFill>
            </a:endParaRPr>
          </a:p>
          <a:p>
            <a:pPr marL="0" indent="0">
              <a:buFont typeface="Arial" pitchFamily="34" charset="0"/>
              <a:buNone/>
            </a:pPr>
            <a:endParaRPr lang="en-US" sz="200" b="1" dirty="0">
              <a:solidFill>
                <a:srgbClr val="0070C0"/>
              </a:solidFill>
            </a:endParaRPr>
          </a:p>
          <a:p>
            <a:pPr marL="0" indent="0">
              <a:buFont typeface="Arial" pitchFamily="34" charset="0"/>
              <a:buNone/>
            </a:pPr>
            <a:endParaRPr lang="en-US" sz="200" b="1" dirty="0">
              <a:solidFill>
                <a:srgbClr val="0070C0"/>
              </a:solidFill>
            </a:endParaRPr>
          </a:p>
          <a:p>
            <a:pPr marL="0" indent="0">
              <a:buFont typeface="Arial" pitchFamily="34" charset="0"/>
              <a:buNone/>
            </a:pPr>
            <a:endParaRPr lang="en-US" sz="200" b="1" dirty="0">
              <a:solidFill>
                <a:srgbClr val="0070C0"/>
              </a:solidFill>
            </a:endParaRPr>
          </a:p>
          <a:p>
            <a:pPr marL="0" indent="0">
              <a:buFont typeface="Arial" pitchFamily="34" charset="0"/>
              <a:buNone/>
            </a:pPr>
            <a:r>
              <a:rPr lang="en-US" b="1" dirty="0">
                <a:solidFill>
                  <a:srgbClr val="0070C0"/>
                </a:solidFill>
              </a:rPr>
              <a:t>POS – product-of-sums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D18276D-9A37-C541-BF2B-A175D910F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3022043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06962" name="Object 18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23172775"/>
              </p:ext>
            </p:extLst>
          </p:nvPr>
        </p:nvGraphicFramePr>
        <p:xfrm>
          <a:off x="1524000" y="3810000"/>
          <a:ext cx="3386138" cy="199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12" imgW="1288039" imgH="757289" progId="Visio.Drawing.11">
                  <p:embed/>
                </p:oleObj>
              </mc:Choice>
              <mc:Fallback>
                <p:oleObj name="Visio" r:id="rId12" imgW="1288039" imgH="757289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3810000"/>
                        <a:ext cx="3386138" cy="1990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6963" name="Object 19"/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771681807"/>
              </p:ext>
            </p:extLst>
          </p:nvPr>
        </p:nvGraphicFramePr>
        <p:xfrm>
          <a:off x="1447800" y="1355725"/>
          <a:ext cx="3657600" cy="2149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14" imgW="1280575" imgH="752302" progId="Visio.Drawing.11">
                  <p:embed/>
                </p:oleObj>
              </mc:Choice>
              <mc:Fallback>
                <p:oleObj name="Visio" r:id="rId14" imgW="1280575" imgH="752302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1355725"/>
                        <a:ext cx="3657600" cy="2149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06964" name="Rectangle 20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5029200" y="4572000"/>
            <a:ext cx="3886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sz="2400" b="1" i="1" dirty="0">
                <a:latin typeface="Times New Roman" pitchFamily="18" charset="0"/>
                <a:cs typeface="Arial" charset="0"/>
              </a:rPr>
              <a:t>E </a:t>
            </a:r>
            <a:r>
              <a:rPr lang="en-US" sz="2400" b="1" dirty="0">
                <a:latin typeface="Times New Roman" pitchFamily="18" charset="0"/>
                <a:cs typeface="Arial" charset="0"/>
              </a:rPr>
              <a:t>= (</a:t>
            </a:r>
            <a:r>
              <a:rPr lang="en-US" sz="2400" b="1" i="1" dirty="0">
                <a:latin typeface="Times New Roman" pitchFamily="18" charset="0"/>
                <a:cs typeface="Arial" charset="0"/>
              </a:rPr>
              <a:t>C + M</a:t>
            </a:r>
            <a:r>
              <a:rPr lang="en-US" sz="2400" b="1" dirty="0">
                <a:latin typeface="Times New Roman" pitchFamily="18" charset="0"/>
                <a:cs typeface="Arial" charset="0"/>
              </a:rPr>
              <a:t>)(</a:t>
            </a:r>
            <a:r>
              <a:rPr lang="en-US" sz="2400" b="1" i="1" dirty="0">
                <a:latin typeface="Times New Roman" pitchFamily="18" charset="0"/>
                <a:cs typeface="Arial" charset="0"/>
              </a:rPr>
              <a:t>C + M</a:t>
            </a:r>
            <a:r>
              <a:rPr lang="en-US" sz="2400" b="1" dirty="0">
                <a:latin typeface="Times New Roman" pitchFamily="18" charset="0"/>
                <a:cs typeface="Arial" charset="0"/>
              </a:rPr>
              <a:t>)(</a:t>
            </a:r>
            <a:r>
              <a:rPr lang="en-US" sz="2400" b="1" i="1" dirty="0">
                <a:latin typeface="Times New Roman" pitchFamily="18" charset="0"/>
                <a:cs typeface="Arial" charset="0"/>
              </a:rPr>
              <a:t>C + M</a:t>
            </a:r>
            <a:r>
              <a:rPr lang="en-US" sz="2400" b="1" dirty="0">
                <a:latin typeface="Times New Roman" pitchFamily="18" charset="0"/>
                <a:cs typeface="Arial" charset="0"/>
              </a:rPr>
              <a:t>)</a:t>
            </a:r>
          </a:p>
          <a:p>
            <a:pPr marL="342900" indent="-342900">
              <a:spcBef>
                <a:spcPct val="20000"/>
              </a:spcBef>
            </a:pPr>
            <a:r>
              <a:rPr lang="en-US" sz="2400" b="1" dirty="0">
                <a:latin typeface="Times New Roman" pitchFamily="18" charset="0"/>
                <a:cs typeface="Arial" charset="0"/>
              </a:rPr>
              <a:t>   = </a:t>
            </a:r>
            <a:r>
              <a:rPr lang="el-GR" sz="2400" b="1" dirty="0">
                <a:latin typeface="Times New Roman" pitchFamily="18" charset="0"/>
                <a:cs typeface="Arial" charset="0"/>
              </a:rPr>
              <a:t>Π</a:t>
            </a:r>
            <a:r>
              <a:rPr lang="en-US" sz="2400" b="1" dirty="0">
                <a:latin typeface="Times New Roman" pitchFamily="18" charset="0"/>
                <a:cs typeface="Arial" charset="0"/>
              </a:rPr>
              <a:t>(0, 1, 3)</a:t>
            </a:r>
          </a:p>
        </p:txBody>
      </p:sp>
      <p:sp>
        <p:nvSpPr>
          <p:cNvPr id="1106965" name="Line 21"/>
          <p:cNvSpPr>
            <a:spLocks noChangeShapeType="1"/>
          </p:cNvSpPr>
          <p:nvPr>
            <p:custDataLst>
              <p:tags r:id="rId4"/>
            </p:custDataLst>
          </p:nvPr>
        </p:nvSpPr>
        <p:spPr bwMode="auto">
          <a:xfrm>
            <a:off x="7367475" y="4648200"/>
            <a:ext cx="161925" cy="15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06966" name="Line 22"/>
          <p:cNvSpPr>
            <a:spLocks noChangeShapeType="1"/>
          </p:cNvSpPr>
          <p:nvPr>
            <p:custDataLst>
              <p:tags r:id="rId5"/>
            </p:custDataLst>
          </p:nvPr>
        </p:nvSpPr>
        <p:spPr bwMode="auto">
          <a:xfrm>
            <a:off x="7783353" y="4648200"/>
            <a:ext cx="178118" cy="15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06967" name="Line 23"/>
          <p:cNvSpPr>
            <a:spLocks noChangeShapeType="1"/>
          </p:cNvSpPr>
          <p:nvPr>
            <p:custDataLst>
              <p:tags r:id="rId6"/>
            </p:custDataLst>
          </p:nvPr>
        </p:nvSpPr>
        <p:spPr bwMode="auto">
          <a:xfrm>
            <a:off x="8372475" y="4648200"/>
            <a:ext cx="161925" cy="15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06968" name="Rectangle 24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5715000" y="2133600"/>
            <a:ext cx="1447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sz="2400" b="1" i="1" dirty="0">
                <a:latin typeface="Times New Roman" pitchFamily="18" charset="0"/>
                <a:cs typeface="Arial" charset="0"/>
              </a:rPr>
              <a:t>E</a:t>
            </a:r>
            <a:r>
              <a:rPr lang="en-US" sz="2400" b="1" dirty="0">
                <a:latin typeface="Times New Roman" pitchFamily="18" charset="0"/>
                <a:cs typeface="Arial" charset="0"/>
              </a:rPr>
              <a:t> = </a:t>
            </a:r>
            <a:r>
              <a:rPr lang="en-US" sz="2400" b="1" i="1" dirty="0">
                <a:latin typeface="Times New Roman" pitchFamily="18" charset="0"/>
                <a:cs typeface="Arial" charset="0"/>
              </a:rPr>
              <a:t>CM</a:t>
            </a:r>
          </a:p>
          <a:p>
            <a:pPr marL="342900" indent="-342900">
              <a:spcBef>
                <a:spcPct val="20000"/>
              </a:spcBef>
            </a:pPr>
            <a:r>
              <a:rPr lang="en-US" sz="2400" b="1" i="1" dirty="0">
                <a:latin typeface="Times New Roman" pitchFamily="18" charset="0"/>
                <a:cs typeface="Arial" charset="0"/>
              </a:rPr>
              <a:t>   = </a:t>
            </a:r>
            <a:r>
              <a:rPr lang="el-GR" sz="2400" b="1" dirty="0">
                <a:latin typeface="Times New Roman" pitchFamily="18" charset="0"/>
                <a:cs typeface="Arial" charset="0"/>
              </a:rPr>
              <a:t>Σ</a:t>
            </a:r>
            <a:r>
              <a:rPr lang="en-US" sz="2400" b="1" dirty="0">
                <a:latin typeface="Times New Roman" pitchFamily="18" charset="0"/>
                <a:cs typeface="Arial" charset="0"/>
              </a:rPr>
              <a:t>(2)</a:t>
            </a:r>
            <a:endParaRPr lang="en-US" sz="2400" b="1" i="1" dirty="0">
              <a:latin typeface="Times New Roman" pitchFamily="18" charset="0"/>
              <a:cs typeface="Arial" charset="0"/>
            </a:endParaRPr>
          </a:p>
        </p:txBody>
      </p:sp>
      <p:sp>
        <p:nvSpPr>
          <p:cNvPr id="1106969" name="Line 25"/>
          <p:cNvSpPr>
            <a:spLocks noChangeShapeType="1"/>
          </p:cNvSpPr>
          <p:nvPr>
            <p:custDataLst>
              <p:tags r:id="rId8"/>
            </p:custDataLst>
          </p:nvPr>
        </p:nvSpPr>
        <p:spPr bwMode="auto">
          <a:xfrm>
            <a:off x="6553200" y="22098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14" name="TextBox 13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SOP &amp; POS Form</a:t>
            </a:r>
          </a:p>
        </p:txBody>
      </p:sp>
      <p:sp>
        <p:nvSpPr>
          <p:cNvPr id="15" name="Rectangle 3"/>
          <p:cNvSpPr txBox="1">
            <a:spLocks noChangeArrowheads="1"/>
          </p:cNvSpPr>
          <p:nvPr>
            <p:custDataLst>
              <p:tags r:id="rId9"/>
            </p:custDataLst>
          </p:nvPr>
        </p:nvSpPr>
        <p:spPr>
          <a:xfrm>
            <a:off x="762000" y="914400"/>
            <a:ext cx="5638800" cy="4953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b="1" dirty="0">
                <a:solidFill>
                  <a:srgbClr val="0070C0"/>
                </a:solidFill>
              </a:rPr>
              <a:t>SOP – sum-of-products</a:t>
            </a:r>
          </a:p>
          <a:p>
            <a:endParaRPr lang="en-US" sz="2400" b="1" dirty="0">
              <a:solidFill>
                <a:srgbClr val="0070C0"/>
              </a:solidFill>
            </a:endParaRPr>
          </a:p>
          <a:p>
            <a:endParaRPr lang="en-US" sz="2400" b="1" dirty="0">
              <a:solidFill>
                <a:srgbClr val="0070C0"/>
              </a:solidFill>
            </a:endParaRPr>
          </a:p>
          <a:p>
            <a:endParaRPr lang="en-US" sz="2400" b="1" dirty="0">
              <a:solidFill>
                <a:srgbClr val="0070C0"/>
              </a:solidFill>
            </a:endParaRPr>
          </a:p>
          <a:p>
            <a:pPr marL="0" indent="0">
              <a:buFont typeface="Arial" pitchFamily="34" charset="0"/>
              <a:buNone/>
            </a:pPr>
            <a:endParaRPr lang="en-US" sz="2400" b="1" dirty="0">
              <a:solidFill>
                <a:srgbClr val="0070C0"/>
              </a:solidFill>
            </a:endParaRPr>
          </a:p>
          <a:p>
            <a:pPr marL="0" indent="0">
              <a:buFont typeface="Arial" pitchFamily="34" charset="0"/>
              <a:buNone/>
            </a:pPr>
            <a:endParaRPr lang="en-US" sz="200" b="1" dirty="0">
              <a:solidFill>
                <a:srgbClr val="0070C0"/>
              </a:solidFill>
            </a:endParaRPr>
          </a:p>
          <a:p>
            <a:pPr marL="0" indent="0">
              <a:buFont typeface="Arial" pitchFamily="34" charset="0"/>
              <a:buNone/>
            </a:pPr>
            <a:endParaRPr lang="en-US" sz="200" b="1" dirty="0">
              <a:solidFill>
                <a:srgbClr val="0070C0"/>
              </a:solidFill>
            </a:endParaRPr>
          </a:p>
          <a:p>
            <a:pPr marL="0" indent="0">
              <a:buFont typeface="Arial" pitchFamily="34" charset="0"/>
              <a:buNone/>
            </a:pPr>
            <a:endParaRPr lang="en-US" sz="200" b="1" dirty="0">
              <a:solidFill>
                <a:srgbClr val="0070C0"/>
              </a:solidFill>
            </a:endParaRPr>
          </a:p>
          <a:p>
            <a:pPr marL="0" indent="0">
              <a:buFont typeface="Arial" pitchFamily="34" charset="0"/>
              <a:buNone/>
            </a:pPr>
            <a:r>
              <a:rPr lang="en-US" b="1" dirty="0">
                <a:solidFill>
                  <a:srgbClr val="0070C0"/>
                </a:solidFill>
              </a:rPr>
              <a:t>POS – product-of-sums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82DC6F8-264C-DC49-BD99-8B19C0A91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376183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Forming Boolean Expressions</a:t>
            </a:r>
          </a:p>
        </p:txBody>
      </p:sp>
      <p:sp>
        <p:nvSpPr>
          <p:cNvPr id="13" name="Rectangle 3"/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914400" y="990600"/>
            <a:ext cx="5638800" cy="609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b="1" dirty="0">
                <a:solidFill>
                  <a:srgbClr val="0070C0"/>
                </a:solidFill>
              </a:rPr>
              <a:t>Example 1:</a:t>
            </a:r>
          </a:p>
        </p:txBody>
      </p:sp>
      <p:sp>
        <p:nvSpPr>
          <p:cNvPr id="15" name="Rectangle 5"/>
          <p:cNvSpPr txBox="1">
            <a:spLocks noChangeArrowheads="1"/>
          </p:cNvSpPr>
          <p:nvPr>
            <p:custDataLst>
              <p:tags r:id="rId2"/>
            </p:custDataLst>
          </p:nvPr>
        </p:nvSpPr>
        <p:spPr>
          <a:xfrm>
            <a:off x="1295400" y="1600200"/>
            <a:ext cx="7620000" cy="1295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dirty="0">
                <a:latin typeface="+mj-lt"/>
                <a:cs typeface="Times New Roman" panose="02020603050405020304" pitchFamily="18" charset="0"/>
              </a:rPr>
              <a:t>We will go to the Park (</a:t>
            </a:r>
            <a:r>
              <a:rPr lang="en-US" sz="2800" b="1" i="1" dirty="0">
                <a:latin typeface="+mj-lt"/>
                <a:cs typeface="Times New Roman" panose="02020603050405020304" pitchFamily="18" charset="0"/>
              </a:rPr>
              <a:t>P</a:t>
            </a:r>
            <a:r>
              <a:rPr lang="en-US" sz="2800" dirty="0">
                <a:latin typeface="+mj-lt"/>
                <a:cs typeface="Times New Roman" panose="02020603050405020304" pitchFamily="18" charset="0"/>
              </a:rPr>
              <a:t> is the output) if it’s not Raining (</a:t>
            </a:r>
            <a:r>
              <a:rPr lang="en-US" sz="2800" b="1" i="1" dirty="0">
                <a:latin typeface="+mj-lt"/>
                <a:cs typeface="Times New Roman" panose="02020603050405020304" pitchFamily="18" charset="0"/>
              </a:rPr>
              <a:t>R</a:t>
            </a:r>
            <a:r>
              <a:rPr lang="en-US" sz="2800" dirty="0">
                <a:latin typeface="+mj-lt"/>
                <a:cs typeface="Times New Roman" panose="02020603050405020304" pitchFamily="18" charset="0"/>
              </a:rPr>
              <a:t>) and we have Sandwiches (</a:t>
            </a:r>
            <a:r>
              <a:rPr lang="en-US" sz="2800" b="1" i="1" dirty="0">
                <a:latin typeface="+mj-lt"/>
                <a:cs typeface="Times New Roman" panose="02020603050405020304" pitchFamily="18" charset="0"/>
              </a:rPr>
              <a:t>S</a:t>
            </a:r>
            <a:r>
              <a:rPr lang="en-US" sz="2800" dirty="0">
                <a:latin typeface="+mj-lt"/>
                <a:cs typeface="Times New Roman" panose="02020603050405020304" pitchFamily="18" charset="0"/>
              </a:rPr>
              <a:t>).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2590800" y="2133600"/>
            <a:ext cx="3048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3"/>
          <p:cNvSpPr txBox="1">
            <a:spLocks noChangeArrowheads="1"/>
          </p:cNvSpPr>
          <p:nvPr>
            <p:custDataLst>
              <p:tags r:id="rId3"/>
            </p:custDataLst>
          </p:nvPr>
        </p:nvSpPr>
        <p:spPr>
          <a:xfrm>
            <a:off x="914400" y="2743200"/>
            <a:ext cx="5638800" cy="609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b="1" dirty="0">
                <a:solidFill>
                  <a:srgbClr val="0070C0"/>
                </a:solidFill>
              </a:rPr>
              <a:t>Boolean Equation:</a:t>
            </a:r>
          </a:p>
        </p:txBody>
      </p:sp>
      <p:sp>
        <p:nvSpPr>
          <p:cNvPr id="18" name="Rectangle 5"/>
          <p:cNvSpPr txBox="1">
            <a:spLocks noChangeArrowheads="1"/>
          </p:cNvSpPr>
          <p:nvPr>
            <p:custDataLst>
              <p:tags r:id="rId4"/>
            </p:custDataLst>
          </p:nvPr>
        </p:nvSpPr>
        <p:spPr>
          <a:xfrm>
            <a:off x="1295400" y="3352800"/>
            <a:ext cx="2286000" cy="6477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b="1" i="1" dirty="0">
                <a:latin typeface="+mj-lt"/>
                <a:cs typeface="Times New Roman" panose="02020603050405020304" pitchFamily="18" charset="0"/>
              </a:rPr>
              <a:t>P</a:t>
            </a:r>
            <a:r>
              <a:rPr lang="en-US" sz="2800" b="1" dirty="0">
                <a:latin typeface="+mj-lt"/>
                <a:cs typeface="Times New Roman" panose="02020603050405020304" pitchFamily="18" charset="0"/>
              </a:rPr>
              <a:t> = </a:t>
            </a:r>
            <a:r>
              <a:rPr lang="en-US" sz="2800" b="1" i="1" dirty="0">
                <a:latin typeface="+mj-lt"/>
                <a:cs typeface="Times New Roman" panose="02020603050405020304" pitchFamily="18" charset="0"/>
              </a:rPr>
              <a:t>RS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881699" y="3469200"/>
            <a:ext cx="25190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1143000" y="3276600"/>
            <a:ext cx="6172200" cy="2209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A607FD0-25C9-9C47-B8B2-8EAE3BFD8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518472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Forming Boolean Expressions</a:t>
            </a:r>
          </a:p>
        </p:txBody>
      </p:sp>
      <p:sp>
        <p:nvSpPr>
          <p:cNvPr id="13" name="Rectangle 3"/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914400" y="990600"/>
            <a:ext cx="5638800" cy="609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b="1" dirty="0">
                <a:solidFill>
                  <a:srgbClr val="0070C0"/>
                </a:solidFill>
              </a:rPr>
              <a:t>Example 2:</a:t>
            </a:r>
          </a:p>
        </p:txBody>
      </p:sp>
      <p:sp>
        <p:nvSpPr>
          <p:cNvPr id="15" name="Rectangle 5"/>
          <p:cNvSpPr txBox="1">
            <a:spLocks noChangeArrowheads="1"/>
          </p:cNvSpPr>
          <p:nvPr>
            <p:custDataLst>
              <p:tags r:id="rId2"/>
            </p:custDataLst>
          </p:nvPr>
        </p:nvSpPr>
        <p:spPr>
          <a:xfrm>
            <a:off x="1295400" y="1600200"/>
            <a:ext cx="7620000" cy="1295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dirty="0">
                <a:cs typeface="Times New Roman" panose="02020603050405020304" pitchFamily="18" charset="0"/>
              </a:rPr>
              <a:t>You will be considered a Winner (</a:t>
            </a:r>
            <a:r>
              <a:rPr lang="en-US" sz="2800" b="1" dirty="0">
                <a:cs typeface="Times New Roman" panose="02020603050405020304" pitchFamily="18" charset="0"/>
              </a:rPr>
              <a:t>W</a:t>
            </a:r>
            <a:r>
              <a:rPr lang="en-US" sz="2800" dirty="0">
                <a:cs typeface="Times New Roman" panose="02020603050405020304" pitchFamily="18" charset="0"/>
              </a:rPr>
              <a:t> is the output) if we send you a Million dollars (</a:t>
            </a:r>
            <a:r>
              <a:rPr lang="en-US" sz="2800" b="1" dirty="0">
                <a:cs typeface="Times New Roman" panose="02020603050405020304" pitchFamily="18" charset="0"/>
              </a:rPr>
              <a:t>M</a:t>
            </a:r>
            <a:r>
              <a:rPr lang="en-US" sz="2800" dirty="0">
                <a:cs typeface="Times New Roman" panose="02020603050405020304" pitchFamily="18" charset="0"/>
              </a:rPr>
              <a:t>) or a small Notepad (</a:t>
            </a:r>
            <a:r>
              <a:rPr lang="en-US" sz="2800" b="1" dirty="0">
                <a:cs typeface="Times New Roman" panose="02020603050405020304" pitchFamily="18" charset="0"/>
              </a:rPr>
              <a:t>N</a:t>
            </a:r>
            <a:r>
              <a:rPr lang="en-US" sz="2800" dirty="0">
                <a:cs typeface="Times New Roman" panose="02020603050405020304" pitchFamily="18" charset="0"/>
              </a:rPr>
              <a:t>).</a:t>
            </a:r>
          </a:p>
        </p:txBody>
      </p:sp>
      <p:sp>
        <p:nvSpPr>
          <p:cNvPr id="17" name="Rectangle 3"/>
          <p:cNvSpPr txBox="1">
            <a:spLocks noChangeArrowheads="1"/>
          </p:cNvSpPr>
          <p:nvPr>
            <p:custDataLst>
              <p:tags r:id="rId3"/>
            </p:custDataLst>
          </p:nvPr>
        </p:nvSpPr>
        <p:spPr>
          <a:xfrm>
            <a:off x="914400" y="3009900"/>
            <a:ext cx="5638800" cy="609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b="1" dirty="0">
                <a:solidFill>
                  <a:srgbClr val="0070C0"/>
                </a:solidFill>
              </a:rPr>
              <a:t>Boolean Equation:</a:t>
            </a:r>
          </a:p>
        </p:txBody>
      </p:sp>
      <p:sp>
        <p:nvSpPr>
          <p:cNvPr id="18" name="Rectangle 5"/>
          <p:cNvSpPr txBox="1">
            <a:spLocks noChangeArrowheads="1"/>
          </p:cNvSpPr>
          <p:nvPr>
            <p:custDataLst>
              <p:tags r:id="rId4"/>
            </p:custDataLst>
          </p:nvPr>
        </p:nvSpPr>
        <p:spPr>
          <a:xfrm>
            <a:off x="1295400" y="3619500"/>
            <a:ext cx="2286000" cy="6477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b="1" i="1" dirty="0">
                <a:latin typeface="+mj-lt"/>
                <a:cs typeface="Times New Roman" panose="02020603050405020304" pitchFamily="18" charset="0"/>
              </a:rPr>
              <a:t>W</a:t>
            </a:r>
            <a:r>
              <a:rPr lang="en-US" sz="2800" b="1" dirty="0">
                <a:latin typeface="+mj-lt"/>
                <a:cs typeface="Times New Roman" panose="02020603050405020304" pitchFamily="18" charset="0"/>
              </a:rPr>
              <a:t> = </a:t>
            </a:r>
            <a:r>
              <a:rPr lang="en-US" sz="2800" b="1" i="1" dirty="0">
                <a:latin typeface="+mj-lt"/>
                <a:cs typeface="Times New Roman" panose="02020603050405020304" pitchFamily="18" charset="0"/>
              </a:rPr>
              <a:t>M + N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3581400"/>
            <a:ext cx="6172200" cy="2209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3CEFB29-EF57-364E-B056-DC163A516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503010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Forming Boolean Expressions</a:t>
            </a:r>
          </a:p>
        </p:txBody>
      </p:sp>
      <p:sp>
        <p:nvSpPr>
          <p:cNvPr id="13" name="Rectangle 3"/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914400" y="990600"/>
            <a:ext cx="5638800" cy="609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b="1" dirty="0">
                <a:solidFill>
                  <a:srgbClr val="0070C0"/>
                </a:solidFill>
              </a:rPr>
              <a:t>Example 3:</a:t>
            </a:r>
          </a:p>
        </p:txBody>
      </p:sp>
      <p:sp>
        <p:nvSpPr>
          <p:cNvPr id="15" name="Rectangle 5"/>
          <p:cNvSpPr txBox="1">
            <a:spLocks noChangeArrowheads="1"/>
          </p:cNvSpPr>
          <p:nvPr>
            <p:custDataLst>
              <p:tags r:id="rId2"/>
            </p:custDataLst>
          </p:nvPr>
        </p:nvSpPr>
        <p:spPr>
          <a:xfrm>
            <a:off x="1295400" y="1600200"/>
            <a:ext cx="7696200" cy="1295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dirty="0">
                <a:cs typeface="Times New Roman" panose="02020603050405020304" pitchFamily="18" charset="0"/>
              </a:rPr>
              <a:t>You can Eat delicious food (</a:t>
            </a:r>
            <a:r>
              <a:rPr lang="en-US" sz="2800" b="1" i="1" dirty="0">
                <a:cs typeface="Times New Roman" panose="02020603050405020304" pitchFamily="18" charset="0"/>
              </a:rPr>
              <a:t>E</a:t>
            </a:r>
            <a:r>
              <a:rPr lang="en-US" sz="2800" dirty="0">
                <a:cs typeface="Times New Roman" panose="02020603050405020304" pitchFamily="18" charset="0"/>
              </a:rPr>
              <a:t> is the output) if you Make it yourself (</a:t>
            </a:r>
            <a:r>
              <a:rPr lang="en-US" sz="2800" b="1" i="1" dirty="0">
                <a:cs typeface="Times New Roman" panose="02020603050405020304" pitchFamily="18" charset="0"/>
              </a:rPr>
              <a:t>M</a:t>
            </a:r>
            <a:r>
              <a:rPr lang="en-US" sz="2800" dirty="0">
                <a:cs typeface="Times New Roman" panose="02020603050405020304" pitchFamily="18" charset="0"/>
              </a:rPr>
              <a:t>) or you have a personal Chef (</a:t>
            </a:r>
            <a:r>
              <a:rPr lang="en-US" sz="2800" b="1" i="1" dirty="0">
                <a:cs typeface="Times New Roman" panose="02020603050405020304" pitchFamily="18" charset="0"/>
              </a:rPr>
              <a:t>C</a:t>
            </a:r>
            <a:r>
              <a:rPr lang="en-US" sz="2800" dirty="0">
                <a:cs typeface="Times New Roman" panose="02020603050405020304" pitchFamily="18" charset="0"/>
              </a:rPr>
              <a:t>) and she/he is talented (</a:t>
            </a:r>
            <a:r>
              <a:rPr lang="en-US" sz="2800" b="1" i="1" dirty="0">
                <a:cs typeface="Times New Roman" panose="02020603050405020304" pitchFamily="18" charset="0"/>
              </a:rPr>
              <a:t>T</a:t>
            </a:r>
            <a:r>
              <a:rPr lang="en-US" sz="2800" dirty="0">
                <a:cs typeface="Times New Roman" panose="02020603050405020304" pitchFamily="18" charset="0"/>
              </a:rPr>
              <a:t>) but not </a:t>
            </a:r>
            <a:r>
              <a:rPr lang="en-US" sz="2800" dirty="0" err="1">
                <a:cs typeface="Times New Roman" panose="02020603050405020304" pitchFamily="18" charset="0"/>
              </a:rPr>
              <a:t>eXpensive</a:t>
            </a:r>
            <a:r>
              <a:rPr lang="en-US" sz="2800" dirty="0">
                <a:cs typeface="Times New Roman" panose="02020603050405020304" pitchFamily="18" charset="0"/>
              </a:rPr>
              <a:t> (</a:t>
            </a:r>
            <a:r>
              <a:rPr lang="en-US" sz="2800" b="1" i="1" dirty="0">
                <a:cs typeface="Times New Roman" panose="02020603050405020304" pitchFamily="18" charset="0"/>
              </a:rPr>
              <a:t>X</a:t>
            </a:r>
            <a:r>
              <a:rPr lang="en-US" sz="2800" dirty="0">
                <a:cs typeface="Times New Roman" panose="02020603050405020304" pitchFamily="18" charset="0"/>
              </a:rPr>
              <a:t>).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7924399" y="2550600"/>
            <a:ext cx="22900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3"/>
          <p:cNvSpPr txBox="1">
            <a:spLocks noChangeArrowheads="1"/>
          </p:cNvSpPr>
          <p:nvPr>
            <p:custDataLst>
              <p:tags r:id="rId3"/>
            </p:custDataLst>
          </p:nvPr>
        </p:nvSpPr>
        <p:spPr>
          <a:xfrm>
            <a:off x="914400" y="3276600"/>
            <a:ext cx="5638800" cy="609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b="1" dirty="0">
                <a:solidFill>
                  <a:srgbClr val="0070C0"/>
                </a:solidFill>
              </a:rPr>
              <a:t>Boolean Equation:</a:t>
            </a:r>
          </a:p>
        </p:txBody>
      </p:sp>
      <p:sp>
        <p:nvSpPr>
          <p:cNvPr id="18" name="Rectangle 5"/>
          <p:cNvSpPr txBox="1">
            <a:spLocks noChangeArrowheads="1"/>
          </p:cNvSpPr>
          <p:nvPr>
            <p:custDataLst>
              <p:tags r:id="rId4"/>
            </p:custDataLst>
          </p:nvPr>
        </p:nvSpPr>
        <p:spPr>
          <a:xfrm>
            <a:off x="1295400" y="3886200"/>
            <a:ext cx="2286000" cy="6477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b="1" i="1" dirty="0">
                <a:latin typeface="+mj-lt"/>
                <a:cs typeface="Times New Roman" panose="02020603050405020304" pitchFamily="18" charset="0"/>
              </a:rPr>
              <a:t>E</a:t>
            </a:r>
            <a:r>
              <a:rPr lang="en-US" sz="2800" b="1" dirty="0">
                <a:latin typeface="+mj-lt"/>
                <a:cs typeface="Times New Roman" panose="02020603050405020304" pitchFamily="18" charset="0"/>
              </a:rPr>
              <a:t> = </a:t>
            </a:r>
            <a:r>
              <a:rPr lang="en-US" sz="2800" b="1" i="1" dirty="0">
                <a:latin typeface="+mj-lt"/>
                <a:cs typeface="Times New Roman" panose="02020603050405020304" pitchFamily="18" charset="0"/>
              </a:rPr>
              <a:t>M + CTX</a:t>
            </a:r>
          </a:p>
        </p:txBody>
      </p:sp>
      <p:cxnSp>
        <p:nvCxnSpPr>
          <p:cNvPr id="20" name="Straight Connector 19"/>
          <p:cNvCxnSpPr/>
          <p:nvPr/>
        </p:nvCxnSpPr>
        <p:spPr>
          <a:xfrm>
            <a:off x="2942599" y="3991200"/>
            <a:ext cx="22900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1143000" y="3886200"/>
            <a:ext cx="6172200" cy="2209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1962574-E955-4C47-8470-67B5E62E5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503010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Forming Boolean Expressions</a:t>
            </a:r>
          </a:p>
        </p:txBody>
      </p:sp>
      <p:sp>
        <p:nvSpPr>
          <p:cNvPr id="13" name="Rectangle 3"/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914400" y="990600"/>
            <a:ext cx="5638800" cy="609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b="1" dirty="0">
                <a:solidFill>
                  <a:srgbClr val="0070C0"/>
                </a:solidFill>
              </a:rPr>
              <a:t>Example 4:</a:t>
            </a:r>
          </a:p>
        </p:txBody>
      </p:sp>
      <p:sp>
        <p:nvSpPr>
          <p:cNvPr id="15" name="Rectangle 5"/>
          <p:cNvSpPr txBox="1">
            <a:spLocks noChangeArrowheads="1"/>
          </p:cNvSpPr>
          <p:nvPr>
            <p:custDataLst>
              <p:tags r:id="rId2"/>
            </p:custDataLst>
          </p:nvPr>
        </p:nvSpPr>
        <p:spPr>
          <a:xfrm>
            <a:off x="1295400" y="1600200"/>
            <a:ext cx="7620000" cy="1295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dirty="0">
                <a:cs typeface="Times New Roman" panose="02020603050405020304" pitchFamily="18" charset="0"/>
              </a:rPr>
              <a:t>You can Enter the building if you have a Hat and Shoes on or if you have a Hat on.</a:t>
            </a:r>
          </a:p>
        </p:txBody>
      </p:sp>
      <p:sp>
        <p:nvSpPr>
          <p:cNvPr id="17" name="Rectangle 3"/>
          <p:cNvSpPr txBox="1">
            <a:spLocks noChangeArrowheads="1"/>
          </p:cNvSpPr>
          <p:nvPr>
            <p:custDataLst>
              <p:tags r:id="rId3"/>
            </p:custDataLst>
          </p:nvPr>
        </p:nvSpPr>
        <p:spPr>
          <a:xfrm>
            <a:off x="914400" y="2743200"/>
            <a:ext cx="5638800" cy="609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b="1" dirty="0">
                <a:solidFill>
                  <a:srgbClr val="0070C0"/>
                </a:solidFill>
              </a:rPr>
              <a:t>Boolean Equation:</a:t>
            </a:r>
          </a:p>
        </p:txBody>
      </p:sp>
      <p:sp>
        <p:nvSpPr>
          <p:cNvPr id="18" name="Rectangle 5"/>
          <p:cNvSpPr txBox="1">
            <a:spLocks noChangeArrowheads="1"/>
          </p:cNvSpPr>
          <p:nvPr>
            <p:custDataLst>
              <p:tags r:id="rId4"/>
            </p:custDataLst>
          </p:nvPr>
        </p:nvSpPr>
        <p:spPr>
          <a:xfrm>
            <a:off x="1295400" y="3352800"/>
            <a:ext cx="2286000" cy="6477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b="1" i="1" dirty="0">
                <a:latin typeface="+mj-lt"/>
                <a:cs typeface="Times New Roman" panose="02020603050405020304" pitchFamily="18" charset="0"/>
              </a:rPr>
              <a:t>E = HS + H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3276600"/>
            <a:ext cx="6172200" cy="2209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71E0008-93F2-E146-8BFC-AB9E14AC7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503010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Forming Boolean Expressions</a:t>
            </a:r>
          </a:p>
        </p:txBody>
      </p:sp>
      <p:sp>
        <p:nvSpPr>
          <p:cNvPr id="13" name="Rectangle 3"/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914400" y="990600"/>
            <a:ext cx="5638800" cy="609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b="1" dirty="0">
                <a:solidFill>
                  <a:srgbClr val="0070C0"/>
                </a:solidFill>
              </a:rPr>
              <a:t>Example 5:</a:t>
            </a:r>
          </a:p>
        </p:txBody>
      </p:sp>
      <p:sp>
        <p:nvSpPr>
          <p:cNvPr id="15" name="Rectangle 5"/>
          <p:cNvSpPr txBox="1">
            <a:spLocks noChangeArrowheads="1"/>
          </p:cNvSpPr>
          <p:nvPr>
            <p:custDataLst>
              <p:tags r:id="rId2"/>
            </p:custDataLst>
          </p:nvPr>
        </p:nvSpPr>
        <p:spPr>
          <a:xfrm>
            <a:off x="1295400" y="1600200"/>
            <a:ext cx="7620000" cy="1295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dirty="0">
                <a:cs typeface="Times New Roman" panose="02020603050405020304" pitchFamily="18" charset="0"/>
              </a:rPr>
              <a:t>You can Enter the building if you have a Hat and Shoes on or if you have a Hat and no Shoes on.</a:t>
            </a:r>
          </a:p>
        </p:txBody>
      </p:sp>
      <p:sp>
        <p:nvSpPr>
          <p:cNvPr id="17" name="Rectangle 3"/>
          <p:cNvSpPr txBox="1">
            <a:spLocks noChangeArrowheads="1"/>
          </p:cNvSpPr>
          <p:nvPr>
            <p:custDataLst>
              <p:tags r:id="rId3"/>
            </p:custDataLst>
          </p:nvPr>
        </p:nvSpPr>
        <p:spPr>
          <a:xfrm>
            <a:off x="914400" y="2743200"/>
            <a:ext cx="5638800" cy="609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b="1" dirty="0">
                <a:solidFill>
                  <a:srgbClr val="0070C0"/>
                </a:solidFill>
              </a:rPr>
              <a:t>Boolean Equation:</a:t>
            </a:r>
          </a:p>
        </p:txBody>
      </p:sp>
      <p:sp>
        <p:nvSpPr>
          <p:cNvPr id="18" name="Rectangle 5"/>
          <p:cNvSpPr txBox="1">
            <a:spLocks noChangeArrowheads="1"/>
          </p:cNvSpPr>
          <p:nvPr>
            <p:custDataLst>
              <p:tags r:id="rId4"/>
            </p:custDataLst>
          </p:nvPr>
        </p:nvSpPr>
        <p:spPr>
          <a:xfrm>
            <a:off x="1295400" y="3352800"/>
            <a:ext cx="2286000" cy="6477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b="1" i="1" dirty="0">
                <a:latin typeface="+mj-lt"/>
                <a:cs typeface="Times New Roman" panose="02020603050405020304" pitchFamily="18" charset="0"/>
              </a:rPr>
              <a:t>E = HS + HS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2863399" y="3457800"/>
            <a:ext cx="22900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1143000" y="3276600"/>
            <a:ext cx="6172200" cy="2209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46F2D4A-CE9C-F34A-807F-1B9BBC6C9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042657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0" y="76200"/>
            <a:ext cx="9144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  <a:latin typeface="+mj-lt"/>
              </a:rPr>
              <a:t>Chapter 2: Combinational Logic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DAA03A6C-70A8-504F-B2A9-E24C66359451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0" y="2438400"/>
            <a:ext cx="9144000" cy="1600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en-US" sz="7200" b="1" dirty="0"/>
              <a:t>Boolean Algebra: Axioms</a:t>
            </a:r>
            <a:endParaRPr lang="en-US" sz="7200" dirty="0"/>
          </a:p>
          <a:p>
            <a:pPr lvl="1" algn="ctr"/>
            <a:endParaRPr lang="en-US" sz="7200" dirty="0"/>
          </a:p>
          <a:p>
            <a:pPr algn="ctr">
              <a:buFontTx/>
              <a:buNone/>
            </a:pP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3492205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453" name="Rectangle 5"/>
          <p:cNvSpPr>
            <a:spLocks noGrp="1" noChangeArrowheads="1"/>
          </p:cNvSpPr>
          <p:nvPr>
            <p:ph idx="1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en-US" dirty="0"/>
              <a:t>Axioms and theorems to </a:t>
            </a:r>
            <a:r>
              <a:rPr lang="en-US" b="1" dirty="0"/>
              <a:t>simplify</a:t>
            </a:r>
            <a:r>
              <a:rPr lang="en-US" dirty="0"/>
              <a:t> Boolean equations</a:t>
            </a:r>
          </a:p>
          <a:p>
            <a:r>
              <a:rPr lang="en-US" dirty="0"/>
              <a:t>Like regular algebra, but simpler: variables have only two values (1 or 0)</a:t>
            </a:r>
          </a:p>
          <a:p>
            <a:r>
              <a:rPr lang="en-US" b="1" dirty="0"/>
              <a:t>Duality</a:t>
            </a:r>
            <a:r>
              <a:rPr lang="en-US" dirty="0"/>
              <a:t> in axioms and theorems:</a:t>
            </a:r>
          </a:p>
          <a:p>
            <a:pPr lvl="1"/>
            <a:r>
              <a:rPr lang="en-US" sz="3200" dirty="0"/>
              <a:t>ANDs and ORs, 0’s and 1’s interchanged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Boolean Algebra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927C253-F75A-7140-80C0-70DDAF9B9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7231361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Boolean Axioms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8759985"/>
              </p:ext>
            </p:extLst>
          </p:nvPr>
        </p:nvGraphicFramePr>
        <p:xfrm>
          <a:off x="304801" y="1356360"/>
          <a:ext cx="8381999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1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r>
                        <a:rPr lang="en-US" sz="3000" dirty="0"/>
                        <a:t>Number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000" dirty="0"/>
                        <a:t>Axiom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000" dirty="0"/>
                        <a:t>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6560">
                <a:tc>
                  <a:txBody>
                    <a:bodyPr/>
                    <a:lstStyle/>
                    <a:p>
                      <a:r>
                        <a:rPr lang="en-US" sz="2400" dirty="0"/>
                        <a:t>A1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B</a:t>
                      </a:r>
                      <a:r>
                        <a:rPr lang="en-US" sz="2400" baseline="0" dirty="0"/>
                        <a:t> = 0 if B </a:t>
                      </a:r>
                      <a:r>
                        <a:rPr lang="en-US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≠</a:t>
                      </a:r>
                      <a:r>
                        <a:rPr lang="en-US" sz="240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1</a:t>
                      </a:r>
                      <a:endParaRPr lang="en-US" sz="2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Binary Field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558">
                <a:tc>
                  <a:txBody>
                    <a:bodyPr/>
                    <a:lstStyle/>
                    <a:p>
                      <a:r>
                        <a:rPr lang="en-US" sz="2400" dirty="0"/>
                        <a:t>A2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</a:t>
                      </a:r>
                      <a:r>
                        <a:rPr lang="en-US" sz="2400" baseline="0" dirty="0"/>
                        <a:t> = 1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NOT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6560">
                <a:tc>
                  <a:txBody>
                    <a:bodyPr/>
                    <a:lstStyle/>
                    <a:p>
                      <a:r>
                        <a:rPr lang="en-US" sz="2400" dirty="0"/>
                        <a:t>A3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aseline="0" dirty="0"/>
                        <a:t>0 </a:t>
                      </a:r>
                      <a:r>
                        <a:rPr lang="en-US" sz="2400" dirty="0"/>
                        <a:t>•</a:t>
                      </a:r>
                      <a:r>
                        <a:rPr lang="en-US" sz="2400" baseline="0" dirty="0"/>
                        <a:t> 0 = 0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AND/OR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6560">
                <a:tc>
                  <a:txBody>
                    <a:bodyPr/>
                    <a:lstStyle/>
                    <a:p>
                      <a:r>
                        <a:rPr lang="en-US" sz="2400" dirty="0"/>
                        <a:t>A4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  <a:r>
                        <a:rPr lang="en-US" sz="2400" baseline="0" dirty="0"/>
                        <a:t> </a:t>
                      </a:r>
                      <a:r>
                        <a:rPr lang="en-US" sz="2400" dirty="0"/>
                        <a:t>•</a:t>
                      </a:r>
                      <a:r>
                        <a:rPr lang="en-US" sz="2400" baseline="0" dirty="0"/>
                        <a:t> 1</a:t>
                      </a:r>
                      <a:r>
                        <a:rPr lang="en-US" sz="2400" dirty="0"/>
                        <a:t> =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AND/OR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6560">
                <a:tc>
                  <a:txBody>
                    <a:bodyPr/>
                    <a:lstStyle/>
                    <a:p>
                      <a:r>
                        <a:rPr lang="en-US" sz="2400" dirty="0"/>
                        <a:t>A5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</a:t>
                      </a:r>
                      <a:r>
                        <a:rPr lang="en-US" sz="2400" baseline="0" dirty="0"/>
                        <a:t> </a:t>
                      </a:r>
                      <a:r>
                        <a:rPr lang="en-US" sz="2400" dirty="0"/>
                        <a:t>•</a:t>
                      </a:r>
                      <a:r>
                        <a:rPr lang="en-US" sz="2400" baseline="0" dirty="0"/>
                        <a:t> 1</a:t>
                      </a:r>
                      <a:r>
                        <a:rPr lang="en-US" sz="2400" dirty="0"/>
                        <a:t> = 1 • 0</a:t>
                      </a:r>
                      <a:r>
                        <a:rPr lang="en-US" sz="2400" baseline="0" dirty="0"/>
                        <a:t> = 0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AND/OR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cxnSp>
        <p:nvCxnSpPr>
          <p:cNvPr id="8" name="Straight Connector 7"/>
          <p:cNvCxnSpPr/>
          <p:nvPr/>
        </p:nvCxnSpPr>
        <p:spPr>
          <a:xfrm>
            <a:off x="2002536" y="2465832"/>
            <a:ext cx="1524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AD1BA49-4606-0E46-994D-2CA60231E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2181464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Boolean Axioms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0862476"/>
              </p:ext>
            </p:extLst>
          </p:nvPr>
        </p:nvGraphicFramePr>
        <p:xfrm>
          <a:off x="304801" y="1356360"/>
          <a:ext cx="8381999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1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529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238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r>
                        <a:rPr lang="en-US" sz="3000" dirty="0"/>
                        <a:t>Number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000" dirty="0"/>
                        <a:t>Axiom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000" dirty="0"/>
                        <a:t>Dual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000" dirty="0"/>
                        <a:t>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6560">
                <a:tc>
                  <a:txBody>
                    <a:bodyPr/>
                    <a:lstStyle/>
                    <a:p>
                      <a:r>
                        <a:rPr lang="en-US" sz="2400" dirty="0"/>
                        <a:t>A1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B</a:t>
                      </a:r>
                      <a:r>
                        <a:rPr lang="en-US" sz="2400" baseline="0" dirty="0"/>
                        <a:t> = 0 if B </a:t>
                      </a:r>
                      <a:r>
                        <a:rPr lang="en-US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≠</a:t>
                      </a:r>
                      <a:r>
                        <a:rPr lang="en-US" sz="240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1</a:t>
                      </a:r>
                      <a:endParaRPr lang="en-US" sz="2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B</a:t>
                      </a:r>
                      <a:r>
                        <a:rPr lang="en-US" sz="2400" baseline="0" dirty="0"/>
                        <a:t> = 1 if B </a:t>
                      </a:r>
                      <a:r>
                        <a:rPr lang="en-US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≠</a:t>
                      </a:r>
                      <a:r>
                        <a:rPr lang="en-US" sz="240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0</a:t>
                      </a:r>
                      <a:endParaRPr lang="en-US" sz="2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Binary Field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558">
                <a:tc>
                  <a:txBody>
                    <a:bodyPr/>
                    <a:lstStyle/>
                    <a:p>
                      <a:r>
                        <a:rPr lang="en-US" sz="2400" dirty="0"/>
                        <a:t>A2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</a:t>
                      </a:r>
                      <a:r>
                        <a:rPr lang="en-US" sz="2400" baseline="0" dirty="0"/>
                        <a:t> = 1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aseline="0" dirty="0"/>
                        <a:t>1 = 0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NOT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6560">
                <a:tc>
                  <a:txBody>
                    <a:bodyPr/>
                    <a:lstStyle/>
                    <a:p>
                      <a:r>
                        <a:rPr lang="en-US" sz="2400" dirty="0"/>
                        <a:t>A3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aseline="0" dirty="0"/>
                        <a:t>0 </a:t>
                      </a:r>
                      <a:r>
                        <a:rPr lang="en-US" sz="2400" dirty="0"/>
                        <a:t>•</a:t>
                      </a:r>
                      <a:r>
                        <a:rPr lang="en-US" sz="2400" baseline="0" dirty="0"/>
                        <a:t> 0 = 0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aseline="0" dirty="0"/>
                        <a:t>1 + 1 = 1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AND/OR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6560">
                <a:tc>
                  <a:txBody>
                    <a:bodyPr/>
                    <a:lstStyle/>
                    <a:p>
                      <a:r>
                        <a:rPr lang="en-US" sz="2400" dirty="0"/>
                        <a:t>A4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  <a:r>
                        <a:rPr lang="en-US" sz="2400" baseline="0" dirty="0"/>
                        <a:t> </a:t>
                      </a:r>
                      <a:r>
                        <a:rPr lang="en-US" sz="2400" dirty="0"/>
                        <a:t>•</a:t>
                      </a:r>
                      <a:r>
                        <a:rPr lang="en-US" sz="2400" baseline="0" dirty="0"/>
                        <a:t> 1</a:t>
                      </a:r>
                      <a:r>
                        <a:rPr lang="en-US" sz="2400" dirty="0"/>
                        <a:t> =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aseline="0" dirty="0"/>
                        <a:t>0 + 0</a:t>
                      </a:r>
                      <a:r>
                        <a:rPr lang="en-US" sz="2400" dirty="0"/>
                        <a:t> = 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AND/OR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6560">
                <a:tc>
                  <a:txBody>
                    <a:bodyPr/>
                    <a:lstStyle/>
                    <a:p>
                      <a:r>
                        <a:rPr lang="en-US" sz="2400" dirty="0"/>
                        <a:t>A5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</a:t>
                      </a:r>
                      <a:r>
                        <a:rPr lang="en-US" sz="2400" baseline="0" dirty="0"/>
                        <a:t> </a:t>
                      </a:r>
                      <a:r>
                        <a:rPr lang="en-US" sz="2400" dirty="0"/>
                        <a:t>•</a:t>
                      </a:r>
                      <a:r>
                        <a:rPr lang="en-US" sz="2400" baseline="0" dirty="0"/>
                        <a:t> 1</a:t>
                      </a:r>
                      <a:r>
                        <a:rPr lang="en-US" sz="2400" dirty="0"/>
                        <a:t> = 1 • 0</a:t>
                      </a:r>
                      <a:r>
                        <a:rPr lang="en-US" sz="2400" baseline="0" dirty="0"/>
                        <a:t> = 0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aseline="0" dirty="0"/>
                        <a:t>1 + 0</a:t>
                      </a:r>
                      <a:r>
                        <a:rPr lang="en-US" sz="2400" dirty="0"/>
                        <a:t> = 0 + 1</a:t>
                      </a:r>
                      <a:r>
                        <a:rPr lang="en-US" sz="2400" baseline="0" dirty="0"/>
                        <a:t> = 1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AND/OR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362200" y="4495800"/>
            <a:ext cx="4386137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Dual:</a:t>
            </a:r>
            <a:r>
              <a:rPr lang="en-US" sz="3200" dirty="0"/>
              <a:t>  Replace:	• with + </a:t>
            </a:r>
          </a:p>
          <a:p>
            <a:r>
              <a:rPr lang="en-US" sz="3200" dirty="0"/>
              <a:t>	  		0 with 1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2002536" y="2465832"/>
            <a:ext cx="1524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4440936" y="2474976"/>
            <a:ext cx="1524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41E160B-E05E-1944-8432-3C0BA27BC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7121035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0" y="76200"/>
            <a:ext cx="9144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  <a:latin typeface="+mj-lt"/>
              </a:rPr>
              <a:t>Chapter 2: Combinational Logic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DAA03A6C-70A8-504F-B2A9-E24C66359451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0" y="2438400"/>
            <a:ext cx="9144000" cy="1600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en-US" sz="7200" b="1" dirty="0"/>
              <a:t>Boolean Algebra: Theorems of</a:t>
            </a:r>
          </a:p>
          <a:p>
            <a:pPr marL="0" indent="0" algn="ctr">
              <a:buFont typeface="Arial" pitchFamily="34" charset="0"/>
              <a:buNone/>
            </a:pPr>
            <a:r>
              <a:rPr lang="en-US" sz="7200" b="1" dirty="0"/>
              <a:t>One Variable</a:t>
            </a:r>
            <a:endParaRPr lang="en-US" sz="7200" dirty="0"/>
          </a:p>
          <a:p>
            <a:pPr lvl="1" algn="ctr"/>
            <a:endParaRPr lang="en-US" sz="7200" dirty="0"/>
          </a:p>
          <a:p>
            <a:pPr algn="ctr">
              <a:buFontTx/>
              <a:buNone/>
            </a:pP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42786420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8229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Boolean Theorems of One Variable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0099648"/>
              </p:ext>
            </p:extLst>
          </p:nvPr>
        </p:nvGraphicFramePr>
        <p:xfrm>
          <a:off x="685801" y="1356360"/>
          <a:ext cx="7543799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1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r>
                        <a:rPr lang="en-US" sz="3000" dirty="0"/>
                        <a:t>Number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000" dirty="0"/>
                        <a:t>Theorem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000" dirty="0"/>
                        <a:t>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6560">
                <a:tc>
                  <a:txBody>
                    <a:bodyPr/>
                    <a:lstStyle/>
                    <a:p>
                      <a:r>
                        <a:rPr lang="en-US" sz="2400" dirty="0"/>
                        <a:t>T1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aseline="0" dirty="0"/>
                        <a:t>B </a:t>
                      </a:r>
                      <a:r>
                        <a:rPr lang="en-US" sz="2400" dirty="0"/>
                        <a:t>•</a:t>
                      </a:r>
                      <a:r>
                        <a:rPr lang="en-US" sz="2400" baseline="0" dirty="0"/>
                        <a:t> 1 = B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Identity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558">
                <a:tc>
                  <a:txBody>
                    <a:bodyPr/>
                    <a:lstStyle/>
                    <a:p>
                      <a:r>
                        <a:rPr lang="en-US" sz="2400" dirty="0"/>
                        <a:t>T2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aseline="0" dirty="0"/>
                        <a:t>B </a:t>
                      </a:r>
                      <a:r>
                        <a:rPr lang="en-US" sz="2400" dirty="0"/>
                        <a:t>•</a:t>
                      </a:r>
                      <a:r>
                        <a:rPr lang="en-US" sz="2400" baseline="0" dirty="0"/>
                        <a:t> 0 = 0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Null</a:t>
                      </a:r>
                      <a:r>
                        <a:rPr lang="en-US" sz="2400" baseline="0" dirty="0"/>
                        <a:t> Element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6560">
                <a:tc>
                  <a:txBody>
                    <a:bodyPr/>
                    <a:lstStyle/>
                    <a:p>
                      <a:r>
                        <a:rPr lang="en-US" sz="2400" dirty="0"/>
                        <a:t>T3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aseline="0" dirty="0"/>
                        <a:t>B </a:t>
                      </a:r>
                      <a:r>
                        <a:rPr lang="en-US" sz="2400" dirty="0"/>
                        <a:t>•</a:t>
                      </a:r>
                      <a:r>
                        <a:rPr lang="en-US" sz="2400" baseline="0" dirty="0"/>
                        <a:t> B = B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err="1"/>
                        <a:t>Idempotency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6560">
                <a:tc>
                  <a:txBody>
                    <a:bodyPr/>
                    <a:lstStyle/>
                    <a:p>
                      <a:r>
                        <a:rPr lang="en-US" sz="2400" dirty="0"/>
                        <a:t>T4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 = 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Involution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6560">
                <a:tc>
                  <a:txBody>
                    <a:bodyPr/>
                    <a:lstStyle/>
                    <a:p>
                      <a:r>
                        <a:rPr lang="en-US" sz="2400" dirty="0"/>
                        <a:t>T5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aseline="0" dirty="0"/>
                        <a:t>B </a:t>
                      </a:r>
                      <a:r>
                        <a:rPr lang="en-US" sz="2400" dirty="0"/>
                        <a:t>•</a:t>
                      </a:r>
                      <a:r>
                        <a:rPr lang="en-US" sz="2400" baseline="0" dirty="0"/>
                        <a:t> B</a:t>
                      </a:r>
                      <a:r>
                        <a:rPr lang="en-US" sz="2400" dirty="0"/>
                        <a:t> = </a:t>
                      </a:r>
                      <a:r>
                        <a:rPr lang="en-US" sz="2400" baseline="0" dirty="0"/>
                        <a:t>0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Complements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362200" y="4495800"/>
            <a:ext cx="4386137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Dual:</a:t>
            </a:r>
            <a:r>
              <a:rPr lang="en-US" sz="3200" dirty="0"/>
              <a:t>  Replace:	• with + </a:t>
            </a:r>
          </a:p>
          <a:p>
            <a:r>
              <a:rPr lang="en-US" sz="3200" dirty="0"/>
              <a:t>	  		0 with 1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2837688" y="3840480"/>
            <a:ext cx="1524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2367280" y="3383280"/>
            <a:ext cx="1524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2367280" y="3342640"/>
            <a:ext cx="1524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16EB7CD-01E2-EE4E-873E-B8187A1B6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4657295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8229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Boolean Theorems of One Variable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7435669"/>
              </p:ext>
            </p:extLst>
          </p:nvPr>
        </p:nvGraphicFramePr>
        <p:xfrm>
          <a:off x="685801" y="1356360"/>
          <a:ext cx="7543799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1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r>
                        <a:rPr lang="en-US" sz="3000" dirty="0"/>
                        <a:t>Number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000" dirty="0"/>
                        <a:t>Theorem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000" dirty="0"/>
                        <a:t>Dual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000" dirty="0"/>
                        <a:t>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6560">
                <a:tc>
                  <a:txBody>
                    <a:bodyPr/>
                    <a:lstStyle/>
                    <a:p>
                      <a:r>
                        <a:rPr lang="en-US" sz="2400" dirty="0"/>
                        <a:t>T1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aseline="0" dirty="0"/>
                        <a:t>B </a:t>
                      </a:r>
                      <a:r>
                        <a:rPr lang="en-US" sz="2400" dirty="0"/>
                        <a:t>•</a:t>
                      </a:r>
                      <a:r>
                        <a:rPr lang="en-US" sz="2400" baseline="0" dirty="0"/>
                        <a:t> 1 = B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aseline="0" dirty="0"/>
                        <a:t>B + 0 = B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Identity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558">
                <a:tc>
                  <a:txBody>
                    <a:bodyPr/>
                    <a:lstStyle/>
                    <a:p>
                      <a:r>
                        <a:rPr lang="en-US" sz="2400" dirty="0"/>
                        <a:t>T2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aseline="0" dirty="0"/>
                        <a:t>B </a:t>
                      </a:r>
                      <a:r>
                        <a:rPr lang="en-US" sz="2400" dirty="0"/>
                        <a:t>•</a:t>
                      </a:r>
                      <a:r>
                        <a:rPr lang="en-US" sz="2400" baseline="0" dirty="0"/>
                        <a:t> 0 = 0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aseline="0" dirty="0"/>
                        <a:t>B + 1 = 1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Null</a:t>
                      </a:r>
                      <a:r>
                        <a:rPr lang="en-US" sz="2400" baseline="0" dirty="0"/>
                        <a:t> Element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6560">
                <a:tc>
                  <a:txBody>
                    <a:bodyPr/>
                    <a:lstStyle/>
                    <a:p>
                      <a:r>
                        <a:rPr lang="en-US" sz="2400" dirty="0"/>
                        <a:t>T3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aseline="0" dirty="0"/>
                        <a:t>B </a:t>
                      </a:r>
                      <a:r>
                        <a:rPr lang="en-US" sz="2400" dirty="0"/>
                        <a:t>•</a:t>
                      </a:r>
                      <a:r>
                        <a:rPr lang="en-US" sz="2400" baseline="0" dirty="0"/>
                        <a:t> B = B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aseline="0" dirty="0"/>
                        <a:t>B + B = B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err="1"/>
                        <a:t>Idempotency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6560">
                <a:tc>
                  <a:txBody>
                    <a:bodyPr/>
                    <a:lstStyle/>
                    <a:p>
                      <a:r>
                        <a:rPr lang="en-US" sz="2400" dirty="0"/>
                        <a:t>T4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B = 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Involution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6560">
                <a:tc>
                  <a:txBody>
                    <a:bodyPr/>
                    <a:lstStyle/>
                    <a:p>
                      <a:r>
                        <a:rPr lang="en-US" sz="2400" dirty="0"/>
                        <a:t>T5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aseline="0" dirty="0"/>
                        <a:t>B </a:t>
                      </a:r>
                      <a:r>
                        <a:rPr lang="en-US" sz="2400" dirty="0"/>
                        <a:t>•</a:t>
                      </a:r>
                      <a:r>
                        <a:rPr lang="en-US" sz="2400" baseline="0" dirty="0"/>
                        <a:t> B</a:t>
                      </a:r>
                      <a:r>
                        <a:rPr lang="en-US" sz="2400" dirty="0"/>
                        <a:t> = </a:t>
                      </a:r>
                      <a:r>
                        <a:rPr lang="en-US" sz="2400" baseline="0" dirty="0"/>
                        <a:t>0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aseline="0" dirty="0"/>
                        <a:t>B + B</a:t>
                      </a:r>
                      <a:r>
                        <a:rPr lang="en-US" sz="2400" dirty="0"/>
                        <a:t> = </a:t>
                      </a:r>
                      <a:r>
                        <a:rPr lang="en-US" sz="2400" baseline="0" dirty="0"/>
                        <a:t>1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Complements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362200" y="4495800"/>
            <a:ext cx="4386137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Dual:</a:t>
            </a:r>
            <a:r>
              <a:rPr lang="en-US" sz="3200" dirty="0"/>
              <a:t>  Replace:	• with + </a:t>
            </a:r>
          </a:p>
          <a:p>
            <a:r>
              <a:rPr lang="en-US" sz="3200" dirty="0"/>
              <a:t>	  		0 with 1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2837688" y="3840480"/>
            <a:ext cx="1524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4572000" y="3837432"/>
            <a:ext cx="1524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3706090" y="3383280"/>
            <a:ext cx="1524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3706090" y="3342640"/>
            <a:ext cx="1524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FECF701-0429-E741-B549-066700C5E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6716495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7076" name="Object 4"/>
          <p:cNvGraphicFramePr>
            <a:graphicFrameLocks noGrp="1" noChangeAspect="1"/>
          </p:cNvGraphicFramePr>
          <p:nvPr>
            <p:ph idx="1"/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36969549"/>
              </p:ext>
            </p:extLst>
          </p:nvPr>
        </p:nvGraphicFramePr>
        <p:xfrm>
          <a:off x="2590800" y="2743200"/>
          <a:ext cx="3890023" cy="2674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6" imgW="1412280" imgH="971280" progId="Visio.Drawing.6">
                  <p:embed/>
                </p:oleObj>
              </mc:Choice>
              <mc:Fallback>
                <p:oleObj name="VISIO" r:id="rId6" imgW="1412280" imgH="97128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2743200"/>
                        <a:ext cx="3890023" cy="2674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7077" name="Rectangle 5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914400" y="1219200"/>
            <a:ext cx="79248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Times New Roman" pitchFamily="18" charset="0"/>
                <a:cs typeface="Arial" charset="0"/>
              </a:rPr>
              <a:t>B    1 = B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Times New Roman" pitchFamily="18" charset="0"/>
                <a:cs typeface="Arial" charset="0"/>
              </a:rPr>
              <a:t>B + 0 = B</a:t>
            </a:r>
          </a:p>
        </p:txBody>
      </p:sp>
      <p:sp>
        <p:nvSpPr>
          <p:cNvPr id="1027078" name="Oval 6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752600" y="1447800"/>
            <a:ext cx="76200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T1: Identity Theorem</a:t>
            </a:r>
          </a:p>
        </p:txBody>
      </p:sp>
      <p:sp>
        <p:nvSpPr>
          <p:cNvPr id="2" name="Rectangle 1"/>
          <p:cNvSpPr/>
          <p:nvPr/>
        </p:nvSpPr>
        <p:spPr>
          <a:xfrm>
            <a:off x="2590800" y="2514600"/>
            <a:ext cx="4724400" cy="2971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6783232-CA7D-DF45-B98A-812D39FCE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872800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37318" name="Object 6"/>
          <p:cNvGraphicFramePr>
            <a:graphicFrameLocks noGrp="1" noChangeAspect="1"/>
          </p:cNvGraphicFramePr>
          <p:nvPr>
            <p:ph idx="1"/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14092047"/>
              </p:ext>
            </p:extLst>
          </p:nvPr>
        </p:nvGraphicFramePr>
        <p:xfrm>
          <a:off x="3200400" y="2735070"/>
          <a:ext cx="4222745" cy="29037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6" imgW="1412280" imgH="971280" progId="Visio.Drawing.6">
                  <p:embed/>
                </p:oleObj>
              </mc:Choice>
              <mc:Fallback>
                <p:oleObj name="VISIO" r:id="rId6" imgW="1412280" imgH="97128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2735070"/>
                        <a:ext cx="4222745" cy="29037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7316" name="Rectangle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914400" y="1219200"/>
            <a:ext cx="79248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Times New Roman" pitchFamily="18" charset="0"/>
                <a:cs typeface="Arial" charset="0"/>
              </a:rPr>
              <a:t>B    0 = 0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Times New Roman" pitchFamily="18" charset="0"/>
                <a:cs typeface="Arial" charset="0"/>
              </a:rPr>
              <a:t>B + 1 = 1</a:t>
            </a:r>
          </a:p>
        </p:txBody>
      </p:sp>
      <p:sp>
        <p:nvSpPr>
          <p:cNvPr id="1037317" name="Oval 5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752600" y="1447800"/>
            <a:ext cx="76200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T2: Null Element Theorem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0" y="2514600"/>
            <a:ext cx="4724400" cy="2971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95D8A62-A12C-F740-A6A2-1A7CACC7A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203408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39366" name="Object 6"/>
          <p:cNvGraphicFramePr>
            <a:graphicFrameLocks noGrp="1" noChangeAspect="1"/>
          </p:cNvGraphicFramePr>
          <p:nvPr>
            <p:ph idx="1"/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08475101"/>
              </p:ext>
            </p:extLst>
          </p:nvPr>
        </p:nvGraphicFramePr>
        <p:xfrm>
          <a:off x="3124200" y="2685942"/>
          <a:ext cx="4294188" cy="29528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6" imgW="1412280" imgH="971280" progId="Visio.Drawing.6">
                  <p:embed/>
                </p:oleObj>
              </mc:Choice>
              <mc:Fallback>
                <p:oleObj name="VISIO" r:id="rId6" imgW="1412280" imgH="97128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2685942"/>
                        <a:ext cx="4294188" cy="295285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9364" name="Rectangle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914400" y="1219200"/>
            <a:ext cx="79248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Times New Roman" pitchFamily="18" charset="0"/>
                <a:cs typeface="Arial" charset="0"/>
              </a:rPr>
              <a:t>B    </a:t>
            </a:r>
            <a:r>
              <a:rPr lang="en-US" sz="3200" dirty="0" err="1">
                <a:latin typeface="Times New Roman" pitchFamily="18" charset="0"/>
                <a:cs typeface="Arial" charset="0"/>
              </a:rPr>
              <a:t>B</a:t>
            </a:r>
            <a:r>
              <a:rPr lang="en-US" sz="3200" dirty="0">
                <a:latin typeface="Times New Roman" pitchFamily="18" charset="0"/>
                <a:cs typeface="Arial" charset="0"/>
              </a:rPr>
              <a:t> = B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Times New Roman" pitchFamily="18" charset="0"/>
                <a:cs typeface="Arial" charset="0"/>
              </a:rPr>
              <a:t>B + B = B</a:t>
            </a:r>
          </a:p>
        </p:txBody>
      </p:sp>
      <p:sp>
        <p:nvSpPr>
          <p:cNvPr id="1039365" name="Oval 5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752600" y="1447800"/>
            <a:ext cx="76200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T3: </a:t>
            </a:r>
            <a:r>
              <a:rPr lang="en-US" sz="4400" dirty="0" err="1">
                <a:solidFill>
                  <a:schemeClr val="bg1"/>
                </a:solidFill>
                <a:latin typeface="+mj-lt"/>
              </a:rPr>
              <a:t>Idempotency</a:t>
            </a:r>
            <a:r>
              <a:rPr lang="en-US" sz="4400" dirty="0">
                <a:solidFill>
                  <a:schemeClr val="bg1"/>
                </a:solidFill>
                <a:latin typeface="+mj-lt"/>
              </a:rPr>
              <a:t> Theorem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0" y="2514600"/>
            <a:ext cx="4724400" cy="2971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E85D1E1-E289-084C-9976-077EC3C65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18293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41413" name="Object 5"/>
          <p:cNvGraphicFramePr>
            <a:graphicFrameLocks noGrp="1" noChangeAspect="1"/>
          </p:cNvGraphicFramePr>
          <p:nvPr>
            <p:ph idx="1"/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67268360"/>
              </p:ext>
            </p:extLst>
          </p:nvPr>
        </p:nvGraphicFramePr>
        <p:xfrm>
          <a:off x="2590800" y="3048000"/>
          <a:ext cx="4792617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7" imgW="1612440" imgH="332640" progId="Visio.Drawing.6">
                  <p:embed/>
                </p:oleObj>
              </mc:Choice>
              <mc:Fallback>
                <p:oleObj name="VISIO" r:id="rId7" imgW="1612440" imgH="33264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3048000"/>
                        <a:ext cx="4792617" cy="990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1412" name="Rectangle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914400" y="1219200"/>
            <a:ext cx="79248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Times New Roman" pitchFamily="18" charset="0"/>
                <a:cs typeface="Arial" charset="0"/>
              </a:rPr>
              <a:t>B = B</a:t>
            </a:r>
          </a:p>
        </p:txBody>
      </p:sp>
      <p:sp>
        <p:nvSpPr>
          <p:cNvPr id="1041414" name="Line 6"/>
          <p:cNvSpPr>
            <a:spLocks noChangeShapeType="1"/>
          </p:cNvSpPr>
          <p:nvPr>
            <p:custDataLst>
              <p:tags r:id="rId3"/>
            </p:custDataLst>
          </p:nvPr>
        </p:nvSpPr>
        <p:spPr bwMode="auto">
          <a:xfrm>
            <a:off x="1371600" y="12954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41415" name="Line 7"/>
          <p:cNvSpPr>
            <a:spLocks noChangeShapeType="1"/>
          </p:cNvSpPr>
          <p:nvPr>
            <p:custDataLst>
              <p:tags r:id="rId4"/>
            </p:custDataLst>
          </p:nvPr>
        </p:nvSpPr>
        <p:spPr bwMode="auto">
          <a:xfrm>
            <a:off x="1371600" y="12192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T4: Involution Theorem</a:t>
            </a:r>
          </a:p>
        </p:txBody>
      </p:sp>
      <p:sp>
        <p:nvSpPr>
          <p:cNvPr id="7" name="Rectangle 6"/>
          <p:cNvSpPr/>
          <p:nvPr/>
        </p:nvSpPr>
        <p:spPr>
          <a:xfrm>
            <a:off x="2590800" y="2514600"/>
            <a:ext cx="4724400" cy="2971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843C034-DE14-4749-8FF0-E718275C8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470771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43462" name="Object 6"/>
          <p:cNvGraphicFramePr>
            <a:graphicFrameLocks noGrp="1" noChangeAspect="1"/>
          </p:cNvGraphicFramePr>
          <p:nvPr>
            <p:ph idx="1"/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34260426"/>
              </p:ext>
            </p:extLst>
          </p:nvPr>
        </p:nvGraphicFramePr>
        <p:xfrm>
          <a:off x="2895600" y="2667000"/>
          <a:ext cx="4625372" cy="30025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8" imgW="1298160" imgH="842760" progId="Visio.Drawing.6">
                  <p:embed/>
                </p:oleObj>
              </mc:Choice>
              <mc:Fallback>
                <p:oleObj name="VISIO" r:id="rId8" imgW="1298160" imgH="84276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2667000"/>
                        <a:ext cx="4625372" cy="300253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3460" name="Line 4"/>
          <p:cNvSpPr>
            <a:spLocks noChangeShapeType="1"/>
          </p:cNvSpPr>
          <p:nvPr>
            <p:custDataLst>
              <p:tags r:id="rId2"/>
            </p:custDataLst>
          </p:nvPr>
        </p:nvSpPr>
        <p:spPr bwMode="auto">
          <a:xfrm>
            <a:off x="2057400" y="12954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43461" name="Line 5"/>
          <p:cNvSpPr>
            <a:spLocks noChangeShapeType="1"/>
          </p:cNvSpPr>
          <p:nvPr>
            <p:custDataLst>
              <p:tags r:id="rId3"/>
            </p:custDataLst>
          </p:nvPr>
        </p:nvSpPr>
        <p:spPr bwMode="auto">
          <a:xfrm>
            <a:off x="2057400" y="19050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43463" name="Rectangle 7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914400" y="1219200"/>
            <a:ext cx="79248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Times New Roman" pitchFamily="18" charset="0"/>
                <a:cs typeface="Arial" charset="0"/>
              </a:rPr>
              <a:t>B    </a:t>
            </a:r>
            <a:r>
              <a:rPr lang="en-US" sz="3200" dirty="0" err="1">
                <a:latin typeface="Times New Roman" pitchFamily="18" charset="0"/>
                <a:cs typeface="Arial" charset="0"/>
              </a:rPr>
              <a:t>B</a:t>
            </a:r>
            <a:r>
              <a:rPr lang="en-US" sz="3200" dirty="0">
                <a:latin typeface="Times New Roman" pitchFamily="18" charset="0"/>
                <a:cs typeface="Arial" charset="0"/>
              </a:rPr>
              <a:t> = 0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Times New Roman" pitchFamily="18" charset="0"/>
                <a:cs typeface="Arial" charset="0"/>
              </a:rPr>
              <a:t>B + B = 1</a:t>
            </a:r>
          </a:p>
        </p:txBody>
      </p:sp>
      <p:sp>
        <p:nvSpPr>
          <p:cNvPr id="1043464" name="Oval 8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752600" y="1447800"/>
            <a:ext cx="76200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T5: Complement Theorem</a:t>
            </a:r>
          </a:p>
        </p:txBody>
      </p:sp>
      <p:sp>
        <p:nvSpPr>
          <p:cNvPr id="8" name="Rectangle 7"/>
          <p:cNvSpPr/>
          <p:nvPr/>
        </p:nvSpPr>
        <p:spPr>
          <a:xfrm>
            <a:off x="2590800" y="2514600"/>
            <a:ext cx="5257800" cy="3352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3FE95C2-5996-3447-8FD7-5A4EDBD5F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440667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8229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Recap: Basic Boolean Theorems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9851443"/>
              </p:ext>
            </p:extLst>
          </p:nvPr>
        </p:nvGraphicFramePr>
        <p:xfrm>
          <a:off x="685801" y="1356360"/>
          <a:ext cx="7543799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1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r>
                        <a:rPr lang="en-US" sz="3000" dirty="0"/>
                        <a:t>Number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000" dirty="0"/>
                        <a:t>Theorem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000" dirty="0"/>
                        <a:t>Dual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000" dirty="0"/>
                        <a:t>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6560">
                <a:tc>
                  <a:txBody>
                    <a:bodyPr/>
                    <a:lstStyle/>
                    <a:p>
                      <a:r>
                        <a:rPr lang="en-US" sz="2400" dirty="0"/>
                        <a:t>T1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aseline="0" dirty="0"/>
                        <a:t>B </a:t>
                      </a:r>
                      <a:r>
                        <a:rPr lang="en-US" sz="2400" dirty="0"/>
                        <a:t>•</a:t>
                      </a:r>
                      <a:r>
                        <a:rPr lang="en-US" sz="2400" baseline="0" dirty="0"/>
                        <a:t> 1 = B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aseline="0" dirty="0"/>
                        <a:t>B + 0 = B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Identity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558">
                <a:tc>
                  <a:txBody>
                    <a:bodyPr/>
                    <a:lstStyle/>
                    <a:p>
                      <a:r>
                        <a:rPr lang="en-US" sz="2400" dirty="0"/>
                        <a:t>T2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aseline="0" dirty="0"/>
                        <a:t>B </a:t>
                      </a:r>
                      <a:r>
                        <a:rPr lang="en-US" sz="2400" dirty="0"/>
                        <a:t>•</a:t>
                      </a:r>
                      <a:r>
                        <a:rPr lang="en-US" sz="2400" baseline="0" dirty="0"/>
                        <a:t> 0 = 0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aseline="0" dirty="0"/>
                        <a:t>B + 1 = 1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Null</a:t>
                      </a:r>
                      <a:r>
                        <a:rPr lang="en-US" sz="2400" baseline="0" dirty="0"/>
                        <a:t> Element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6560">
                <a:tc>
                  <a:txBody>
                    <a:bodyPr/>
                    <a:lstStyle/>
                    <a:p>
                      <a:r>
                        <a:rPr lang="en-US" sz="2400" dirty="0"/>
                        <a:t>T3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aseline="0" dirty="0"/>
                        <a:t>B </a:t>
                      </a:r>
                      <a:r>
                        <a:rPr lang="en-US" sz="2400" dirty="0"/>
                        <a:t>•</a:t>
                      </a:r>
                      <a:r>
                        <a:rPr lang="en-US" sz="2400" baseline="0" dirty="0"/>
                        <a:t> B = B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aseline="0" dirty="0"/>
                        <a:t>B + B = B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err="1"/>
                        <a:t>Idempotency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6560">
                <a:tc>
                  <a:txBody>
                    <a:bodyPr/>
                    <a:lstStyle/>
                    <a:p>
                      <a:r>
                        <a:rPr lang="en-US" sz="2400" dirty="0"/>
                        <a:t>T4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B = 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Involution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6560">
                <a:tc>
                  <a:txBody>
                    <a:bodyPr/>
                    <a:lstStyle/>
                    <a:p>
                      <a:r>
                        <a:rPr lang="en-US" sz="2400" dirty="0"/>
                        <a:t>T5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aseline="0" dirty="0"/>
                        <a:t>B </a:t>
                      </a:r>
                      <a:r>
                        <a:rPr lang="en-US" sz="2400" dirty="0"/>
                        <a:t>•</a:t>
                      </a:r>
                      <a:r>
                        <a:rPr lang="en-US" sz="2400" baseline="0" dirty="0"/>
                        <a:t> B</a:t>
                      </a:r>
                      <a:r>
                        <a:rPr lang="en-US" sz="2400" dirty="0"/>
                        <a:t> = </a:t>
                      </a:r>
                      <a:r>
                        <a:rPr lang="en-US" sz="2400" baseline="0" dirty="0"/>
                        <a:t>0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aseline="0" dirty="0"/>
                        <a:t>B + B</a:t>
                      </a:r>
                      <a:r>
                        <a:rPr lang="en-US" sz="2400" dirty="0"/>
                        <a:t> = </a:t>
                      </a:r>
                      <a:r>
                        <a:rPr lang="en-US" sz="2400" baseline="0" dirty="0"/>
                        <a:t>1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Complements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cxnSp>
        <p:nvCxnSpPr>
          <p:cNvPr id="8" name="Straight Connector 7"/>
          <p:cNvCxnSpPr/>
          <p:nvPr/>
        </p:nvCxnSpPr>
        <p:spPr>
          <a:xfrm>
            <a:off x="2837688" y="3840480"/>
            <a:ext cx="1524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4572000" y="3837432"/>
            <a:ext cx="1524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3706090" y="3383280"/>
            <a:ext cx="1524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3706090" y="3342640"/>
            <a:ext cx="1524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F024238-777C-B646-BF21-F611842CC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4238881"/>
      </p:ext>
    </p:extLst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0" y="76200"/>
            <a:ext cx="9144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  <a:latin typeface="+mj-lt"/>
              </a:rPr>
              <a:t>Chapter 2: Combinational Logic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DAA03A6C-70A8-504F-B2A9-E24C66359451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0" y="2438400"/>
            <a:ext cx="9144000" cy="1600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en-US" sz="7200" b="1" dirty="0"/>
              <a:t>Boolean Algebra: Theorems of</a:t>
            </a:r>
          </a:p>
          <a:p>
            <a:pPr marL="0" indent="0" algn="ctr">
              <a:buFont typeface="Arial" pitchFamily="34" charset="0"/>
              <a:buNone/>
            </a:pPr>
            <a:r>
              <a:rPr lang="en-US" sz="7200" b="1" dirty="0"/>
              <a:t>Several Variables</a:t>
            </a:r>
            <a:endParaRPr lang="en-US" sz="7200" dirty="0"/>
          </a:p>
          <a:p>
            <a:pPr lvl="1" algn="ctr"/>
            <a:endParaRPr lang="en-US" sz="7200" dirty="0"/>
          </a:p>
          <a:p>
            <a:pPr algn="ctr">
              <a:buFontTx/>
              <a:buNone/>
            </a:pP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107447340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Table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4978604"/>
              </p:ext>
            </p:extLst>
          </p:nvPr>
        </p:nvGraphicFramePr>
        <p:xfrm>
          <a:off x="228600" y="1295402"/>
          <a:ext cx="8686800" cy="34448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4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638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673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831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1356">
                <a:tc>
                  <a:txBody>
                    <a:bodyPr/>
                    <a:lstStyle/>
                    <a:p>
                      <a:r>
                        <a:rPr lang="en-US" sz="2400" dirty="0"/>
                        <a:t>#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Theorem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Dual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356">
                <a:tc>
                  <a:txBody>
                    <a:bodyPr/>
                    <a:lstStyle/>
                    <a:p>
                      <a:r>
                        <a:rPr lang="en-US" sz="2000" dirty="0"/>
                        <a:t>T6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B•C</a:t>
                      </a:r>
                      <a:r>
                        <a:rPr lang="en-US" sz="2000" baseline="0" dirty="0"/>
                        <a:t> = C</a:t>
                      </a:r>
                      <a:r>
                        <a:rPr lang="en-US" sz="2000" dirty="0"/>
                        <a:t>•</a:t>
                      </a:r>
                      <a:r>
                        <a:rPr lang="en-US" sz="2000" baseline="0" dirty="0"/>
                        <a:t>B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B+C</a:t>
                      </a:r>
                      <a:r>
                        <a:rPr lang="en-US" sz="2000" baseline="0" dirty="0"/>
                        <a:t> = C+B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Commutativity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1356">
                <a:tc>
                  <a:txBody>
                    <a:bodyPr/>
                    <a:lstStyle/>
                    <a:p>
                      <a:r>
                        <a:rPr lang="en-US" sz="2000" dirty="0"/>
                        <a:t>T7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(B•C)</a:t>
                      </a:r>
                      <a:r>
                        <a:rPr lang="en-US" sz="2000" baseline="0" dirty="0"/>
                        <a:t> </a:t>
                      </a:r>
                      <a:r>
                        <a:rPr lang="en-US" sz="2000" dirty="0"/>
                        <a:t>•</a:t>
                      </a:r>
                      <a:r>
                        <a:rPr lang="en-US" sz="2000" baseline="0" dirty="0"/>
                        <a:t> D = B </a:t>
                      </a:r>
                      <a:r>
                        <a:rPr lang="en-US" sz="2000" dirty="0"/>
                        <a:t>•</a:t>
                      </a:r>
                      <a:r>
                        <a:rPr lang="en-US" sz="2000" baseline="0" dirty="0"/>
                        <a:t> (C</a:t>
                      </a:r>
                      <a:r>
                        <a:rPr lang="en-US" sz="2000" dirty="0"/>
                        <a:t>•</a:t>
                      </a:r>
                      <a:r>
                        <a:rPr lang="en-US" sz="2000" baseline="0" dirty="0"/>
                        <a:t>D)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(B + C) + D = B + (C + D)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Associativity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1356">
                <a:tc>
                  <a:txBody>
                    <a:bodyPr/>
                    <a:lstStyle/>
                    <a:p>
                      <a:r>
                        <a:rPr lang="en-US" sz="2000" dirty="0"/>
                        <a:t>T8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B</a:t>
                      </a:r>
                      <a:r>
                        <a:rPr lang="en-US" sz="2000" baseline="0" dirty="0"/>
                        <a:t> </a:t>
                      </a:r>
                      <a:r>
                        <a:rPr lang="en-US" sz="2000" dirty="0"/>
                        <a:t>•</a:t>
                      </a:r>
                      <a:r>
                        <a:rPr lang="en-US" sz="2000" baseline="0" dirty="0"/>
                        <a:t> (C + D) = (B</a:t>
                      </a:r>
                      <a:r>
                        <a:rPr lang="en-US" sz="2000" dirty="0"/>
                        <a:t>•</a:t>
                      </a:r>
                      <a:r>
                        <a:rPr lang="en-US" sz="2000" baseline="0" dirty="0"/>
                        <a:t>C) + (B</a:t>
                      </a:r>
                      <a:r>
                        <a:rPr lang="en-US" sz="2000" dirty="0"/>
                        <a:t>•</a:t>
                      </a:r>
                      <a:r>
                        <a:rPr lang="en-US" sz="2000" baseline="0" dirty="0"/>
                        <a:t>D)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B +</a:t>
                      </a:r>
                      <a:r>
                        <a:rPr lang="en-US" sz="2000" baseline="0" dirty="0"/>
                        <a:t> (C</a:t>
                      </a:r>
                      <a:r>
                        <a:rPr lang="en-US" sz="2000" dirty="0"/>
                        <a:t>•</a:t>
                      </a:r>
                      <a:r>
                        <a:rPr lang="en-US" sz="2000" baseline="0" dirty="0"/>
                        <a:t>D) = (B+C) (B+D)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 err="1"/>
                        <a:t>Distributivity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1356">
                <a:tc>
                  <a:txBody>
                    <a:bodyPr/>
                    <a:lstStyle/>
                    <a:p>
                      <a:r>
                        <a:rPr lang="en-US" sz="2000" dirty="0"/>
                        <a:t>T9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B • (B+C) = 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B + (B•C) = 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Covering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1356">
                <a:tc>
                  <a:txBody>
                    <a:bodyPr/>
                    <a:lstStyle/>
                    <a:p>
                      <a:r>
                        <a:rPr lang="en-US" sz="2000" dirty="0"/>
                        <a:t>T10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(B•C) + (B•C)</a:t>
                      </a:r>
                      <a:r>
                        <a:rPr lang="en-US" sz="2000" baseline="0" dirty="0"/>
                        <a:t> = B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(B+C) • </a:t>
                      </a:r>
                      <a:r>
                        <a:rPr lang="en-US" sz="2000" baseline="0" dirty="0"/>
                        <a:t>(B+C) = B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Combining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80862">
                <a:tc>
                  <a:txBody>
                    <a:bodyPr/>
                    <a:lstStyle/>
                    <a:p>
                      <a:r>
                        <a:rPr lang="en-US" sz="2000" dirty="0"/>
                        <a:t>T11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(B•C) + (B•D) + (C•D)</a:t>
                      </a:r>
                      <a:r>
                        <a:rPr lang="en-US" sz="2000" baseline="0" dirty="0"/>
                        <a:t> =</a:t>
                      </a:r>
                    </a:p>
                    <a:p>
                      <a:r>
                        <a:rPr lang="en-US" sz="2000" baseline="0" dirty="0"/>
                        <a:t>(B</a:t>
                      </a:r>
                      <a:r>
                        <a:rPr lang="en-US" sz="2000" dirty="0"/>
                        <a:t>•</a:t>
                      </a:r>
                      <a:r>
                        <a:rPr lang="en-US" sz="2000" baseline="0" dirty="0"/>
                        <a:t>C) + (B</a:t>
                      </a:r>
                      <a:r>
                        <a:rPr lang="en-US" sz="2000" dirty="0"/>
                        <a:t>•</a:t>
                      </a:r>
                      <a:r>
                        <a:rPr lang="en-US" sz="2000" baseline="0" dirty="0"/>
                        <a:t>D)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(B+C) •</a:t>
                      </a:r>
                      <a:r>
                        <a:rPr lang="en-US" sz="2000" baseline="0" dirty="0"/>
                        <a:t> (B+D) </a:t>
                      </a:r>
                      <a:r>
                        <a:rPr lang="en-US" sz="2000" dirty="0"/>
                        <a:t>•</a:t>
                      </a:r>
                      <a:r>
                        <a:rPr lang="en-US" sz="2000" baseline="0" dirty="0"/>
                        <a:t> (C+D) =</a:t>
                      </a:r>
                    </a:p>
                    <a:p>
                      <a:r>
                        <a:rPr lang="en-US" sz="2000" baseline="0" dirty="0"/>
                        <a:t>(B+C) </a:t>
                      </a:r>
                      <a:r>
                        <a:rPr lang="en-US" sz="2000" dirty="0"/>
                        <a:t>•</a:t>
                      </a:r>
                      <a:r>
                        <a:rPr lang="en-US" sz="2000" baseline="0" dirty="0"/>
                        <a:t> (B+D)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Consensus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cxnSp>
        <p:nvCxnSpPr>
          <p:cNvPr id="27" name="Straight Connector 26"/>
          <p:cNvCxnSpPr/>
          <p:nvPr/>
        </p:nvCxnSpPr>
        <p:spPr>
          <a:xfrm>
            <a:off x="2149348" y="3597656"/>
            <a:ext cx="1524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1854708" y="4036822"/>
            <a:ext cx="1524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1845818" y="4343908"/>
            <a:ext cx="1524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5284724" y="3598672"/>
            <a:ext cx="1524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Boolean Theorems of Several </a:t>
            </a:r>
            <a:r>
              <a:rPr lang="en-US" sz="4400" dirty="0" err="1">
                <a:solidFill>
                  <a:schemeClr val="bg1"/>
                </a:solidFill>
                <a:latin typeface="+mj-lt"/>
              </a:rPr>
              <a:t>Vars</a:t>
            </a:r>
            <a:endParaRPr lang="en-US" sz="44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674368" y="4824984"/>
            <a:ext cx="63449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+mj-lt"/>
                <a:cs typeface="Times New Roman" panose="02020603050405020304" pitchFamily="18" charset="0"/>
              </a:rPr>
              <a:t>Warning:</a:t>
            </a:r>
            <a:r>
              <a:rPr lang="en-US" sz="2400" dirty="0">
                <a:latin typeface="+mj-lt"/>
                <a:cs typeface="Times New Roman" panose="02020603050405020304" pitchFamily="18" charset="0"/>
              </a:rPr>
              <a:t> T8’ differs from traditional algebra: </a:t>
            </a:r>
          </a:p>
          <a:p>
            <a:r>
              <a:rPr lang="en-US" sz="2400" dirty="0">
                <a:latin typeface="+mj-lt"/>
                <a:cs typeface="Times New Roman" panose="02020603050405020304" pitchFamily="18" charset="0"/>
              </a:rPr>
              <a:t>	OR (+) distributes over AND (•)</a:t>
            </a:r>
          </a:p>
        </p:txBody>
      </p:sp>
      <p:cxnSp>
        <p:nvCxnSpPr>
          <p:cNvPr id="13" name="Straight Connector 12"/>
          <p:cNvCxnSpPr/>
          <p:nvPr/>
        </p:nvCxnSpPr>
        <p:spPr>
          <a:xfrm>
            <a:off x="5035804" y="4028694"/>
            <a:ext cx="1524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5026914" y="4344924"/>
            <a:ext cx="1524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/>
          <p:cNvSpPr/>
          <p:nvPr/>
        </p:nvSpPr>
        <p:spPr>
          <a:xfrm>
            <a:off x="4035451" y="2584502"/>
            <a:ext cx="2985025" cy="49120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9AD031B-8898-8243-B43B-9824A96BA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8099392"/>
      </p:ext>
    </p:extLst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How to Prove	</a:t>
            </a:r>
          </a:p>
        </p:txBody>
      </p:sp>
      <p:sp>
        <p:nvSpPr>
          <p:cNvPr id="4" name="Rectangle 4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914400" y="1219200"/>
            <a:ext cx="79248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 dirty="0">
              <a:latin typeface="Times New Roman" pitchFamily="18" charset="0"/>
              <a:cs typeface="Arial" charset="0"/>
            </a:endParaRPr>
          </a:p>
        </p:txBody>
      </p:sp>
      <p:sp>
        <p:nvSpPr>
          <p:cNvPr id="7" name="Rectangle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09600" y="1219200"/>
            <a:ext cx="79248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b="1" dirty="0">
                <a:cs typeface="Arial" charset="0"/>
              </a:rPr>
              <a:t>Method 1: </a:t>
            </a:r>
            <a:r>
              <a:rPr lang="en-US" sz="3200" dirty="0">
                <a:cs typeface="Arial" charset="0"/>
              </a:rPr>
              <a:t>Perfect induction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b="1" dirty="0">
                <a:cs typeface="Arial" charset="0"/>
              </a:rPr>
              <a:t>Method 2: </a:t>
            </a:r>
            <a:r>
              <a:rPr lang="en-US" sz="3200" dirty="0">
                <a:cs typeface="Arial" charset="0"/>
              </a:rPr>
              <a:t>Use other theorems and axioms to simplify the equation</a:t>
            </a:r>
            <a:endParaRPr lang="en-US" sz="3200" b="1" dirty="0"/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3200" dirty="0">
                <a:cs typeface="Arial" charset="0"/>
              </a:rPr>
              <a:t>Make one side of the equation look like the other</a:t>
            </a:r>
            <a:endParaRPr lang="en-US" sz="3200" dirty="0">
              <a:latin typeface="+mj-lt"/>
              <a:cs typeface="Arial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6B7F1A-7359-4C43-8E3F-0AF30BA5B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9887273"/>
      </p:ext>
    </p:extLst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Proof by Perfect Induction</a:t>
            </a:r>
          </a:p>
        </p:txBody>
      </p:sp>
      <p:sp>
        <p:nvSpPr>
          <p:cNvPr id="4" name="Rectangle 4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33400" y="1143000"/>
            <a:ext cx="79248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+mj-lt"/>
                <a:cs typeface="Arial" charset="0"/>
              </a:rPr>
              <a:t>Also called: </a:t>
            </a:r>
            <a:r>
              <a:rPr lang="en-US" sz="3200" b="1" dirty="0">
                <a:latin typeface="+mj-lt"/>
                <a:cs typeface="Arial" charset="0"/>
              </a:rPr>
              <a:t>proof by exhaustion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+mj-lt"/>
                <a:cs typeface="Arial" charset="0"/>
              </a:rPr>
              <a:t>Check every possible input value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+mj-lt"/>
                <a:cs typeface="Arial" charset="0"/>
              </a:rPr>
              <a:t>If the two expressions produce the same value for every possible input combination, the expressions are equal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54FB2A7-A697-B34A-89D9-ADA104E7E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9644608"/>
      </p:ext>
    </p:extLst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T9: Covering</a:t>
            </a:r>
          </a:p>
        </p:txBody>
      </p:sp>
      <p:sp>
        <p:nvSpPr>
          <p:cNvPr id="7" name="Rectangle 4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914400" y="2621280"/>
            <a:ext cx="8229600" cy="32461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20000"/>
              </a:spcBef>
            </a:pPr>
            <a:r>
              <a:rPr lang="en-US" sz="3200" dirty="0">
                <a:latin typeface="+mj-lt"/>
                <a:cs typeface="Arial" charset="0"/>
              </a:rPr>
              <a:t>Prove true by: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b="1" dirty="0">
                <a:latin typeface="+mj-lt"/>
                <a:cs typeface="Arial" charset="0"/>
              </a:rPr>
              <a:t>Method 1: </a:t>
            </a:r>
            <a:r>
              <a:rPr lang="en-US" sz="3200" dirty="0">
                <a:latin typeface="+mj-lt"/>
                <a:cs typeface="Arial" charset="0"/>
              </a:rPr>
              <a:t>Perfect induction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b="1" dirty="0">
                <a:latin typeface="+mj-lt"/>
                <a:cs typeface="Arial" charset="0"/>
              </a:rPr>
              <a:t>Method 2: </a:t>
            </a:r>
            <a:r>
              <a:rPr lang="en-US" sz="3200" dirty="0">
                <a:latin typeface="+mj-lt"/>
                <a:cs typeface="Arial" charset="0"/>
              </a:rPr>
              <a:t>Using other theorems and axioms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0722332"/>
              </p:ext>
            </p:extLst>
          </p:nvPr>
        </p:nvGraphicFramePr>
        <p:xfrm>
          <a:off x="1143001" y="1397000"/>
          <a:ext cx="7391400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39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622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3000" dirty="0"/>
                        <a:t>Number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000" dirty="0"/>
                        <a:t>Theorem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000" dirty="0"/>
                        <a:t>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T9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B• (B+C) = 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Covering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8EE44CE-0F0C-6F45-B465-40177CB99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6714041"/>
      </p:ext>
    </p:extLst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T9: Covering</a:t>
            </a:r>
          </a:p>
        </p:txBody>
      </p:sp>
      <p:sp>
        <p:nvSpPr>
          <p:cNvPr id="7" name="Rectangle 4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041400" y="2594723"/>
            <a:ext cx="7924800" cy="32461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20000"/>
              </a:spcBef>
            </a:pPr>
            <a:r>
              <a:rPr lang="en-US" sz="3200" b="1" dirty="0">
                <a:latin typeface="+mj-lt"/>
                <a:cs typeface="Arial" charset="0"/>
              </a:rPr>
              <a:t>Method 1: </a:t>
            </a:r>
            <a:r>
              <a:rPr lang="en-US" sz="3200" dirty="0">
                <a:latin typeface="+mj-lt"/>
                <a:cs typeface="Arial" charset="0"/>
              </a:rPr>
              <a:t>Perfect Induction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2324100" y="3964632"/>
            <a:ext cx="3810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3695700" y="3583632"/>
            <a:ext cx="0" cy="21336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142740" y="3964632"/>
            <a:ext cx="180086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0           	0</a:t>
            </a:r>
          </a:p>
          <a:p>
            <a:r>
              <a:rPr lang="en-US" sz="2400" dirty="0"/>
              <a:t>1         	0</a:t>
            </a:r>
          </a:p>
          <a:p>
            <a:r>
              <a:rPr lang="en-US" sz="2400" dirty="0"/>
              <a:t>1         	1</a:t>
            </a:r>
          </a:p>
          <a:p>
            <a:r>
              <a:rPr lang="en-US" sz="2400" dirty="0"/>
              <a:t>1         	1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803006"/>
              </p:ext>
            </p:extLst>
          </p:nvPr>
        </p:nvGraphicFramePr>
        <p:xfrm>
          <a:off x="1143001" y="1397000"/>
          <a:ext cx="7391400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39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622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3000" dirty="0"/>
                        <a:t>Number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000" dirty="0"/>
                        <a:t>Theorem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000" dirty="0"/>
                        <a:t>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T9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B• (B+C) = 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Covering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2552700" y="3964632"/>
            <a:ext cx="1143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0         0</a:t>
            </a:r>
          </a:p>
          <a:p>
            <a:r>
              <a:rPr lang="en-US" sz="2400" dirty="0"/>
              <a:t>0         1</a:t>
            </a:r>
          </a:p>
          <a:p>
            <a:r>
              <a:rPr lang="en-US" sz="2400" dirty="0"/>
              <a:t>1         0</a:t>
            </a:r>
          </a:p>
          <a:p>
            <a:r>
              <a:rPr lang="en-US" sz="2400" dirty="0"/>
              <a:t>1         1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52700" y="3583632"/>
            <a:ext cx="4686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/>
              <a:t>B</a:t>
            </a:r>
            <a:r>
              <a:rPr lang="en-US" sz="2400" b="1" dirty="0"/>
              <a:t>         </a:t>
            </a:r>
            <a:r>
              <a:rPr lang="en-US" sz="2400" b="1" i="1" dirty="0"/>
              <a:t>C      (B+C)      B(B+C)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0" y="4038600"/>
            <a:ext cx="457200" cy="381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4114800" y="4343400"/>
            <a:ext cx="457200" cy="381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4114800" y="4724400"/>
            <a:ext cx="457200" cy="381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4114800" y="5105400"/>
            <a:ext cx="457200" cy="381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4876800" y="4038600"/>
            <a:ext cx="457200" cy="381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4876800" y="4343400"/>
            <a:ext cx="457200" cy="381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4876800" y="4724400"/>
            <a:ext cx="457200" cy="381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4876800" y="5029200"/>
            <a:ext cx="457200" cy="381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D2501CF-C730-B747-9116-7C18ADEF0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6299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T9: Covering</a:t>
            </a:r>
          </a:p>
        </p:txBody>
      </p:sp>
      <p:sp>
        <p:nvSpPr>
          <p:cNvPr id="8" name="Rectangle 4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33400" y="2468880"/>
            <a:ext cx="8509000" cy="32461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20000"/>
              </a:spcBef>
            </a:pPr>
            <a:r>
              <a:rPr lang="en-US" sz="3200" b="1" dirty="0">
                <a:latin typeface="+mj-lt"/>
                <a:cs typeface="Arial" charset="0"/>
              </a:rPr>
              <a:t>Method 2: </a:t>
            </a:r>
            <a:r>
              <a:rPr lang="en-US" sz="3200" dirty="0">
                <a:latin typeface="+mj-lt"/>
                <a:cs typeface="Arial" charset="0"/>
              </a:rPr>
              <a:t>Prove true using other axioms and theorems.</a:t>
            </a:r>
          </a:p>
          <a:p>
            <a:r>
              <a:rPr lang="en-US" sz="2800" dirty="0">
                <a:latin typeface="+mj-lt"/>
                <a:cs typeface="Arial" charset="0"/>
              </a:rPr>
              <a:t>B•(B+C)	= B•B + B•C		T8: </a:t>
            </a:r>
            <a:r>
              <a:rPr lang="en-US" sz="2800" dirty="0" err="1">
                <a:latin typeface="+mj-lt"/>
                <a:cs typeface="Arial" charset="0"/>
              </a:rPr>
              <a:t>Distributivity</a:t>
            </a:r>
            <a:endParaRPr lang="en-US" sz="2800" dirty="0">
              <a:latin typeface="+mj-lt"/>
              <a:cs typeface="Arial" charset="0"/>
            </a:endParaRPr>
          </a:p>
          <a:p>
            <a:r>
              <a:rPr lang="en-US" sz="2800" dirty="0">
                <a:latin typeface="+mj-lt"/>
                <a:cs typeface="Arial" charset="0"/>
              </a:rPr>
              <a:t>		= </a:t>
            </a:r>
            <a:r>
              <a:rPr lang="en-US" sz="2800" b="1" dirty="0">
                <a:latin typeface="+mj-lt"/>
                <a:cs typeface="Arial" charset="0"/>
              </a:rPr>
              <a:t>B</a:t>
            </a:r>
            <a:r>
              <a:rPr lang="en-US" sz="2800" dirty="0">
                <a:latin typeface="+mj-lt"/>
                <a:cs typeface="Arial" charset="0"/>
              </a:rPr>
              <a:t> + B•C		T3: Idempotency</a:t>
            </a:r>
          </a:p>
          <a:p>
            <a:r>
              <a:rPr lang="en-US" sz="2800" dirty="0">
                <a:latin typeface="+mj-lt"/>
                <a:cs typeface="Arial" charset="0"/>
              </a:rPr>
              <a:t>		= </a:t>
            </a:r>
            <a:r>
              <a:rPr lang="en-US" sz="2800" b="1" dirty="0">
                <a:cs typeface="Arial" charset="0"/>
              </a:rPr>
              <a:t>B•1</a:t>
            </a:r>
            <a:r>
              <a:rPr lang="en-US" sz="2800" dirty="0">
                <a:cs typeface="Arial" charset="0"/>
              </a:rPr>
              <a:t> + B•C 		T2: Null Element</a:t>
            </a:r>
          </a:p>
          <a:p>
            <a:r>
              <a:rPr lang="en-US" sz="2800" dirty="0">
                <a:latin typeface="+mj-lt"/>
                <a:cs typeface="Arial" charset="0"/>
              </a:rPr>
              <a:t>		= B•(1 + C)		T8: </a:t>
            </a:r>
            <a:r>
              <a:rPr lang="en-US" sz="2800" dirty="0" err="1">
                <a:latin typeface="+mj-lt"/>
                <a:cs typeface="Arial" charset="0"/>
              </a:rPr>
              <a:t>Distributivity</a:t>
            </a:r>
            <a:endParaRPr lang="en-US" sz="2800" dirty="0">
              <a:latin typeface="+mj-lt"/>
              <a:cs typeface="Arial" charset="0"/>
            </a:endParaRPr>
          </a:p>
          <a:p>
            <a:r>
              <a:rPr lang="en-US" sz="2800" dirty="0">
                <a:latin typeface="+mj-lt"/>
                <a:cs typeface="Arial" charset="0"/>
              </a:rPr>
              <a:t>		= B•(</a:t>
            </a:r>
            <a:r>
              <a:rPr lang="en-US" sz="2800" b="1" dirty="0">
                <a:latin typeface="+mj-lt"/>
                <a:cs typeface="Arial" charset="0"/>
              </a:rPr>
              <a:t>1</a:t>
            </a:r>
            <a:r>
              <a:rPr lang="en-US" sz="2800" dirty="0">
                <a:latin typeface="+mj-lt"/>
                <a:cs typeface="Arial" charset="0"/>
              </a:rPr>
              <a:t>)		T2: Null element</a:t>
            </a:r>
          </a:p>
          <a:p>
            <a:r>
              <a:rPr lang="en-US" sz="2800" dirty="0">
                <a:latin typeface="+mj-lt"/>
                <a:cs typeface="Arial" charset="0"/>
              </a:rPr>
              <a:t>		= B			T1: Identity</a:t>
            </a:r>
          </a:p>
          <a:p>
            <a:pPr>
              <a:spcBef>
                <a:spcPct val="20000"/>
              </a:spcBef>
            </a:pPr>
            <a:endParaRPr lang="en-US" sz="2800" dirty="0">
              <a:latin typeface="+mj-lt"/>
              <a:cs typeface="Arial" charset="0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7819217"/>
              </p:ext>
            </p:extLst>
          </p:nvPr>
        </p:nvGraphicFramePr>
        <p:xfrm>
          <a:off x="1143001" y="1397000"/>
          <a:ext cx="7391400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39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622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3000" dirty="0"/>
                        <a:t>Number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000" dirty="0"/>
                        <a:t>Theorem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000" dirty="0"/>
                        <a:t>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T9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B• (B+C) = 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Covering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BED3CCD-80FB-9847-A740-63CD28B5C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41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3624B76-429D-4705-AB3D-8818056AAF0E}"/>
              </a:ext>
            </a:extLst>
          </p:cNvPr>
          <p:cNvSpPr/>
          <p:nvPr/>
        </p:nvSpPr>
        <p:spPr>
          <a:xfrm>
            <a:off x="457199" y="3429000"/>
            <a:ext cx="8077201" cy="2667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67461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T10: Combining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4140200" y="2057400"/>
            <a:ext cx="1524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4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914400" y="2641600"/>
            <a:ext cx="8153400" cy="32461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20000"/>
              </a:spcBef>
            </a:pPr>
            <a:r>
              <a:rPr lang="en-US" sz="3200" dirty="0">
                <a:latin typeface="+mj-lt"/>
                <a:cs typeface="Arial" charset="0"/>
              </a:rPr>
              <a:t>Prove true using other axioms and theorems:</a:t>
            </a:r>
          </a:p>
          <a:p>
            <a:pPr>
              <a:spcBef>
                <a:spcPct val="20000"/>
              </a:spcBef>
            </a:pPr>
            <a:r>
              <a:rPr lang="en-US" sz="3200" dirty="0">
                <a:latin typeface="+mj-lt"/>
                <a:cs typeface="Arial" charset="0"/>
              </a:rPr>
              <a:t>   B•C + B•C	= B•(C+C)     T8: </a:t>
            </a:r>
            <a:r>
              <a:rPr lang="en-US" sz="3200" dirty="0" err="1">
                <a:latin typeface="+mj-lt"/>
                <a:cs typeface="Arial" charset="0"/>
              </a:rPr>
              <a:t>Distributivity</a:t>
            </a:r>
            <a:endParaRPr lang="en-US" sz="3200" dirty="0">
              <a:latin typeface="+mj-lt"/>
              <a:cs typeface="Arial" charset="0"/>
            </a:endParaRPr>
          </a:p>
          <a:p>
            <a:pPr>
              <a:spcBef>
                <a:spcPct val="20000"/>
              </a:spcBef>
            </a:pPr>
            <a:r>
              <a:rPr lang="en-US" sz="3200" dirty="0">
                <a:latin typeface="+mj-lt"/>
                <a:cs typeface="Arial" charset="0"/>
              </a:rPr>
              <a:t>			= B•(</a:t>
            </a:r>
            <a:r>
              <a:rPr lang="en-US" sz="3200" b="1" dirty="0">
                <a:solidFill>
                  <a:srgbClr val="FF0000"/>
                </a:solidFill>
                <a:latin typeface="+mj-lt"/>
                <a:cs typeface="Arial" charset="0"/>
              </a:rPr>
              <a:t>1</a:t>
            </a:r>
            <a:r>
              <a:rPr lang="en-US" sz="3200" dirty="0">
                <a:latin typeface="+mj-lt"/>
                <a:cs typeface="Arial" charset="0"/>
              </a:rPr>
              <a:t>) 	   T5’: Complements</a:t>
            </a:r>
          </a:p>
          <a:p>
            <a:pPr lvl="1">
              <a:spcBef>
                <a:spcPct val="20000"/>
              </a:spcBef>
            </a:pPr>
            <a:r>
              <a:rPr lang="en-US" sz="3200" dirty="0">
                <a:latin typeface="+mj-lt"/>
                <a:cs typeface="Arial" charset="0"/>
              </a:rPr>
              <a:t>			= B		   T1: Identity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2743200" y="3337560"/>
            <a:ext cx="24892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5006340" y="3337560"/>
            <a:ext cx="24892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1930649"/>
              </p:ext>
            </p:extLst>
          </p:nvPr>
        </p:nvGraphicFramePr>
        <p:xfrm>
          <a:off x="1143001" y="1397000"/>
          <a:ext cx="7391400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39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622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3000" dirty="0"/>
                        <a:t>Number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000" dirty="0"/>
                        <a:t>Theorem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000" dirty="0"/>
                        <a:t>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T10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(B•C) + (B•C)</a:t>
                      </a:r>
                      <a:r>
                        <a:rPr lang="en-US" sz="2400" baseline="0" dirty="0"/>
                        <a:t> = B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Combining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441029E-9FEF-B643-9862-13FA332EF314}"/>
              </a:ext>
            </a:extLst>
          </p:cNvPr>
          <p:cNvCxnSpPr/>
          <p:nvPr/>
        </p:nvCxnSpPr>
        <p:spPr>
          <a:xfrm>
            <a:off x="4114800" y="1981200"/>
            <a:ext cx="1524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BD43829-2539-D94F-B16B-D583531D5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42</a:t>
            </a:fld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9DCB019-B18B-4F58-B452-1E5BFC7958D4}"/>
              </a:ext>
            </a:extLst>
          </p:cNvPr>
          <p:cNvSpPr/>
          <p:nvPr/>
        </p:nvSpPr>
        <p:spPr>
          <a:xfrm>
            <a:off x="838199" y="3276600"/>
            <a:ext cx="8077201" cy="2667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63007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De Morgan’s Theorem: Dual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0600" y="2893665"/>
            <a:ext cx="6900164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+mj-lt"/>
                <a:cs typeface="Times New Roman" panose="02020603050405020304" pitchFamily="18" charset="0"/>
              </a:rPr>
              <a:t>The </a:t>
            </a:r>
            <a:r>
              <a:rPr lang="en-US" sz="2800" b="1" dirty="0">
                <a:latin typeface="+mj-lt"/>
                <a:cs typeface="Times New Roman" panose="02020603050405020304" pitchFamily="18" charset="0"/>
              </a:rPr>
              <a:t>complement</a:t>
            </a:r>
            <a:r>
              <a:rPr lang="en-US" sz="2800" dirty="0">
                <a:latin typeface="+mj-lt"/>
                <a:cs typeface="Times New Roman" panose="02020603050405020304" pitchFamily="18" charset="0"/>
              </a:rPr>
              <a:t> of the </a:t>
            </a:r>
            <a:r>
              <a:rPr lang="en-US" sz="2800" b="1" dirty="0">
                <a:solidFill>
                  <a:srgbClr val="0070C0"/>
                </a:solidFill>
                <a:latin typeface="+mj-lt"/>
                <a:cs typeface="Times New Roman" panose="02020603050405020304" pitchFamily="18" charset="0"/>
              </a:rPr>
              <a:t>product </a:t>
            </a:r>
            <a:r>
              <a:rPr lang="en-US" sz="2800" dirty="0">
                <a:latin typeface="+mj-lt"/>
                <a:cs typeface="Times New Roman" panose="02020603050405020304" pitchFamily="18" charset="0"/>
              </a:rPr>
              <a:t>is the </a:t>
            </a:r>
          </a:p>
          <a:p>
            <a:pPr algn="ctr"/>
            <a:r>
              <a:rPr lang="en-US" sz="2800" b="1" dirty="0">
                <a:solidFill>
                  <a:srgbClr val="0070C0"/>
                </a:solidFill>
                <a:latin typeface="+mj-lt"/>
                <a:cs typeface="Times New Roman" panose="02020603050405020304" pitchFamily="18" charset="0"/>
              </a:rPr>
              <a:t>sum</a:t>
            </a:r>
            <a:r>
              <a:rPr lang="en-US" sz="2800" dirty="0">
                <a:solidFill>
                  <a:srgbClr val="0070C0"/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+mj-lt"/>
                <a:cs typeface="Times New Roman" panose="02020603050405020304" pitchFamily="18" charset="0"/>
              </a:rPr>
              <a:t>of the </a:t>
            </a:r>
            <a:r>
              <a:rPr lang="en-US" sz="2800" b="1" dirty="0">
                <a:latin typeface="+mj-lt"/>
                <a:cs typeface="Times New Roman" panose="02020603050405020304" pitchFamily="18" charset="0"/>
              </a:rPr>
              <a:t>complements</a:t>
            </a:r>
            <a:r>
              <a:rPr lang="en-US" sz="2800" dirty="0">
                <a:latin typeface="+mj-lt"/>
                <a:cs typeface="Times New Roman" panose="02020603050405020304" pitchFamily="18" charset="0"/>
              </a:rPr>
              <a:t>.</a:t>
            </a:r>
          </a:p>
          <a:p>
            <a:pPr algn="ctr"/>
            <a:endParaRPr lang="en-US" sz="1000" dirty="0">
              <a:latin typeface="+mj-lt"/>
              <a:cs typeface="Times New Roman" panose="02020603050405020304" pitchFamily="18" charset="0"/>
            </a:endParaRPr>
          </a:p>
          <a:p>
            <a:pPr algn="ctr"/>
            <a:endParaRPr lang="en-US" sz="1000" dirty="0">
              <a:latin typeface="+mj-lt"/>
              <a:cs typeface="Times New Roman" panose="02020603050405020304" pitchFamily="18" charset="0"/>
            </a:endParaRPr>
          </a:p>
          <a:p>
            <a:pPr algn="ctr"/>
            <a:r>
              <a:rPr lang="en-US" sz="2800" b="1" dirty="0">
                <a:latin typeface="+mj-lt"/>
                <a:cs typeface="Times New Roman" panose="02020603050405020304" pitchFamily="18" charset="0"/>
              </a:rPr>
              <a:t>Dual: </a:t>
            </a:r>
          </a:p>
          <a:p>
            <a:pPr algn="ctr"/>
            <a:r>
              <a:rPr lang="en-US" sz="2800" dirty="0">
                <a:latin typeface="+mj-lt"/>
                <a:cs typeface="Times New Roman" panose="02020603050405020304" pitchFamily="18" charset="0"/>
              </a:rPr>
              <a:t>The </a:t>
            </a:r>
            <a:r>
              <a:rPr lang="en-US" sz="2800" b="1" dirty="0">
                <a:latin typeface="+mj-lt"/>
                <a:cs typeface="Times New Roman" panose="02020603050405020304" pitchFamily="18" charset="0"/>
              </a:rPr>
              <a:t>complement </a:t>
            </a:r>
            <a:r>
              <a:rPr lang="en-US" sz="2800" dirty="0">
                <a:latin typeface="+mj-lt"/>
                <a:cs typeface="Times New Roman" panose="02020603050405020304" pitchFamily="18" charset="0"/>
              </a:rPr>
              <a:t>of the </a:t>
            </a:r>
            <a:r>
              <a:rPr lang="en-US" sz="2800" b="1" dirty="0">
                <a:solidFill>
                  <a:srgbClr val="0070C0"/>
                </a:solidFill>
                <a:latin typeface="+mj-lt"/>
                <a:cs typeface="Times New Roman" panose="02020603050405020304" pitchFamily="18" charset="0"/>
              </a:rPr>
              <a:t>sum </a:t>
            </a:r>
            <a:r>
              <a:rPr lang="en-US" sz="2800" dirty="0">
                <a:latin typeface="+mj-lt"/>
                <a:cs typeface="Times New Roman" panose="02020603050405020304" pitchFamily="18" charset="0"/>
              </a:rPr>
              <a:t>is the </a:t>
            </a:r>
          </a:p>
          <a:p>
            <a:pPr algn="ctr"/>
            <a:r>
              <a:rPr lang="en-US" sz="2800" b="1" dirty="0">
                <a:solidFill>
                  <a:srgbClr val="0070C0"/>
                </a:solidFill>
                <a:latin typeface="+mj-lt"/>
                <a:cs typeface="Times New Roman" panose="02020603050405020304" pitchFamily="18" charset="0"/>
              </a:rPr>
              <a:t>product</a:t>
            </a:r>
            <a:r>
              <a:rPr lang="en-US" sz="2800" b="1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+mj-lt"/>
                <a:cs typeface="Times New Roman" panose="02020603050405020304" pitchFamily="18" charset="0"/>
              </a:rPr>
              <a:t>of the </a:t>
            </a:r>
            <a:r>
              <a:rPr lang="en-US" sz="2800" b="1" dirty="0">
                <a:latin typeface="+mj-lt"/>
                <a:cs typeface="Times New Roman" panose="02020603050405020304" pitchFamily="18" charset="0"/>
              </a:rPr>
              <a:t>complements</a:t>
            </a:r>
            <a:r>
              <a:rPr lang="en-US" sz="2800" dirty="0">
                <a:latin typeface="+mj-lt"/>
                <a:cs typeface="Times New Roman" panose="02020603050405020304" pitchFamily="18" charset="0"/>
              </a:rPr>
              <a:t>.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7378401"/>
              </p:ext>
            </p:extLst>
          </p:nvPr>
        </p:nvGraphicFramePr>
        <p:xfrm>
          <a:off x="758953" y="1397000"/>
          <a:ext cx="7614918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88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067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3000" dirty="0"/>
                        <a:t>#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000" dirty="0"/>
                        <a:t>Theorem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000" dirty="0"/>
                        <a:t>Dual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000" dirty="0"/>
                        <a:t>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T12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B•C•</a:t>
                      </a:r>
                      <a:r>
                        <a:rPr lang="en-US" sz="2400" baseline="0" dirty="0"/>
                        <a:t>D… = B+C+D…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aseline="0" dirty="0"/>
                        <a:t>B+C+D…= B</a:t>
                      </a:r>
                      <a:r>
                        <a:rPr lang="en-US" sz="2400" dirty="0"/>
                        <a:t>•C•D</a:t>
                      </a:r>
                      <a:r>
                        <a:rPr lang="en-US" sz="2400" baseline="0" dirty="0"/>
                        <a:t>…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De Morgan’s</a:t>
                      </a:r>
                      <a:r>
                        <a:rPr lang="en-US" sz="2400" baseline="0" dirty="0"/>
                        <a:t> Theorem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18" name="Straight Connector 17"/>
          <p:cNvCxnSpPr/>
          <p:nvPr/>
        </p:nvCxnSpPr>
        <p:spPr>
          <a:xfrm>
            <a:off x="1524000" y="2032000"/>
            <a:ext cx="10668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4155000" y="2042160"/>
            <a:ext cx="9504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2862600" y="2032000"/>
            <a:ext cx="171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3190560" y="2032000"/>
            <a:ext cx="171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3506790" y="2032000"/>
            <a:ext cx="171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5368960" y="2038350"/>
            <a:ext cx="171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5696920" y="2038350"/>
            <a:ext cx="171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>
            <a:off x="6013150" y="2038350"/>
            <a:ext cx="171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AE5AC86-B12D-3347-B5CF-788A6BCAE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43</a:t>
            </a:fld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DC58982-1B4F-4B00-94FA-4F72A18D1A51}"/>
              </a:ext>
            </a:extLst>
          </p:cNvPr>
          <p:cNvSpPr/>
          <p:nvPr/>
        </p:nvSpPr>
        <p:spPr>
          <a:xfrm>
            <a:off x="838199" y="4038600"/>
            <a:ext cx="8077201" cy="1905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94486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Table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931108"/>
              </p:ext>
            </p:extLst>
          </p:nvPr>
        </p:nvGraphicFramePr>
        <p:xfrm>
          <a:off x="228600" y="1295402"/>
          <a:ext cx="8686800" cy="38861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4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638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673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831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1356">
                <a:tc>
                  <a:txBody>
                    <a:bodyPr/>
                    <a:lstStyle/>
                    <a:p>
                      <a:r>
                        <a:rPr lang="en-US" sz="2400" dirty="0"/>
                        <a:t>#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Theorem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Dual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356">
                <a:tc>
                  <a:txBody>
                    <a:bodyPr/>
                    <a:lstStyle/>
                    <a:p>
                      <a:r>
                        <a:rPr lang="en-US" sz="2000" dirty="0"/>
                        <a:t>T6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B•C</a:t>
                      </a:r>
                      <a:r>
                        <a:rPr lang="en-US" sz="2000" baseline="0" dirty="0"/>
                        <a:t> = C</a:t>
                      </a:r>
                      <a:r>
                        <a:rPr lang="en-US" sz="2000" dirty="0"/>
                        <a:t>•</a:t>
                      </a:r>
                      <a:r>
                        <a:rPr lang="en-US" sz="2000" baseline="0" dirty="0"/>
                        <a:t>B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B+C</a:t>
                      </a:r>
                      <a:r>
                        <a:rPr lang="en-US" sz="2000" baseline="0" dirty="0"/>
                        <a:t> = C+B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Commutativity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1356">
                <a:tc>
                  <a:txBody>
                    <a:bodyPr/>
                    <a:lstStyle/>
                    <a:p>
                      <a:r>
                        <a:rPr lang="en-US" sz="2000" dirty="0"/>
                        <a:t>T7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(B•C)</a:t>
                      </a:r>
                      <a:r>
                        <a:rPr lang="en-US" sz="2000" baseline="0" dirty="0"/>
                        <a:t> </a:t>
                      </a:r>
                      <a:r>
                        <a:rPr lang="en-US" sz="2000" dirty="0"/>
                        <a:t>•</a:t>
                      </a:r>
                      <a:r>
                        <a:rPr lang="en-US" sz="2000" baseline="0" dirty="0"/>
                        <a:t> D = B </a:t>
                      </a:r>
                      <a:r>
                        <a:rPr lang="en-US" sz="2000" dirty="0"/>
                        <a:t>•</a:t>
                      </a:r>
                      <a:r>
                        <a:rPr lang="en-US" sz="2000" baseline="0" dirty="0"/>
                        <a:t> (C</a:t>
                      </a:r>
                      <a:r>
                        <a:rPr lang="en-US" sz="2000" dirty="0"/>
                        <a:t>•</a:t>
                      </a:r>
                      <a:r>
                        <a:rPr lang="en-US" sz="2000" baseline="0" dirty="0"/>
                        <a:t>D)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(B + C) + D = B + (C + D)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Associativity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1356">
                <a:tc>
                  <a:txBody>
                    <a:bodyPr/>
                    <a:lstStyle/>
                    <a:p>
                      <a:r>
                        <a:rPr lang="en-US" sz="2000" dirty="0"/>
                        <a:t>T8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B</a:t>
                      </a:r>
                      <a:r>
                        <a:rPr lang="en-US" sz="2000" baseline="0" dirty="0"/>
                        <a:t> </a:t>
                      </a:r>
                      <a:r>
                        <a:rPr lang="en-US" sz="2000" dirty="0"/>
                        <a:t>•</a:t>
                      </a:r>
                      <a:r>
                        <a:rPr lang="en-US" sz="2000" baseline="0" dirty="0"/>
                        <a:t> (C + D) = (B</a:t>
                      </a:r>
                      <a:r>
                        <a:rPr lang="en-US" sz="2000" dirty="0"/>
                        <a:t>•</a:t>
                      </a:r>
                      <a:r>
                        <a:rPr lang="en-US" sz="2000" baseline="0" dirty="0"/>
                        <a:t>C) + (B</a:t>
                      </a:r>
                      <a:r>
                        <a:rPr lang="en-US" sz="2000" dirty="0"/>
                        <a:t>•</a:t>
                      </a:r>
                      <a:r>
                        <a:rPr lang="en-US" sz="2000" baseline="0" dirty="0"/>
                        <a:t>D)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B +</a:t>
                      </a:r>
                      <a:r>
                        <a:rPr lang="en-US" sz="2000" baseline="0" dirty="0"/>
                        <a:t> (C</a:t>
                      </a:r>
                      <a:r>
                        <a:rPr lang="en-US" sz="2000" dirty="0"/>
                        <a:t>•</a:t>
                      </a:r>
                      <a:r>
                        <a:rPr lang="en-US" sz="2000" baseline="0" dirty="0"/>
                        <a:t>D) = (B+C) (B+D)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 err="1"/>
                        <a:t>Distributivity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1356">
                <a:tc>
                  <a:txBody>
                    <a:bodyPr/>
                    <a:lstStyle/>
                    <a:p>
                      <a:r>
                        <a:rPr lang="en-US" sz="2000" dirty="0"/>
                        <a:t>T9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B • (B+C) = 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B + (B•C) = 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Covering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1356">
                <a:tc>
                  <a:txBody>
                    <a:bodyPr/>
                    <a:lstStyle/>
                    <a:p>
                      <a:r>
                        <a:rPr lang="en-US" sz="2000" dirty="0"/>
                        <a:t>T10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(B•C) + (B•C)</a:t>
                      </a:r>
                      <a:r>
                        <a:rPr lang="en-US" sz="2000" baseline="0" dirty="0"/>
                        <a:t> = B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(B+C) • </a:t>
                      </a:r>
                      <a:r>
                        <a:rPr lang="en-US" sz="2000" baseline="0" dirty="0"/>
                        <a:t>(B+C) = B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Combining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80862">
                <a:tc>
                  <a:txBody>
                    <a:bodyPr/>
                    <a:lstStyle/>
                    <a:p>
                      <a:r>
                        <a:rPr lang="en-US" sz="2000" dirty="0"/>
                        <a:t>T11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(B•C) + (B•D) + (C•D)</a:t>
                      </a:r>
                      <a:r>
                        <a:rPr lang="en-US" sz="2000" baseline="0" dirty="0"/>
                        <a:t> =</a:t>
                      </a:r>
                    </a:p>
                    <a:p>
                      <a:r>
                        <a:rPr lang="en-US" sz="2000" baseline="0" dirty="0"/>
                        <a:t>(B</a:t>
                      </a:r>
                      <a:r>
                        <a:rPr lang="en-US" sz="2000" dirty="0"/>
                        <a:t>•</a:t>
                      </a:r>
                      <a:r>
                        <a:rPr lang="en-US" sz="2000" baseline="0" dirty="0"/>
                        <a:t>C) + (B</a:t>
                      </a:r>
                      <a:r>
                        <a:rPr lang="en-US" sz="2000" dirty="0"/>
                        <a:t>•</a:t>
                      </a:r>
                      <a:r>
                        <a:rPr lang="en-US" sz="2000" baseline="0" dirty="0"/>
                        <a:t>D)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(B+C) •</a:t>
                      </a:r>
                      <a:r>
                        <a:rPr lang="en-US" sz="2000" baseline="0" dirty="0"/>
                        <a:t> (B+D) </a:t>
                      </a:r>
                      <a:r>
                        <a:rPr lang="en-US" sz="2000" dirty="0"/>
                        <a:t>•</a:t>
                      </a:r>
                      <a:r>
                        <a:rPr lang="en-US" sz="2000" baseline="0" dirty="0"/>
                        <a:t> (C+D) =</a:t>
                      </a:r>
                    </a:p>
                    <a:p>
                      <a:r>
                        <a:rPr lang="en-US" sz="2000" baseline="0" dirty="0"/>
                        <a:t>(B+C) </a:t>
                      </a:r>
                      <a:r>
                        <a:rPr lang="en-US" sz="2000" dirty="0"/>
                        <a:t>•</a:t>
                      </a:r>
                      <a:r>
                        <a:rPr lang="en-US" sz="2000" baseline="0" dirty="0"/>
                        <a:t> (B+D)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Consensus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1356">
                <a:tc>
                  <a:txBody>
                    <a:bodyPr/>
                    <a:lstStyle/>
                    <a:p>
                      <a:r>
                        <a:rPr lang="en-US" sz="2000" dirty="0"/>
                        <a:t>T12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B•C•</a:t>
                      </a:r>
                      <a:r>
                        <a:rPr lang="en-US" sz="2000" baseline="0" dirty="0"/>
                        <a:t>D… = B+C+D…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aseline="0" dirty="0"/>
                        <a:t>B+C+D…= B</a:t>
                      </a:r>
                      <a:r>
                        <a:rPr lang="en-US" sz="2000" dirty="0"/>
                        <a:t>•C•D</a:t>
                      </a:r>
                      <a:r>
                        <a:rPr lang="en-US" sz="2000" baseline="0" dirty="0"/>
                        <a:t>…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De Morgan’s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cxnSp>
        <p:nvCxnSpPr>
          <p:cNvPr id="27" name="Straight Connector 26"/>
          <p:cNvCxnSpPr/>
          <p:nvPr/>
        </p:nvCxnSpPr>
        <p:spPr>
          <a:xfrm>
            <a:off x="2149348" y="3597656"/>
            <a:ext cx="1524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1854708" y="4036822"/>
            <a:ext cx="1524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1845818" y="4343908"/>
            <a:ext cx="1524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5284724" y="3598672"/>
            <a:ext cx="1524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>
            <a:off x="5035804" y="4028694"/>
            <a:ext cx="1524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5026914" y="4344924"/>
            <a:ext cx="1524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Recap: Theorems of Several </a:t>
            </a:r>
            <a:r>
              <a:rPr lang="en-US" sz="4400" dirty="0" err="1">
                <a:solidFill>
                  <a:schemeClr val="bg1"/>
                </a:solidFill>
                <a:latin typeface="+mj-lt"/>
              </a:rPr>
              <a:t>Vars</a:t>
            </a:r>
            <a:endParaRPr lang="en-US" sz="4400" dirty="0">
              <a:solidFill>
                <a:schemeClr val="bg1"/>
              </a:solidFill>
              <a:latin typeface="+mj-lt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9C89E8B-12F1-364F-A70F-21EA2697CEB8}"/>
              </a:ext>
            </a:extLst>
          </p:cNvPr>
          <p:cNvCxnSpPr>
            <a:cxnSpLocks/>
          </p:cNvCxnSpPr>
          <p:nvPr/>
        </p:nvCxnSpPr>
        <p:spPr>
          <a:xfrm>
            <a:off x="990600" y="4800600"/>
            <a:ext cx="8382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82AE77F-25B3-7C47-9746-0F5E0D7D6348}"/>
              </a:ext>
            </a:extLst>
          </p:cNvPr>
          <p:cNvCxnSpPr>
            <a:cxnSpLocks/>
          </p:cNvCxnSpPr>
          <p:nvPr/>
        </p:nvCxnSpPr>
        <p:spPr>
          <a:xfrm>
            <a:off x="4155000" y="4810760"/>
            <a:ext cx="87191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E1A1DB2-1FBB-784D-95DA-2B8002F132AB}"/>
              </a:ext>
            </a:extLst>
          </p:cNvPr>
          <p:cNvCxnSpPr/>
          <p:nvPr/>
        </p:nvCxnSpPr>
        <p:spPr>
          <a:xfrm>
            <a:off x="2114250" y="4800600"/>
            <a:ext cx="171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7AF2C42-DEE7-AB45-A851-A47980189F2A}"/>
              </a:ext>
            </a:extLst>
          </p:cNvPr>
          <p:cNvCxnSpPr/>
          <p:nvPr/>
        </p:nvCxnSpPr>
        <p:spPr>
          <a:xfrm>
            <a:off x="2352360" y="4800600"/>
            <a:ext cx="171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D208A2B-C931-0C4F-8CD4-1404F7014796}"/>
              </a:ext>
            </a:extLst>
          </p:cNvPr>
          <p:cNvCxnSpPr/>
          <p:nvPr/>
        </p:nvCxnSpPr>
        <p:spPr>
          <a:xfrm>
            <a:off x="2590800" y="4800600"/>
            <a:ext cx="171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3881BF8-CDE2-A94A-B65F-A6EFD1AFCB5F}"/>
              </a:ext>
            </a:extLst>
          </p:cNvPr>
          <p:cNvCxnSpPr/>
          <p:nvPr/>
        </p:nvCxnSpPr>
        <p:spPr>
          <a:xfrm>
            <a:off x="5162250" y="4806950"/>
            <a:ext cx="171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72733F8-D310-E84C-9552-740CD6CF6137}"/>
              </a:ext>
            </a:extLst>
          </p:cNvPr>
          <p:cNvCxnSpPr/>
          <p:nvPr/>
        </p:nvCxnSpPr>
        <p:spPr>
          <a:xfrm>
            <a:off x="5455620" y="4806950"/>
            <a:ext cx="171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370618E-DED9-6143-9419-41D52CBEC8A7}"/>
              </a:ext>
            </a:extLst>
          </p:cNvPr>
          <p:cNvCxnSpPr/>
          <p:nvPr/>
        </p:nvCxnSpPr>
        <p:spPr>
          <a:xfrm>
            <a:off x="5715000" y="4806950"/>
            <a:ext cx="171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53DED0-CA03-0F4C-A3D4-85334C9C7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44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3212304"/>
      </p:ext>
    </p:extLst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0" y="76200"/>
            <a:ext cx="9144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  <a:latin typeface="+mj-lt"/>
              </a:rPr>
              <a:t>Chapter 2: Combinational Logic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DAA03A6C-70A8-504F-B2A9-E24C66359451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0" y="2438400"/>
            <a:ext cx="9144000" cy="1600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en-US" sz="7200" b="1" dirty="0"/>
              <a:t>Boolean Algebra: Simplifying Equations</a:t>
            </a:r>
            <a:endParaRPr lang="en-US" sz="7200" dirty="0"/>
          </a:p>
          <a:p>
            <a:pPr lvl="1" algn="ctr"/>
            <a:endParaRPr lang="en-US" sz="7200" dirty="0"/>
          </a:p>
          <a:p>
            <a:pPr algn="ctr">
              <a:buFontTx/>
              <a:buNone/>
            </a:pP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308267100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Simplifying an Equation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599" y="1143000"/>
            <a:ext cx="8337917" cy="49836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+mj-lt"/>
                <a:cs typeface="Times New Roman" panose="02020603050405020304" pitchFamily="18" charset="0"/>
              </a:rPr>
              <a:t>Simplifying may mean minimal sum of products form:</a:t>
            </a:r>
          </a:p>
          <a:p>
            <a:endParaRPr lang="en-US" sz="1000" dirty="0">
              <a:latin typeface="+mj-lt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  <a:cs typeface="Times New Roman" panose="02020603050405020304" pitchFamily="18" charset="0"/>
              </a:rPr>
              <a:t>SOP form that has the </a:t>
            </a:r>
            <a:r>
              <a:rPr lang="en-US" sz="2400" b="1" dirty="0">
                <a:latin typeface="+mj-lt"/>
                <a:cs typeface="Times New Roman" panose="02020603050405020304" pitchFamily="18" charset="0"/>
              </a:rPr>
              <a:t>fewest number of implicants</a:t>
            </a:r>
            <a:r>
              <a:rPr lang="en-US" sz="2400" dirty="0">
                <a:latin typeface="+mj-lt"/>
                <a:cs typeface="Times New Roman" panose="02020603050405020304" pitchFamily="18" charset="0"/>
              </a:rPr>
              <a:t>, where each implicant has the </a:t>
            </a:r>
            <a:r>
              <a:rPr lang="en-US" sz="2400" b="1" dirty="0">
                <a:latin typeface="+mj-lt"/>
                <a:cs typeface="Times New Roman" panose="02020603050405020304" pitchFamily="18" charset="0"/>
              </a:rPr>
              <a:t>fewest literals</a:t>
            </a:r>
          </a:p>
          <a:p>
            <a:pPr lvl="1"/>
            <a:endParaRPr lang="en-US" sz="800" dirty="0">
              <a:latin typeface="+mj-lt"/>
              <a:cs typeface="Times New Roman" panose="02020603050405020304" pitchFamily="18" charset="0"/>
            </a:endParaRP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400" b="1" dirty="0"/>
              <a:t>Implicant: </a:t>
            </a:r>
            <a:r>
              <a:rPr lang="en-US" sz="2400" dirty="0"/>
              <a:t>product of literals</a:t>
            </a:r>
          </a:p>
          <a:p>
            <a:pPr lvl="1">
              <a:spcBef>
                <a:spcPct val="20000"/>
              </a:spcBef>
            </a:pPr>
            <a:r>
              <a:rPr lang="en-US" sz="2400" b="1" i="1" dirty="0">
                <a:solidFill>
                  <a:schemeClr val="accent1"/>
                </a:solidFill>
              </a:rPr>
              <a:t>	ABC</a:t>
            </a:r>
            <a:r>
              <a:rPr lang="en-US" sz="2400" b="1" dirty="0">
                <a:solidFill>
                  <a:schemeClr val="accent1"/>
                </a:solidFill>
              </a:rPr>
              <a:t>, </a:t>
            </a:r>
            <a:r>
              <a:rPr lang="en-US" sz="2400" b="1" i="1" dirty="0">
                <a:solidFill>
                  <a:schemeClr val="accent1"/>
                </a:solidFill>
              </a:rPr>
              <a:t>AC</a:t>
            </a:r>
            <a:r>
              <a:rPr lang="en-US" sz="2400" b="1" dirty="0">
                <a:solidFill>
                  <a:schemeClr val="accent1"/>
                </a:solidFill>
              </a:rPr>
              <a:t>, </a:t>
            </a:r>
            <a:r>
              <a:rPr lang="en-US" sz="2400" b="1" i="1" dirty="0">
                <a:solidFill>
                  <a:schemeClr val="accent1"/>
                </a:solidFill>
              </a:rPr>
              <a:t>BC</a:t>
            </a:r>
            <a:endParaRPr lang="en-US" sz="2400" dirty="0"/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400" b="1" dirty="0"/>
              <a:t>Literal: </a:t>
            </a:r>
            <a:r>
              <a:rPr lang="en-US" sz="2400" dirty="0"/>
              <a:t>variable or its complement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400" dirty="0"/>
              <a:t>    	</a:t>
            </a:r>
            <a:r>
              <a:rPr lang="en-US" sz="2400" b="1" i="1" dirty="0">
                <a:solidFill>
                  <a:schemeClr val="accent1"/>
                </a:solidFill>
              </a:rPr>
              <a:t>A</a:t>
            </a:r>
            <a:r>
              <a:rPr lang="en-US" sz="2400" b="1" dirty="0">
                <a:solidFill>
                  <a:schemeClr val="accent1"/>
                </a:solidFill>
              </a:rPr>
              <a:t>, </a:t>
            </a:r>
            <a:r>
              <a:rPr lang="en-US" sz="2400" b="1" i="1" dirty="0">
                <a:solidFill>
                  <a:schemeClr val="accent1"/>
                </a:solidFill>
              </a:rPr>
              <a:t>A</a:t>
            </a:r>
            <a:r>
              <a:rPr lang="en-US" sz="2400" b="1" dirty="0">
                <a:solidFill>
                  <a:schemeClr val="accent1"/>
                </a:solidFill>
              </a:rPr>
              <a:t>, </a:t>
            </a:r>
            <a:r>
              <a:rPr lang="en-US" sz="2400" b="1" i="1" dirty="0">
                <a:solidFill>
                  <a:schemeClr val="accent1"/>
                </a:solidFill>
              </a:rPr>
              <a:t>B</a:t>
            </a:r>
            <a:r>
              <a:rPr lang="en-US" sz="2400" b="1" dirty="0">
                <a:solidFill>
                  <a:schemeClr val="accent1"/>
                </a:solidFill>
              </a:rPr>
              <a:t>, </a:t>
            </a:r>
            <a:r>
              <a:rPr lang="en-US" sz="2400" b="1" i="1" dirty="0">
                <a:solidFill>
                  <a:schemeClr val="accent1"/>
                </a:solidFill>
              </a:rPr>
              <a:t>B</a:t>
            </a:r>
            <a:r>
              <a:rPr lang="en-US" sz="2400" b="1" dirty="0">
                <a:solidFill>
                  <a:schemeClr val="accent1"/>
                </a:solidFill>
              </a:rPr>
              <a:t>, </a:t>
            </a:r>
            <a:r>
              <a:rPr lang="en-US" sz="2400" b="1" i="1" dirty="0">
                <a:solidFill>
                  <a:schemeClr val="accent1"/>
                </a:solidFill>
              </a:rPr>
              <a:t>C</a:t>
            </a:r>
            <a:r>
              <a:rPr lang="en-US" sz="2400" b="1" dirty="0">
                <a:solidFill>
                  <a:schemeClr val="accent1"/>
                </a:solidFill>
              </a:rPr>
              <a:t>, </a:t>
            </a:r>
            <a:r>
              <a:rPr lang="en-US" sz="2400" b="1" i="1" dirty="0">
                <a:solidFill>
                  <a:schemeClr val="accent1"/>
                </a:solidFill>
              </a:rPr>
              <a:t>C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sz="1050" i="1" dirty="0"/>
          </a:p>
          <a:p>
            <a:pPr>
              <a:lnSpc>
                <a:spcPct val="90000"/>
              </a:lnSpc>
              <a:buFontTx/>
              <a:buNone/>
            </a:pPr>
            <a:r>
              <a:rPr lang="en-US" sz="2400" dirty="0"/>
              <a:t>Simplifying could also mean fewest number of gates, lowest cost, lowest power, etc.  For example, Y = A </a:t>
            </a:r>
            <a:r>
              <a:rPr lang="en-US" sz="2400" dirty="0" err="1"/>
              <a:t>xor</a:t>
            </a:r>
            <a:r>
              <a:rPr lang="en-US" sz="2400" dirty="0"/>
              <a:t> B is likely simpler than minimal Sum of Products Y = AB + AB. These depend on details of the technology.</a:t>
            </a:r>
            <a:endParaRPr lang="en-US" sz="2400" b="1" dirty="0">
              <a:solidFill>
                <a:schemeClr val="accent1"/>
              </a:solidFill>
              <a:latin typeface="+mj-lt"/>
            </a:endParaRPr>
          </a:p>
          <a:p>
            <a:endParaRPr lang="en-US" sz="2000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13" name="Line 7"/>
          <p:cNvSpPr>
            <a:spLocks noChangeShapeType="1"/>
          </p:cNvSpPr>
          <p:nvPr>
            <p:custDataLst>
              <p:tags r:id="rId1"/>
            </p:custDataLst>
          </p:nvPr>
        </p:nvSpPr>
        <p:spPr bwMode="auto">
          <a:xfrm>
            <a:off x="2590800" y="3962400"/>
            <a:ext cx="1524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Line 9"/>
          <p:cNvSpPr>
            <a:spLocks noChangeShapeType="1"/>
          </p:cNvSpPr>
          <p:nvPr>
            <p:custDataLst>
              <p:tags r:id="rId2"/>
            </p:custDataLst>
          </p:nvPr>
        </p:nvSpPr>
        <p:spPr bwMode="auto">
          <a:xfrm>
            <a:off x="1981200" y="3962400"/>
            <a:ext cx="1524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" name="Line 7"/>
          <p:cNvSpPr>
            <a:spLocks noChangeShapeType="1"/>
          </p:cNvSpPr>
          <p:nvPr>
            <p:custDataLst>
              <p:tags r:id="rId3"/>
            </p:custDataLst>
          </p:nvPr>
        </p:nvSpPr>
        <p:spPr bwMode="auto">
          <a:xfrm>
            <a:off x="2971800" y="3148015"/>
            <a:ext cx="1524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" name="Line 8"/>
          <p:cNvSpPr>
            <a:spLocks noChangeShapeType="1"/>
          </p:cNvSpPr>
          <p:nvPr>
            <p:custDataLst>
              <p:tags r:id="rId4"/>
            </p:custDataLst>
          </p:nvPr>
        </p:nvSpPr>
        <p:spPr bwMode="auto">
          <a:xfrm>
            <a:off x="1828800" y="3148015"/>
            <a:ext cx="1524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" name="Line 9"/>
          <p:cNvSpPr>
            <a:spLocks noChangeShapeType="1"/>
          </p:cNvSpPr>
          <p:nvPr>
            <p:custDataLst>
              <p:tags r:id="rId5"/>
            </p:custDataLst>
          </p:nvPr>
        </p:nvSpPr>
        <p:spPr bwMode="auto">
          <a:xfrm>
            <a:off x="2468876" y="3148015"/>
            <a:ext cx="1524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" name="Line 7"/>
          <p:cNvSpPr>
            <a:spLocks noChangeShapeType="1"/>
          </p:cNvSpPr>
          <p:nvPr>
            <p:custDataLst>
              <p:tags r:id="rId6"/>
            </p:custDataLst>
          </p:nvPr>
        </p:nvSpPr>
        <p:spPr bwMode="auto">
          <a:xfrm>
            <a:off x="3276600" y="3953656"/>
            <a:ext cx="16764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" name="Line 7">
            <a:extLst>
              <a:ext uri="{FF2B5EF4-FFF2-40B4-BE49-F238E27FC236}">
                <a16:creationId xmlns:a16="http://schemas.microsoft.com/office/drawing/2014/main" id="{A3AF8336-AE27-0D4E-99DC-3DAE592F1E11}"/>
              </a:ext>
            </a:extLst>
          </p:cNvPr>
          <p:cNvSpPr>
            <a:spLocks noChangeShapeType="1"/>
          </p:cNvSpPr>
          <p:nvPr>
            <p:custDataLst>
              <p:tags r:id="rId7"/>
            </p:custDataLst>
          </p:nvPr>
        </p:nvSpPr>
        <p:spPr bwMode="auto">
          <a:xfrm>
            <a:off x="4419600" y="5029200"/>
            <a:ext cx="16764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" name="Line 7">
            <a:extLst>
              <a:ext uri="{FF2B5EF4-FFF2-40B4-BE49-F238E27FC236}">
                <a16:creationId xmlns:a16="http://schemas.microsoft.com/office/drawing/2014/main" id="{168E25FD-255F-0F4C-8E35-5C58BC28F85C}"/>
              </a:ext>
            </a:extLst>
          </p:cNvPr>
          <p:cNvSpPr>
            <a:spLocks noChangeShapeType="1"/>
          </p:cNvSpPr>
          <p:nvPr>
            <p:custDataLst>
              <p:tags r:id="rId8"/>
            </p:custDataLst>
          </p:nvPr>
        </p:nvSpPr>
        <p:spPr bwMode="auto">
          <a:xfrm>
            <a:off x="4937760" y="5029200"/>
            <a:ext cx="16764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107324A-BB14-F342-9799-69E48A255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46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5003750"/>
      </p:ext>
    </p:extLst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507" name="Rectangle 3"/>
          <p:cNvSpPr>
            <a:spLocks noGrp="1" noChangeArrowheads="1"/>
          </p:cNvSpPr>
          <p:nvPr>
            <p:ph idx="1"/>
            <p:custDataLst>
              <p:tags r:id="rId1"/>
            </p:custDataLst>
          </p:nvPr>
        </p:nvSpPr>
        <p:spPr>
          <a:xfrm>
            <a:off x="1257300" y="1524000"/>
            <a:ext cx="7886700" cy="4995277"/>
          </a:xfrm>
        </p:spPr>
        <p:txBody>
          <a:bodyPr/>
          <a:lstStyle/>
          <a:p>
            <a:pPr marL="0" indent="0">
              <a:buNone/>
            </a:pPr>
            <a:r>
              <a:rPr lang="en-US" b="1" i="1" dirty="0">
                <a:solidFill>
                  <a:schemeClr val="accent1"/>
                </a:solidFill>
              </a:rPr>
              <a:t>    Y</a:t>
            </a:r>
            <a:r>
              <a:rPr lang="en-US" b="1" dirty="0">
                <a:solidFill>
                  <a:schemeClr val="accent1"/>
                </a:solidFill>
              </a:rPr>
              <a:t> = </a:t>
            </a:r>
            <a:r>
              <a:rPr lang="en-US" b="1" i="1" dirty="0">
                <a:solidFill>
                  <a:schemeClr val="accent1"/>
                </a:solidFill>
              </a:rPr>
              <a:t>AB</a:t>
            </a:r>
            <a:r>
              <a:rPr lang="en-US" b="1" dirty="0">
                <a:solidFill>
                  <a:schemeClr val="accent1"/>
                </a:solidFill>
              </a:rPr>
              <a:t> + </a:t>
            </a:r>
            <a:r>
              <a:rPr lang="en-US" b="1" i="1" dirty="0">
                <a:solidFill>
                  <a:schemeClr val="accent1"/>
                </a:solidFill>
              </a:rPr>
              <a:t>AB</a:t>
            </a:r>
          </a:p>
          <a:p>
            <a:pPr>
              <a:buFontTx/>
              <a:buNone/>
            </a:pPr>
            <a:r>
              <a:rPr lang="en-US" dirty="0"/>
              <a:t>    Y = B		T10: Combining</a:t>
            </a:r>
          </a:p>
          <a:p>
            <a:pPr>
              <a:buFontTx/>
              <a:buNone/>
            </a:pPr>
            <a:endParaRPr lang="en-US" dirty="0"/>
          </a:p>
          <a:p>
            <a:pPr>
              <a:buFontTx/>
              <a:buNone/>
            </a:pPr>
            <a:r>
              <a:rPr lang="en-US" dirty="0"/>
              <a:t>or</a:t>
            </a:r>
          </a:p>
          <a:p>
            <a:pPr>
              <a:buFontTx/>
              <a:buNone/>
            </a:pPr>
            <a:r>
              <a:rPr lang="en-US" dirty="0"/>
              <a:t>    Y = </a:t>
            </a:r>
            <a:r>
              <a:rPr lang="en-US" i="1" dirty="0"/>
              <a:t>B</a:t>
            </a:r>
            <a:r>
              <a:rPr lang="en-US" dirty="0"/>
              <a:t>(</a:t>
            </a:r>
            <a:r>
              <a:rPr lang="en-US" i="1" dirty="0"/>
              <a:t>A</a:t>
            </a:r>
            <a:r>
              <a:rPr lang="en-US" dirty="0"/>
              <a:t> + </a:t>
            </a:r>
            <a:r>
              <a:rPr lang="en-US" i="1" dirty="0"/>
              <a:t>A</a:t>
            </a:r>
            <a:r>
              <a:rPr lang="en-US" dirty="0"/>
              <a:t>)	T8: Distributivity</a:t>
            </a:r>
          </a:p>
          <a:p>
            <a:pPr>
              <a:buFontTx/>
              <a:buNone/>
            </a:pPr>
            <a:r>
              <a:rPr lang="en-US" dirty="0"/>
              <a:t>       = </a:t>
            </a:r>
            <a:r>
              <a:rPr lang="en-US" i="1" dirty="0"/>
              <a:t>B</a:t>
            </a:r>
            <a:r>
              <a:rPr lang="en-US" dirty="0"/>
              <a:t>(1)		T5’: Complements</a:t>
            </a:r>
          </a:p>
          <a:p>
            <a:pPr>
              <a:buFontTx/>
              <a:buNone/>
            </a:pPr>
            <a:r>
              <a:rPr lang="en-US" dirty="0"/>
              <a:t>       = </a:t>
            </a:r>
            <a:r>
              <a:rPr lang="en-US" i="1" dirty="0"/>
              <a:t>B</a:t>
            </a:r>
            <a:r>
              <a:rPr lang="en-US" dirty="0"/>
              <a:t>		T1: Identity</a:t>
            </a:r>
          </a:p>
        </p:txBody>
      </p:sp>
      <p:sp>
        <p:nvSpPr>
          <p:cNvPr id="1045509" name="Line 5"/>
          <p:cNvSpPr>
            <a:spLocks noChangeShapeType="1"/>
          </p:cNvSpPr>
          <p:nvPr>
            <p:custDataLst>
              <p:tags r:id="rId2"/>
            </p:custDataLst>
          </p:nvPr>
        </p:nvSpPr>
        <p:spPr bwMode="auto">
          <a:xfrm>
            <a:off x="3276600" y="3954449"/>
            <a:ext cx="228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Simplifying Boolean Equations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838200" y="972234"/>
            <a:ext cx="3505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Example 1:</a:t>
            </a:r>
          </a:p>
        </p:txBody>
      </p:sp>
      <p:sp>
        <p:nvSpPr>
          <p:cNvPr id="7" name="Line 4"/>
          <p:cNvSpPr>
            <a:spLocks noChangeShapeType="1"/>
          </p:cNvSpPr>
          <p:nvPr>
            <p:custDataLst>
              <p:tags r:id="rId3"/>
            </p:custDataLst>
          </p:nvPr>
        </p:nvSpPr>
        <p:spPr bwMode="auto">
          <a:xfrm>
            <a:off x="2362200" y="1618565"/>
            <a:ext cx="228600" cy="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5715000" y="1524000"/>
            <a:ext cx="320145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</a:rPr>
              <a:t>Recommended Method</a:t>
            </a:r>
            <a:endParaRPr lang="en-US" sz="2400" dirty="0"/>
          </a:p>
        </p:txBody>
      </p:sp>
      <p:cxnSp>
        <p:nvCxnSpPr>
          <p:cNvPr id="5" name="Straight Arrow Connector 4"/>
          <p:cNvCxnSpPr/>
          <p:nvPr/>
        </p:nvCxnSpPr>
        <p:spPr>
          <a:xfrm flipH="1">
            <a:off x="5334000" y="1828800"/>
            <a:ext cx="381000" cy="304800"/>
          </a:xfrm>
          <a:prstGeom prst="straightConnector1">
            <a:avLst/>
          </a:prstGeom>
          <a:ln w="28575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4419600" y="1283472"/>
            <a:ext cx="4496854" cy="85012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59A3DA-5A53-0A42-B7E5-E928F27F7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47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717921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507" name="Rectangle 3"/>
          <p:cNvSpPr>
            <a:spLocks noGrp="1" noChangeArrowheads="1"/>
          </p:cNvSpPr>
          <p:nvPr>
            <p:ph idx="1"/>
            <p:custDataLst>
              <p:tags r:id="rId1"/>
            </p:custDataLst>
          </p:nvPr>
        </p:nvSpPr>
        <p:spPr>
          <a:xfrm>
            <a:off x="1257300" y="1524000"/>
            <a:ext cx="7886700" cy="499527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</a:rPr>
              <a:t>Y = ABC + ABC + ABC	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</a:rPr>
              <a:t>   </a:t>
            </a:r>
            <a:r>
              <a:rPr lang="en-US" dirty="0"/>
              <a:t>= ABC + </a:t>
            </a:r>
            <a:r>
              <a:rPr lang="en-US" b="1" dirty="0">
                <a:solidFill>
                  <a:srgbClr val="FF0000"/>
                </a:solidFill>
              </a:rPr>
              <a:t>ABC + ABC</a:t>
            </a:r>
            <a:r>
              <a:rPr lang="en-US" dirty="0"/>
              <a:t> + ABC</a:t>
            </a:r>
            <a:r>
              <a:rPr lang="en-US" sz="2800" dirty="0"/>
              <a:t>       T3’:  Idempotency</a:t>
            </a:r>
          </a:p>
          <a:p>
            <a:pPr marL="0" indent="0">
              <a:buNone/>
            </a:pPr>
            <a:r>
              <a:rPr lang="en-US" dirty="0"/>
              <a:t>   = </a:t>
            </a:r>
            <a:r>
              <a:rPr lang="en-US" b="1" dirty="0">
                <a:solidFill>
                  <a:srgbClr val="FF0000"/>
                </a:solidFill>
              </a:rPr>
              <a:t>(ABC+ABC) </a:t>
            </a:r>
            <a:r>
              <a:rPr lang="en-US" dirty="0"/>
              <a:t>+ </a:t>
            </a:r>
            <a:r>
              <a:rPr lang="en-US" b="1" dirty="0">
                <a:solidFill>
                  <a:srgbClr val="0070C0"/>
                </a:solidFill>
              </a:rPr>
              <a:t>(ABC+ABC)</a:t>
            </a:r>
            <a:r>
              <a:rPr lang="en-US" sz="2800" b="1" dirty="0">
                <a:solidFill>
                  <a:srgbClr val="0070C0"/>
                </a:solidFill>
              </a:rPr>
              <a:t>   </a:t>
            </a:r>
            <a:r>
              <a:rPr lang="en-US" sz="2800" dirty="0"/>
              <a:t>T7’:  Associativity</a:t>
            </a:r>
          </a:p>
          <a:p>
            <a:pPr marL="0" indent="0">
              <a:buNone/>
            </a:pPr>
            <a:r>
              <a:rPr lang="en-US" dirty="0"/>
              <a:t>   = </a:t>
            </a:r>
            <a:r>
              <a:rPr lang="en-US" b="1" dirty="0">
                <a:solidFill>
                  <a:srgbClr val="FF0000"/>
                </a:solidFill>
              </a:rPr>
              <a:t>AC</a:t>
            </a:r>
            <a:r>
              <a:rPr lang="en-US" dirty="0"/>
              <a:t>                 + </a:t>
            </a:r>
            <a:r>
              <a:rPr lang="en-US" b="1" dirty="0">
                <a:solidFill>
                  <a:srgbClr val="0070C0"/>
                </a:solidFill>
              </a:rPr>
              <a:t>BC</a:t>
            </a:r>
            <a:r>
              <a:rPr lang="en-US" sz="2800" dirty="0"/>
              <a:t>		      T10: Combining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Simplifying Boolean Equations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838200" y="972234"/>
            <a:ext cx="3505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Example 2: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4BCC9E-8C75-2240-84DF-3A3F4FAA3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48</a:t>
            </a:fld>
            <a:endParaRPr lang="en-US" dirty="0"/>
          </a:p>
        </p:txBody>
      </p:sp>
      <p:sp>
        <p:nvSpPr>
          <p:cNvPr id="7" name="Line 4">
            <a:extLst>
              <a:ext uri="{FF2B5EF4-FFF2-40B4-BE49-F238E27FC236}">
                <a16:creationId xmlns:a16="http://schemas.microsoft.com/office/drawing/2014/main" id="{28CE9168-C89A-3948-AF1E-7B604DB51091}"/>
              </a:ext>
            </a:extLst>
          </p:cNvPr>
          <p:cNvSpPr>
            <a:spLocks noChangeShapeType="1"/>
          </p:cNvSpPr>
          <p:nvPr>
            <p:custDataLst>
              <p:tags r:id="rId2"/>
            </p:custDataLst>
          </p:nvPr>
        </p:nvSpPr>
        <p:spPr bwMode="auto">
          <a:xfrm>
            <a:off x="2133600" y="1618565"/>
            <a:ext cx="228600" cy="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Line 4">
            <a:extLst>
              <a:ext uri="{FF2B5EF4-FFF2-40B4-BE49-F238E27FC236}">
                <a16:creationId xmlns:a16="http://schemas.microsoft.com/office/drawing/2014/main" id="{2E4F7C24-9EF6-5846-9798-25D3FACB9DE1}"/>
              </a:ext>
            </a:extLst>
          </p:cNvPr>
          <p:cNvSpPr>
            <a:spLocks noChangeShapeType="1"/>
          </p:cNvSpPr>
          <p:nvPr>
            <p:custDataLst>
              <p:tags r:id="rId3"/>
            </p:custDataLst>
          </p:nvPr>
        </p:nvSpPr>
        <p:spPr bwMode="auto">
          <a:xfrm>
            <a:off x="4114800" y="1603202"/>
            <a:ext cx="228600" cy="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Line 4">
            <a:extLst>
              <a:ext uri="{FF2B5EF4-FFF2-40B4-BE49-F238E27FC236}">
                <a16:creationId xmlns:a16="http://schemas.microsoft.com/office/drawing/2014/main" id="{0E76694F-7D7D-9C41-827A-0BF89A7FB880}"/>
              </a:ext>
            </a:extLst>
          </p:cNvPr>
          <p:cNvSpPr>
            <a:spLocks noChangeShapeType="1"/>
          </p:cNvSpPr>
          <p:nvPr>
            <p:custDataLst>
              <p:tags r:id="rId4"/>
            </p:custDataLst>
          </p:nvPr>
        </p:nvSpPr>
        <p:spPr bwMode="auto">
          <a:xfrm>
            <a:off x="2133600" y="2209800"/>
            <a:ext cx="228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Line 4">
            <a:extLst>
              <a:ext uri="{FF2B5EF4-FFF2-40B4-BE49-F238E27FC236}">
                <a16:creationId xmlns:a16="http://schemas.microsoft.com/office/drawing/2014/main" id="{AD8DEC4A-B1D0-B94F-B24A-6630131FE8D0}"/>
              </a:ext>
            </a:extLst>
          </p:cNvPr>
          <p:cNvSpPr>
            <a:spLocks noChangeShapeType="1"/>
          </p:cNvSpPr>
          <p:nvPr>
            <p:custDataLst>
              <p:tags r:id="rId5"/>
            </p:custDataLst>
          </p:nvPr>
        </p:nvSpPr>
        <p:spPr bwMode="auto">
          <a:xfrm>
            <a:off x="5105400" y="2209800"/>
            <a:ext cx="228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Line 4">
            <a:extLst>
              <a:ext uri="{FF2B5EF4-FFF2-40B4-BE49-F238E27FC236}">
                <a16:creationId xmlns:a16="http://schemas.microsoft.com/office/drawing/2014/main" id="{D02EB5A3-15C6-3047-96C1-8009A0CA47B7}"/>
              </a:ext>
            </a:extLst>
          </p:cNvPr>
          <p:cNvSpPr>
            <a:spLocks noChangeShapeType="1"/>
          </p:cNvSpPr>
          <p:nvPr>
            <p:custDataLst>
              <p:tags r:id="rId6"/>
            </p:custDataLst>
          </p:nvPr>
        </p:nvSpPr>
        <p:spPr bwMode="auto">
          <a:xfrm>
            <a:off x="2286000" y="2743200"/>
            <a:ext cx="2286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Line 4">
            <a:extLst>
              <a:ext uri="{FF2B5EF4-FFF2-40B4-BE49-F238E27FC236}">
                <a16:creationId xmlns:a16="http://schemas.microsoft.com/office/drawing/2014/main" id="{F89903AC-D1B2-144D-A4D2-8150380826FE}"/>
              </a:ext>
            </a:extLst>
          </p:cNvPr>
          <p:cNvSpPr>
            <a:spLocks noChangeShapeType="1"/>
          </p:cNvSpPr>
          <p:nvPr>
            <p:custDataLst>
              <p:tags r:id="rId7"/>
            </p:custDataLst>
          </p:nvPr>
        </p:nvSpPr>
        <p:spPr bwMode="auto">
          <a:xfrm>
            <a:off x="5181600" y="2743200"/>
            <a:ext cx="228600" cy="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02265"/>
      </p:ext>
    </p:extLst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0" y="76200"/>
            <a:ext cx="9144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  <a:latin typeface="+mj-lt"/>
              </a:rPr>
              <a:t>Chapter 2: Combinational Logic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DAA03A6C-70A8-504F-B2A9-E24C66359451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0" y="2438400"/>
            <a:ext cx="9144000" cy="1600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en-US" sz="7200" b="1" dirty="0"/>
              <a:t>Boolean Algebra: Simplifying Equations</a:t>
            </a:r>
            <a:endParaRPr lang="en-US" sz="7200" dirty="0"/>
          </a:p>
          <a:p>
            <a:pPr algn="ctr">
              <a:buFontTx/>
              <a:buNone/>
            </a:pPr>
            <a:endParaRPr lang="en-US" sz="72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AA03A6C-70A8-504F-B2A9-E24C66359451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>
          <a:xfrm>
            <a:off x="152400" y="1066800"/>
            <a:ext cx="9144000" cy="1600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en-US" sz="7200" b="1" dirty="0">
                <a:solidFill>
                  <a:schemeClr val="bg1"/>
                </a:solidFill>
              </a:rPr>
              <a:t>Extra Examples</a:t>
            </a:r>
            <a:endParaRPr lang="en-US" sz="7200" dirty="0">
              <a:solidFill>
                <a:schemeClr val="bg1"/>
              </a:solidFill>
            </a:endParaRPr>
          </a:p>
          <a:p>
            <a:pPr lvl="1" algn="ctr"/>
            <a:endParaRPr lang="en-US" sz="7200" dirty="0"/>
          </a:p>
          <a:p>
            <a:pPr algn="ctr">
              <a:buFontTx/>
              <a:buNone/>
            </a:pP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203205390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Simplification methods</a:t>
            </a:r>
          </a:p>
        </p:txBody>
      </p:sp>
      <p:sp>
        <p:nvSpPr>
          <p:cNvPr id="7" name="Rectangle 4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33400" y="957940"/>
            <a:ext cx="81026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2200" b="1" dirty="0" err="1">
                <a:latin typeface="+mj-lt"/>
                <a:cs typeface="Arial" charset="0"/>
              </a:rPr>
              <a:t>Distributivity</a:t>
            </a:r>
            <a:r>
              <a:rPr lang="en-US" sz="2200" b="1" dirty="0">
                <a:latin typeface="+mj-lt"/>
                <a:cs typeface="Arial" charset="0"/>
              </a:rPr>
              <a:t> (T8, T8’)</a:t>
            </a:r>
            <a:r>
              <a:rPr lang="en-US" sz="2200" dirty="0">
                <a:latin typeface="+mj-lt"/>
                <a:cs typeface="Arial" charset="0"/>
              </a:rPr>
              <a:t>      	B (C+D) = BC + BD</a:t>
            </a:r>
          </a:p>
          <a:p>
            <a:pPr marL="0" lvl="1">
              <a:spcBef>
                <a:spcPct val="20000"/>
              </a:spcBef>
            </a:pPr>
            <a:r>
              <a:rPr lang="en-US" sz="2200" dirty="0">
                <a:latin typeface="+mj-lt"/>
                <a:cs typeface="Arial" charset="0"/>
              </a:rPr>
              <a:t>      				B + CD = (B+ C)(B+D)</a:t>
            </a:r>
          </a:p>
          <a:p>
            <a:pPr marL="0" lvl="1">
              <a:spcBef>
                <a:spcPct val="20000"/>
              </a:spcBef>
            </a:pPr>
            <a:endParaRPr lang="en-US" sz="1000" b="1" dirty="0">
              <a:latin typeface="+mj-lt"/>
              <a:cs typeface="Arial" charset="0"/>
            </a:endParaRPr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2200" b="1" dirty="0">
                <a:latin typeface="+mj-lt"/>
                <a:cs typeface="Arial" charset="0"/>
              </a:rPr>
              <a:t>Covering (T9’)		</a:t>
            </a:r>
            <a:r>
              <a:rPr lang="en-US" sz="2200" dirty="0">
                <a:latin typeface="+mj-lt"/>
                <a:cs typeface="Arial" charset="0"/>
              </a:rPr>
              <a:t>A + AP = A</a:t>
            </a:r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sz="1000" dirty="0">
              <a:latin typeface="+mj-lt"/>
              <a:cs typeface="Arial" charset="0"/>
            </a:endParaRPr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2200" b="1" dirty="0">
                <a:latin typeface="+mj-lt"/>
                <a:cs typeface="Arial" charset="0"/>
              </a:rPr>
              <a:t>Combining (T10)</a:t>
            </a:r>
            <a:r>
              <a:rPr lang="en-US" sz="2200" dirty="0">
                <a:latin typeface="+mj-lt"/>
                <a:cs typeface="Arial" charset="0"/>
              </a:rPr>
              <a:t>       	PA + PA = P</a:t>
            </a:r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sz="1000" b="1" dirty="0">
              <a:latin typeface="+mj-lt"/>
              <a:cs typeface="Arial" charset="0"/>
            </a:endParaRPr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2200" b="1" dirty="0">
                <a:latin typeface="+mj-lt"/>
                <a:cs typeface="Arial" charset="0"/>
              </a:rPr>
              <a:t>Expansion			</a:t>
            </a:r>
            <a:r>
              <a:rPr lang="en-US" sz="2200" dirty="0">
                <a:latin typeface="+mj-lt"/>
                <a:cs typeface="Arial" charset="0"/>
              </a:rPr>
              <a:t>P = PA + PA</a:t>
            </a:r>
          </a:p>
          <a:p>
            <a:pPr>
              <a:spcBef>
                <a:spcPct val="20000"/>
              </a:spcBef>
            </a:pPr>
            <a:r>
              <a:rPr lang="en-US" sz="2200" b="1" dirty="0">
                <a:latin typeface="+mj-lt"/>
                <a:cs typeface="Arial" charset="0"/>
              </a:rPr>
              <a:t>       				</a:t>
            </a:r>
            <a:r>
              <a:rPr lang="en-US" sz="2200" dirty="0">
                <a:latin typeface="+mj-lt"/>
                <a:cs typeface="Arial" charset="0"/>
              </a:rPr>
              <a:t>A = A + AP</a:t>
            </a:r>
          </a:p>
          <a:p>
            <a:pPr>
              <a:spcBef>
                <a:spcPct val="20000"/>
              </a:spcBef>
            </a:pPr>
            <a:endParaRPr lang="en-US" sz="1000" dirty="0">
              <a:latin typeface="+mj-lt"/>
              <a:cs typeface="Arial" charset="0"/>
            </a:endParaRPr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2200" b="1" dirty="0" err="1">
                <a:latin typeface="+mj-lt"/>
                <a:cs typeface="Arial" charset="0"/>
              </a:rPr>
              <a:t>Idempotency</a:t>
            </a:r>
            <a:r>
              <a:rPr lang="en-US" sz="2200" b="1" dirty="0">
                <a:latin typeface="+mj-lt"/>
                <a:cs typeface="Arial" charset="0"/>
              </a:rPr>
              <a:t> (duplication)	</a:t>
            </a:r>
            <a:r>
              <a:rPr lang="en-US" sz="2200" dirty="0">
                <a:latin typeface="+mj-lt"/>
                <a:cs typeface="Arial" charset="0"/>
              </a:rPr>
              <a:t>A = A + A</a:t>
            </a:r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sz="1000" b="1" dirty="0">
              <a:latin typeface="+mj-lt"/>
              <a:cs typeface="Arial" charset="0"/>
            </a:endParaRPr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2200" b="1" dirty="0">
                <a:latin typeface="+mj-lt"/>
                <a:cs typeface="Arial" charset="0"/>
              </a:rPr>
              <a:t>“Simplification” theorem</a:t>
            </a:r>
            <a:r>
              <a:rPr lang="en-US" sz="2200" dirty="0">
                <a:latin typeface="+mj-lt"/>
                <a:cs typeface="Arial" charset="0"/>
              </a:rPr>
              <a:t>	A + AP = A + P</a:t>
            </a:r>
          </a:p>
          <a:p>
            <a:pPr lvl="2">
              <a:spcBef>
                <a:spcPct val="20000"/>
              </a:spcBef>
            </a:pPr>
            <a:r>
              <a:rPr lang="en-US" sz="2200" dirty="0">
                <a:latin typeface="+mj-lt"/>
                <a:cs typeface="Arial" charset="0"/>
              </a:rPr>
              <a:t>			A + AP = A + P</a:t>
            </a:r>
          </a:p>
        </p:txBody>
      </p:sp>
      <p:cxnSp>
        <p:nvCxnSpPr>
          <p:cNvPr id="14" name="Straight Connector 13"/>
          <p:cNvCxnSpPr/>
          <p:nvPr/>
        </p:nvCxnSpPr>
        <p:spPr>
          <a:xfrm>
            <a:off x="4800600" y="3200400"/>
            <a:ext cx="228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4722240" y="4772022"/>
            <a:ext cx="15456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4419600" y="2590800"/>
            <a:ext cx="1651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4285800" y="5181600"/>
            <a:ext cx="15075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5286600" y="5181600"/>
            <a:ext cx="15613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2163624-E315-6649-BF10-964572B40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50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0118232"/>
      </p:ext>
    </p:extLst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381000" y="68759"/>
            <a:ext cx="8839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Proving the “Simplification” Theorem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1752600" y="1670900"/>
            <a:ext cx="24892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4793400" y="2256362"/>
            <a:ext cx="12446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3032740" y="2260591"/>
            <a:ext cx="12446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4927681" y="2620434"/>
            <a:ext cx="12446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4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09600" y="1066800"/>
            <a:ext cx="78232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20000"/>
              </a:spcBef>
            </a:pPr>
            <a:r>
              <a:rPr lang="en-US" sz="3200" b="1" dirty="0">
                <a:latin typeface="+mj-lt"/>
                <a:cs typeface="Arial" charset="0"/>
              </a:rPr>
              <a:t>“Simplification” theorem</a:t>
            </a:r>
          </a:p>
          <a:p>
            <a:r>
              <a:rPr lang="en-US" sz="3200" dirty="0">
                <a:latin typeface="+mj-lt"/>
                <a:cs typeface="Arial" charset="0"/>
              </a:rPr>
              <a:t>     A + AP = A + P</a:t>
            </a:r>
          </a:p>
          <a:p>
            <a:r>
              <a:rPr lang="en-US" sz="3200" dirty="0">
                <a:solidFill>
                  <a:srgbClr val="0070C0"/>
                </a:solidFill>
                <a:latin typeface="+mj-lt"/>
                <a:cs typeface="Arial" charset="0"/>
              </a:rPr>
              <a:t>     </a:t>
            </a:r>
            <a:r>
              <a:rPr lang="en-US" sz="2200" b="1" dirty="0">
                <a:solidFill>
                  <a:srgbClr val="0070C0"/>
                </a:solidFill>
                <a:latin typeface="+mj-lt"/>
                <a:cs typeface="Arial" charset="0"/>
              </a:rPr>
              <a:t>Method 1:</a:t>
            </a:r>
            <a:r>
              <a:rPr lang="en-US" sz="2200" b="1" dirty="0">
                <a:latin typeface="Times New Roman" pitchFamily="18" charset="0"/>
                <a:cs typeface="Arial" charset="0"/>
              </a:rPr>
              <a:t>	</a:t>
            </a:r>
            <a:r>
              <a:rPr lang="en-US" sz="2200" dirty="0">
                <a:latin typeface="Times New Roman" pitchFamily="18" charset="0"/>
                <a:cs typeface="Arial" charset="0"/>
              </a:rPr>
              <a:t>A + AP 	= </a:t>
            </a:r>
            <a:r>
              <a:rPr lang="en-US" sz="2200" b="1" dirty="0">
                <a:latin typeface="Times New Roman" pitchFamily="18" charset="0"/>
                <a:cs typeface="Arial" charset="0"/>
              </a:rPr>
              <a:t>A + AP </a:t>
            </a:r>
            <a:r>
              <a:rPr lang="en-US" sz="2200" dirty="0">
                <a:latin typeface="Times New Roman" pitchFamily="18" charset="0"/>
                <a:cs typeface="Arial" charset="0"/>
              </a:rPr>
              <a:t>+ AP       	</a:t>
            </a:r>
            <a:r>
              <a:rPr lang="en-US" sz="2200" b="1" dirty="0">
                <a:latin typeface="+mj-lt"/>
                <a:cs typeface="Arial" charset="0"/>
              </a:rPr>
              <a:t>T9’ Covering</a:t>
            </a:r>
          </a:p>
          <a:p>
            <a:r>
              <a:rPr lang="en-US" sz="2200" b="1" dirty="0">
                <a:latin typeface="Times New Roman" pitchFamily="18" charset="0"/>
                <a:cs typeface="Arial" charset="0"/>
              </a:rPr>
              <a:t>			</a:t>
            </a:r>
            <a:r>
              <a:rPr lang="en-US" sz="2200" dirty="0">
                <a:latin typeface="Times New Roman" pitchFamily="18" charset="0"/>
                <a:cs typeface="Arial" charset="0"/>
              </a:rPr>
              <a:t>= A + </a:t>
            </a:r>
            <a:r>
              <a:rPr lang="en-US" sz="2200" b="1" dirty="0">
                <a:latin typeface="Times New Roman" pitchFamily="18" charset="0"/>
                <a:cs typeface="Arial" charset="0"/>
              </a:rPr>
              <a:t>(AP + AP)       	</a:t>
            </a:r>
            <a:r>
              <a:rPr lang="en-US" sz="2200" b="1" dirty="0">
                <a:latin typeface="+mj-lt"/>
                <a:cs typeface="Arial" charset="0"/>
              </a:rPr>
              <a:t>T7   Associativity</a:t>
            </a:r>
          </a:p>
          <a:p>
            <a:pPr>
              <a:spcBef>
                <a:spcPct val="20000"/>
              </a:spcBef>
            </a:pPr>
            <a:r>
              <a:rPr lang="en-US" sz="2200" dirty="0">
                <a:latin typeface="Times New Roman" pitchFamily="18" charset="0"/>
                <a:cs typeface="Arial" charset="0"/>
              </a:rPr>
              <a:t>			= A + </a:t>
            </a:r>
            <a:r>
              <a:rPr lang="en-US" sz="2200" b="1" dirty="0">
                <a:latin typeface="Times New Roman" pitchFamily="18" charset="0"/>
                <a:cs typeface="Arial" charset="0"/>
              </a:rPr>
              <a:t>P</a:t>
            </a:r>
            <a:r>
              <a:rPr lang="en-US" sz="2200" dirty="0">
                <a:latin typeface="Times New Roman" pitchFamily="18" charset="0"/>
                <a:cs typeface="Arial" charset="0"/>
              </a:rPr>
              <a:t>	</a:t>
            </a:r>
            <a:r>
              <a:rPr lang="en-US" sz="2200" b="1" dirty="0">
                <a:latin typeface="Times New Roman" pitchFamily="18" charset="0"/>
                <a:cs typeface="Arial" charset="0"/>
              </a:rPr>
              <a:t>       		</a:t>
            </a:r>
            <a:r>
              <a:rPr lang="en-US" sz="2200" b="1" dirty="0">
                <a:latin typeface="+mj-lt"/>
                <a:cs typeface="Arial" charset="0"/>
              </a:rPr>
              <a:t>T10 Combining</a:t>
            </a:r>
          </a:p>
          <a:p>
            <a:pPr>
              <a:spcBef>
                <a:spcPct val="20000"/>
              </a:spcBef>
            </a:pPr>
            <a:endParaRPr lang="en-US" sz="2200" b="1" dirty="0">
              <a:latin typeface="+mj-lt"/>
              <a:cs typeface="Arial" charset="0"/>
            </a:endParaRPr>
          </a:p>
          <a:p>
            <a:r>
              <a:rPr lang="en-US" sz="3200" dirty="0">
                <a:solidFill>
                  <a:srgbClr val="0070C0"/>
                </a:solidFill>
                <a:cs typeface="Arial" charset="0"/>
              </a:rPr>
              <a:t>     </a:t>
            </a:r>
            <a:r>
              <a:rPr lang="en-US" sz="2200" b="1" dirty="0">
                <a:solidFill>
                  <a:srgbClr val="0070C0"/>
                </a:solidFill>
                <a:cs typeface="Arial" charset="0"/>
              </a:rPr>
              <a:t>Method 2:</a:t>
            </a:r>
            <a:r>
              <a:rPr lang="en-US" sz="2200" b="1" dirty="0">
                <a:latin typeface="Times New Roman" pitchFamily="18" charset="0"/>
                <a:cs typeface="Arial" charset="0"/>
              </a:rPr>
              <a:t>	</a:t>
            </a:r>
            <a:r>
              <a:rPr lang="en-US" sz="2200" dirty="0">
                <a:latin typeface="Times New Roman" pitchFamily="18" charset="0"/>
                <a:cs typeface="Arial" charset="0"/>
              </a:rPr>
              <a:t>A + AP 	= (A + A)</a:t>
            </a:r>
            <a:r>
              <a:rPr lang="en-US" sz="2200" b="1" dirty="0">
                <a:latin typeface="Times New Roman" pitchFamily="18" charset="0"/>
                <a:cs typeface="Arial" charset="0"/>
              </a:rPr>
              <a:t> </a:t>
            </a:r>
            <a:r>
              <a:rPr lang="en-US" sz="2200" dirty="0">
                <a:latin typeface="Times New Roman" pitchFamily="18" charset="0"/>
                <a:cs typeface="Arial" charset="0"/>
              </a:rPr>
              <a:t>(A + P)</a:t>
            </a:r>
            <a:r>
              <a:rPr lang="en-US" sz="2200" b="1" dirty="0">
                <a:latin typeface="Times New Roman" pitchFamily="18" charset="0"/>
                <a:cs typeface="Arial" charset="0"/>
              </a:rPr>
              <a:t>    	</a:t>
            </a:r>
            <a:r>
              <a:rPr lang="en-US" sz="2200" b="1" dirty="0">
                <a:cs typeface="Arial" charset="0"/>
              </a:rPr>
              <a:t>T8’ </a:t>
            </a:r>
            <a:r>
              <a:rPr lang="en-US" sz="2200" b="1" dirty="0" err="1">
                <a:cs typeface="Arial" charset="0"/>
              </a:rPr>
              <a:t>Distributivity</a:t>
            </a:r>
            <a:endParaRPr lang="en-US" sz="2200" b="1" dirty="0">
              <a:cs typeface="Arial" charset="0"/>
            </a:endParaRPr>
          </a:p>
          <a:p>
            <a:r>
              <a:rPr lang="en-US" sz="2200" b="1" dirty="0">
                <a:latin typeface="Times New Roman" pitchFamily="18" charset="0"/>
                <a:cs typeface="Arial" charset="0"/>
              </a:rPr>
              <a:t>			</a:t>
            </a:r>
            <a:r>
              <a:rPr lang="en-US" sz="2200" dirty="0">
                <a:latin typeface="Times New Roman" pitchFamily="18" charset="0"/>
                <a:cs typeface="Arial" charset="0"/>
              </a:rPr>
              <a:t>= </a:t>
            </a:r>
            <a:r>
              <a:rPr lang="en-US" sz="2200" b="1" dirty="0">
                <a:latin typeface="Times New Roman" pitchFamily="18" charset="0"/>
                <a:cs typeface="Arial" charset="0"/>
              </a:rPr>
              <a:t>1•          </a:t>
            </a:r>
            <a:r>
              <a:rPr lang="en-US" sz="2200" dirty="0">
                <a:latin typeface="Times New Roman" pitchFamily="18" charset="0"/>
                <a:cs typeface="Arial" charset="0"/>
              </a:rPr>
              <a:t>(A + P)	</a:t>
            </a:r>
            <a:r>
              <a:rPr lang="en-US" sz="2200" b="1" dirty="0">
                <a:cs typeface="Arial" charset="0"/>
              </a:rPr>
              <a:t>T5’ Complements</a:t>
            </a:r>
          </a:p>
          <a:p>
            <a:pPr>
              <a:spcBef>
                <a:spcPct val="20000"/>
              </a:spcBef>
            </a:pPr>
            <a:r>
              <a:rPr lang="en-US" sz="2200" dirty="0">
                <a:latin typeface="Times New Roman" pitchFamily="18" charset="0"/>
                <a:cs typeface="Arial" charset="0"/>
              </a:rPr>
              <a:t>			=                </a:t>
            </a:r>
            <a:r>
              <a:rPr lang="en-US" sz="2200" b="1" dirty="0">
                <a:latin typeface="Times New Roman" pitchFamily="18" charset="0"/>
                <a:cs typeface="Arial" charset="0"/>
              </a:rPr>
              <a:t>A + P     	</a:t>
            </a:r>
            <a:r>
              <a:rPr lang="en-US" sz="2200" b="1" dirty="0">
                <a:cs typeface="Arial" charset="0"/>
              </a:rPr>
              <a:t>T1 Identity</a:t>
            </a:r>
          </a:p>
          <a:p>
            <a:pPr>
              <a:spcBef>
                <a:spcPct val="20000"/>
              </a:spcBef>
            </a:pPr>
            <a:endParaRPr lang="en-US" sz="2200" b="1" dirty="0">
              <a:latin typeface="+mj-lt"/>
              <a:cs typeface="Arial" charset="0"/>
            </a:endParaRPr>
          </a:p>
          <a:p>
            <a:pPr>
              <a:spcBef>
                <a:spcPct val="20000"/>
              </a:spcBef>
            </a:pPr>
            <a:endParaRPr lang="en-US" sz="2200" dirty="0">
              <a:latin typeface="Times New Roman" pitchFamily="18" charset="0"/>
              <a:cs typeface="Arial" charset="0"/>
            </a:endParaRPr>
          </a:p>
          <a:p>
            <a:pPr>
              <a:spcBef>
                <a:spcPct val="20000"/>
              </a:spcBef>
            </a:pPr>
            <a:endParaRPr lang="en-US" sz="2200" dirty="0">
              <a:latin typeface="Times New Roman" pitchFamily="18" charset="0"/>
              <a:cs typeface="Arial" charset="0"/>
            </a:endParaRPr>
          </a:p>
          <a:p>
            <a:pPr>
              <a:spcBef>
                <a:spcPct val="20000"/>
              </a:spcBef>
            </a:pPr>
            <a:endParaRPr lang="en-US" sz="3200" dirty="0">
              <a:latin typeface="Times New Roman" pitchFamily="18" charset="0"/>
              <a:cs typeface="Arial" charset="0"/>
            </a:endParaRPr>
          </a:p>
          <a:p>
            <a:pPr>
              <a:spcBef>
                <a:spcPct val="20000"/>
              </a:spcBef>
            </a:pPr>
            <a:r>
              <a:rPr lang="en-US" sz="3200" dirty="0">
                <a:latin typeface="Times New Roman" pitchFamily="18" charset="0"/>
                <a:cs typeface="Arial" charset="0"/>
              </a:rPr>
              <a:t>   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514600" y="2209800"/>
            <a:ext cx="6375400" cy="1143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2514600" y="3871591"/>
            <a:ext cx="6375400" cy="1143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23A40EA-BF8C-1046-B367-16C8068AB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51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67902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11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T11: Consensus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2037949"/>
              </p:ext>
            </p:extLst>
          </p:nvPr>
        </p:nvGraphicFramePr>
        <p:xfrm>
          <a:off x="1143001" y="1066800"/>
          <a:ext cx="73914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39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622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3000" dirty="0"/>
                        <a:t>Number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000" dirty="0"/>
                        <a:t>Theorem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000" dirty="0"/>
                        <a:t>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T11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(B•C) + (B•D) + (C•D)</a:t>
                      </a:r>
                      <a:r>
                        <a:rPr lang="en-US" sz="2400" baseline="0" dirty="0"/>
                        <a:t> =</a:t>
                      </a:r>
                    </a:p>
                    <a:p>
                      <a:r>
                        <a:rPr lang="en-US" sz="2400" baseline="0" dirty="0"/>
                        <a:t>(B</a:t>
                      </a:r>
                      <a:r>
                        <a:rPr lang="en-US" sz="2400" dirty="0"/>
                        <a:t>•</a:t>
                      </a:r>
                      <a:r>
                        <a:rPr lang="en-US" sz="2400" baseline="0" dirty="0"/>
                        <a:t>C) + (B</a:t>
                      </a:r>
                      <a:r>
                        <a:rPr lang="en-US" sz="2400" dirty="0"/>
                        <a:t>•</a:t>
                      </a:r>
                      <a:r>
                        <a:rPr lang="en-US" sz="2400" baseline="0" dirty="0"/>
                        <a:t>D)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Consensus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12" name="Straight Connector 11"/>
          <p:cNvCxnSpPr/>
          <p:nvPr/>
        </p:nvCxnSpPr>
        <p:spPr>
          <a:xfrm>
            <a:off x="3799840" y="1723136"/>
            <a:ext cx="1524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3805936" y="2088896"/>
            <a:ext cx="1524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4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278448" y="2590800"/>
            <a:ext cx="7442219" cy="32461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20000"/>
              </a:spcBef>
            </a:pPr>
            <a:r>
              <a:rPr lang="en-US" sz="2200" b="1" dirty="0">
                <a:latin typeface="+mj-lt"/>
                <a:cs typeface="Arial" charset="0"/>
              </a:rPr>
              <a:t>Prove using other theorems and axioms:</a:t>
            </a:r>
          </a:p>
          <a:p>
            <a:pPr>
              <a:spcBef>
                <a:spcPct val="20000"/>
              </a:spcBef>
            </a:pPr>
            <a:r>
              <a:rPr lang="en-US" sz="2200" b="1" dirty="0">
                <a:latin typeface="Times New Roman" pitchFamily="18" charset="0"/>
                <a:cs typeface="Arial" charset="0"/>
              </a:rPr>
              <a:t>          B•C + B•D + C•D </a:t>
            </a:r>
          </a:p>
          <a:p>
            <a:pPr>
              <a:spcBef>
                <a:spcPct val="20000"/>
              </a:spcBef>
            </a:pPr>
            <a:r>
              <a:rPr lang="en-US" sz="2200" dirty="0">
                <a:latin typeface="Times New Roman" pitchFamily="18" charset="0"/>
                <a:cs typeface="Arial" charset="0"/>
              </a:rPr>
              <a:t>       = BC + BD + (</a:t>
            </a:r>
            <a:r>
              <a:rPr lang="en-US" sz="2200" b="1" dirty="0">
                <a:latin typeface="Times New Roman" pitchFamily="18" charset="0"/>
                <a:cs typeface="Arial" charset="0"/>
              </a:rPr>
              <a:t>CD</a:t>
            </a:r>
            <a:r>
              <a:rPr lang="en-US" sz="2200" dirty="0">
                <a:latin typeface="Times New Roman" pitchFamily="18" charset="0"/>
                <a:cs typeface="Arial" charset="0"/>
              </a:rPr>
              <a:t>B+</a:t>
            </a:r>
            <a:r>
              <a:rPr lang="en-US" sz="2200" b="1" dirty="0">
                <a:latin typeface="Times New Roman" pitchFamily="18" charset="0"/>
                <a:cs typeface="Arial" charset="0"/>
              </a:rPr>
              <a:t>CD</a:t>
            </a:r>
            <a:r>
              <a:rPr lang="en-US" sz="2200" dirty="0">
                <a:latin typeface="Times New Roman" pitchFamily="18" charset="0"/>
                <a:cs typeface="Arial" charset="0"/>
              </a:rPr>
              <a:t>B)		</a:t>
            </a:r>
            <a:r>
              <a:rPr lang="en-US" sz="2200" b="1" dirty="0">
                <a:latin typeface="+mj-lt"/>
                <a:cs typeface="Arial" charset="0"/>
              </a:rPr>
              <a:t>T10: Combining</a:t>
            </a:r>
          </a:p>
          <a:p>
            <a:pPr>
              <a:spcBef>
                <a:spcPct val="20000"/>
              </a:spcBef>
            </a:pPr>
            <a:r>
              <a:rPr lang="en-US" sz="2200" dirty="0">
                <a:latin typeface="Times New Roman" pitchFamily="18" charset="0"/>
                <a:cs typeface="Arial" charset="0"/>
              </a:rPr>
              <a:t>       = BC + BD + </a:t>
            </a:r>
            <a:r>
              <a:rPr lang="en-US" sz="2200" b="1" dirty="0">
                <a:latin typeface="Times New Roman" pitchFamily="18" charset="0"/>
                <a:cs typeface="Arial" charset="0"/>
              </a:rPr>
              <a:t>BCD+BCD</a:t>
            </a:r>
            <a:r>
              <a:rPr lang="en-US" sz="2200" dirty="0">
                <a:latin typeface="Times New Roman" pitchFamily="18" charset="0"/>
                <a:cs typeface="Arial" charset="0"/>
              </a:rPr>
              <a:t>		</a:t>
            </a:r>
            <a:r>
              <a:rPr lang="en-US" sz="2200" b="1" dirty="0">
                <a:latin typeface="+mj-lt"/>
                <a:cs typeface="Arial" charset="0"/>
              </a:rPr>
              <a:t>T6: Commutativity</a:t>
            </a:r>
          </a:p>
          <a:p>
            <a:pPr>
              <a:spcBef>
                <a:spcPct val="20000"/>
              </a:spcBef>
            </a:pPr>
            <a:r>
              <a:rPr lang="en-US" sz="2200" dirty="0">
                <a:latin typeface="Times New Roman" pitchFamily="18" charset="0"/>
                <a:cs typeface="Arial" charset="0"/>
              </a:rPr>
              <a:t>       = </a:t>
            </a:r>
            <a:r>
              <a:rPr lang="en-US" sz="2200" b="1" dirty="0">
                <a:solidFill>
                  <a:srgbClr val="FF0000"/>
                </a:solidFill>
                <a:latin typeface="Times New Roman" pitchFamily="18" charset="0"/>
                <a:cs typeface="Arial" charset="0"/>
              </a:rPr>
              <a:t>BC + BCD </a:t>
            </a:r>
            <a:r>
              <a:rPr lang="en-US" sz="2200" dirty="0">
                <a:latin typeface="Times New Roman" pitchFamily="18" charset="0"/>
                <a:cs typeface="Arial" charset="0"/>
              </a:rPr>
              <a:t>+ </a:t>
            </a:r>
            <a:r>
              <a:rPr lang="en-US" sz="2200" b="1" dirty="0">
                <a:solidFill>
                  <a:srgbClr val="0070C0"/>
                </a:solidFill>
                <a:latin typeface="Times New Roman" pitchFamily="18" charset="0"/>
                <a:cs typeface="Arial" charset="0"/>
              </a:rPr>
              <a:t>BD + BCD </a:t>
            </a:r>
            <a:r>
              <a:rPr lang="en-US" sz="2200" dirty="0">
                <a:latin typeface="Times New Roman" pitchFamily="18" charset="0"/>
                <a:cs typeface="Arial" charset="0"/>
              </a:rPr>
              <a:t>		</a:t>
            </a:r>
            <a:r>
              <a:rPr lang="en-US" sz="2200" b="1" dirty="0">
                <a:latin typeface="+mj-lt"/>
                <a:cs typeface="Arial" charset="0"/>
              </a:rPr>
              <a:t>T6: Commutativity</a:t>
            </a:r>
          </a:p>
          <a:p>
            <a:pPr>
              <a:spcBef>
                <a:spcPct val="20000"/>
              </a:spcBef>
            </a:pPr>
            <a:r>
              <a:rPr lang="en-US" sz="2200" b="1" dirty="0">
                <a:latin typeface="Times New Roman" pitchFamily="18" charset="0"/>
                <a:cs typeface="Arial" charset="0"/>
              </a:rPr>
              <a:t>       </a:t>
            </a:r>
            <a:r>
              <a:rPr lang="en-US" sz="2200" dirty="0">
                <a:latin typeface="Times New Roman" pitchFamily="18" charset="0"/>
                <a:cs typeface="Arial" charset="0"/>
              </a:rPr>
              <a:t>= </a:t>
            </a:r>
            <a:r>
              <a:rPr lang="en-US" sz="2200" b="1" dirty="0">
                <a:solidFill>
                  <a:srgbClr val="FF0000"/>
                </a:solidFill>
                <a:latin typeface="Times New Roman" pitchFamily="18" charset="0"/>
                <a:cs typeface="Arial" charset="0"/>
              </a:rPr>
              <a:t>(BC + BC</a:t>
            </a:r>
            <a:r>
              <a:rPr lang="en-US" sz="2200" b="1" dirty="0">
                <a:latin typeface="Times New Roman" pitchFamily="18" charset="0"/>
                <a:cs typeface="Arial" charset="0"/>
              </a:rPr>
              <a:t>D</a:t>
            </a:r>
            <a:r>
              <a:rPr lang="en-US" sz="2200" b="1" dirty="0">
                <a:solidFill>
                  <a:srgbClr val="FF0000"/>
                </a:solidFill>
                <a:latin typeface="Times New Roman" pitchFamily="18" charset="0"/>
                <a:cs typeface="Arial" charset="0"/>
              </a:rPr>
              <a:t>)</a:t>
            </a:r>
            <a:r>
              <a:rPr lang="en-US" sz="2200" dirty="0">
                <a:latin typeface="Times New Roman" pitchFamily="18" charset="0"/>
                <a:cs typeface="Arial" charset="0"/>
              </a:rPr>
              <a:t> + </a:t>
            </a:r>
            <a:r>
              <a:rPr lang="en-US" sz="2200" b="1" dirty="0">
                <a:solidFill>
                  <a:srgbClr val="0070C0"/>
                </a:solidFill>
                <a:latin typeface="Times New Roman" pitchFamily="18" charset="0"/>
                <a:cs typeface="Arial" charset="0"/>
              </a:rPr>
              <a:t>(BD + B</a:t>
            </a:r>
            <a:r>
              <a:rPr lang="en-US" sz="2200" b="1" dirty="0">
                <a:latin typeface="Times New Roman" pitchFamily="18" charset="0"/>
                <a:cs typeface="Arial" charset="0"/>
              </a:rPr>
              <a:t>C</a:t>
            </a:r>
            <a:r>
              <a:rPr lang="en-US" sz="2200" b="1" dirty="0">
                <a:solidFill>
                  <a:srgbClr val="0070C0"/>
                </a:solidFill>
                <a:latin typeface="Times New Roman" pitchFamily="18" charset="0"/>
                <a:cs typeface="Arial" charset="0"/>
              </a:rPr>
              <a:t>D)</a:t>
            </a:r>
            <a:r>
              <a:rPr lang="en-US" sz="2200" dirty="0">
                <a:latin typeface="Times New Roman" pitchFamily="18" charset="0"/>
                <a:cs typeface="Arial" charset="0"/>
              </a:rPr>
              <a:t>	</a:t>
            </a:r>
            <a:r>
              <a:rPr lang="en-US" sz="2200" b="1" dirty="0">
                <a:latin typeface="+mj-lt"/>
                <a:cs typeface="Arial" charset="0"/>
              </a:rPr>
              <a:t>T7: Associativity</a:t>
            </a:r>
          </a:p>
          <a:p>
            <a:pPr>
              <a:spcBef>
                <a:spcPct val="20000"/>
              </a:spcBef>
            </a:pPr>
            <a:r>
              <a:rPr lang="en-US" sz="2200" b="1" dirty="0">
                <a:latin typeface="Times New Roman" pitchFamily="18" charset="0"/>
                <a:cs typeface="Arial" charset="0"/>
              </a:rPr>
              <a:t>       </a:t>
            </a:r>
            <a:r>
              <a:rPr lang="en-US" sz="2200" dirty="0">
                <a:latin typeface="Times New Roman" pitchFamily="18" charset="0"/>
                <a:cs typeface="Arial" charset="0"/>
              </a:rPr>
              <a:t>=  </a:t>
            </a:r>
            <a:r>
              <a:rPr lang="en-US" sz="2200" b="1" dirty="0">
                <a:solidFill>
                  <a:srgbClr val="FF0000"/>
                </a:solidFill>
                <a:latin typeface="Times New Roman" pitchFamily="18" charset="0"/>
                <a:cs typeface="Arial" charset="0"/>
              </a:rPr>
              <a:t>BC</a:t>
            </a:r>
            <a:r>
              <a:rPr lang="en-US" sz="2200" dirty="0">
                <a:latin typeface="Times New Roman" pitchFamily="18" charset="0"/>
                <a:cs typeface="Arial" charset="0"/>
              </a:rPr>
              <a:t>                +</a:t>
            </a:r>
            <a:r>
              <a:rPr lang="en-US" sz="2200" b="1" dirty="0">
                <a:solidFill>
                  <a:srgbClr val="0070C0"/>
                </a:solidFill>
                <a:latin typeface="Times New Roman" pitchFamily="18" charset="0"/>
                <a:cs typeface="Arial" charset="0"/>
              </a:rPr>
              <a:t>  BD</a:t>
            </a:r>
            <a:r>
              <a:rPr lang="en-US" sz="2200" dirty="0">
                <a:latin typeface="Times New Roman" pitchFamily="18" charset="0"/>
                <a:cs typeface="Arial" charset="0"/>
              </a:rPr>
              <a:t>		</a:t>
            </a:r>
            <a:r>
              <a:rPr lang="en-US" sz="2200" b="1" dirty="0">
                <a:latin typeface="+mj-lt"/>
                <a:cs typeface="Arial" charset="0"/>
              </a:rPr>
              <a:t>T9’: Covering</a:t>
            </a:r>
          </a:p>
        </p:txBody>
      </p:sp>
      <p:cxnSp>
        <p:nvCxnSpPr>
          <p:cNvPr id="24" name="Straight Connector 23"/>
          <p:cNvCxnSpPr/>
          <p:nvPr/>
        </p:nvCxnSpPr>
        <p:spPr>
          <a:xfrm>
            <a:off x="2793301" y="3076787"/>
            <a:ext cx="228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2717274" y="3487855"/>
            <a:ext cx="2286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4638056" y="3483189"/>
            <a:ext cx="2286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2731674" y="3889619"/>
            <a:ext cx="2286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4168136" y="3889619"/>
            <a:ext cx="2286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3651096" y="4287530"/>
            <a:ext cx="228600" cy="0"/>
          </a:xfrm>
          <a:prstGeom prst="line">
            <a:avLst/>
          </a:prstGeom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4343400" y="4295997"/>
            <a:ext cx="228600" cy="0"/>
          </a:xfrm>
          <a:prstGeom prst="line">
            <a:avLst/>
          </a:prstGeom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>
            <a:off x="3913212" y="4685473"/>
            <a:ext cx="228600" cy="0"/>
          </a:xfrm>
          <a:prstGeom prst="line">
            <a:avLst/>
          </a:prstGeom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4608000" y="4693940"/>
            <a:ext cx="228600" cy="0"/>
          </a:xfrm>
          <a:prstGeom prst="line">
            <a:avLst/>
          </a:prstGeom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>
            <a:off x="3962400" y="5100341"/>
            <a:ext cx="228600" cy="0"/>
          </a:xfrm>
          <a:prstGeom prst="line">
            <a:avLst/>
          </a:prstGeom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1325020" y="2971800"/>
            <a:ext cx="7056979" cy="2667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3A59CA6-2BDF-F74B-95A5-35D873E0F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52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098334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Simplification methods</a:t>
            </a:r>
          </a:p>
        </p:txBody>
      </p:sp>
      <p:cxnSp>
        <p:nvCxnSpPr>
          <p:cNvPr id="14" name="Straight Connector 13"/>
          <p:cNvCxnSpPr/>
          <p:nvPr/>
        </p:nvCxnSpPr>
        <p:spPr>
          <a:xfrm>
            <a:off x="4800600" y="3200400"/>
            <a:ext cx="228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4722240" y="4772022"/>
            <a:ext cx="15456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4419600" y="2590800"/>
            <a:ext cx="165100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4285800" y="5181600"/>
            <a:ext cx="15075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5286600" y="5181600"/>
            <a:ext cx="15613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4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33400" y="957940"/>
            <a:ext cx="81026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2200" b="1" dirty="0" err="1">
                <a:latin typeface="+mj-lt"/>
                <a:cs typeface="Arial" charset="0"/>
              </a:rPr>
              <a:t>Distributivity</a:t>
            </a:r>
            <a:r>
              <a:rPr lang="en-US" sz="2200" b="1" dirty="0">
                <a:latin typeface="+mj-lt"/>
                <a:cs typeface="Arial" charset="0"/>
              </a:rPr>
              <a:t> (T8, T8’)</a:t>
            </a:r>
            <a:r>
              <a:rPr lang="en-US" sz="2200" dirty="0">
                <a:latin typeface="+mj-lt"/>
                <a:cs typeface="Arial" charset="0"/>
              </a:rPr>
              <a:t>      	B (C+D) = BC + BD</a:t>
            </a:r>
          </a:p>
          <a:p>
            <a:pPr marL="0" lvl="1">
              <a:spcBef>
                <a:spcPct val="20000"/>
              </a:spcBef>
            </a:pPr>
            <a:r>
              <a:rPr lang="en-US" sz="2200" dirty="0">
                <a:latin typeface="+mj-lt"/>
                <a:cs typeface="Arial" charset="0"/>
              </a:rPr>
              <a:t>      				B + CD = (B+ C)(B+D)</a:t>
            </a:r>
          </a:p>
          <a:p>
            <a:pPr marL="0" lvl="1">
              <a:spcBef>
                <a:spcPct val="20000"/>
              </a:spcBef>
            </a:pPr>
            <a:endParaRPr lang="en-US" sz="1000" b="1" dirty="0">
              <a:latin typeface="+mj-lt"/>
              <a:cs typeface="Arial" charset="0"/>
            </a:endParaRPr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2200" b="1" dirty="0">
                <a:latin typeface="+mj-lt"/>
                <a:cs typeface="Arial" charset="0"/>
              </a:rPr>
              <a:t>Covering (T9’)		</a:t>
            </a:r>
            <a:r>
              <a:rPr lang="en-US" sz="2200" dirty="0">
                <a:latin typeface="+mj-lt"/>
                <a:cs typeface="Arial" charset="0"/>
              </a:rPr>
              <a:t>A + AP = A</a:t>
            </a:r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sz="1000" dirty="0">
              <a:latin typeface="+mj-lt"/>
              <a:cs typeface="Arial" charset="0"/>
            </a:endParaRPr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rgbClr val="0070C0"/>
                </a:solidFill>
                <a:latin typeface="+mj-lt"/>
                <a:cs typeface="Arial" charset="0"/>
              </a:rPr>
              <a:t>Combining (T10)       	PA + PA = P</a:t>
            </a:r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sz="1000" b="1" dirty="0">
              <a:latin typeface="+mj-lt"/>
              <a:cs typeface="Arial" charset="0"/>
            </a:endParaRPr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2200" b="1" dirty="0">
                <a:latin typeface="+mj-lt"/>
                <a:cs typeface="Arial" charset="0"/>
              </a:rPr>
              <a:t>Expansion			</a:t>
            </a:r>
            <a:r>
              <a:rPr lang="en-US" sz="2200" dirty="0">
                <a:latin typeface="+mj-lt"/>
                <a:cs typeface="Arial" charset="0"/>
              </a:rPr>
              <a:t>P = PA + PA</a:t>
            </a:r>
          </a:p>
          <a:p>
            <a:pPr>
              <a:spcBef>
                <a:spcPct val="20000"/>
              </a:spcBef>
            </a:pPr>
            <a:r>
              <a:rPr lang="en-US" sz="2200" b="1" dirty="0">
                <a:latin typeface="+mj-lt"/>
                <a:cs typeface="Arial" charset="0"/>
              </a:rPr>
              <a:t>       				</a:t>
            </a:r>
            <a:r>
              <a:rPr lang="en-US" sz="2200" dirty="0">
                <a:latin typeface="+mj-lt"/>
                <a:cs typeface="Arial" charset="0"/>
              </a:rPr>
              <a:t>A = A + AP</a:t>
            </a:r>
          </a:p>
          <a:p>
            <a:pPr>
              <a:spcBef>
                <a:spcPct val="20000"/>
              </a:spcBef>
            </a:pPr>
            <a:endParaRPr lang="en-US" sz="1000" dirty="0">
              <a:latin typeface="+mj-lt"/>
              <a:cs typeface="Arial" charset="0"/>
            </a:endParaRPr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2200" b="1" dirty="0" err="1">
                <a:latin typeface="+mj-lt"/>
                <a:cs typeface="Arial" charset="0"/>
              </a:rPr>
              <a:t>Idempotency</a:t>
            </a:r>
            <a:r>
              <a:rPr lang="en-US" sz="2200" b="1" dirty="0">
                <a:latin typeface="+mj-lt"/>
                <a:cs typeface="Arial" charset="0"/>
              </a:rPr>
              <a:t> (duplication)	</a:t>
            </a:r>
            <a:r>
              <a:rPr lang="en-US" sz="2200" dirty="0">
                <a:latin typeface="+mj-lt"/>
                <a:cs typeface="Arial" charset="0"/>
              </a:rPr>
              <a:t>A = A + A</a:t>
            </a:r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sz="1000" b="1" dirty="0">
              <a:latin typeface="+mj-lt"/>
              <a:cs typeface="Arial" charset="0"/>
            </a:endParaRPr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2200" b="1" dirty="0">
                <a:latin typeface="+mj-lt"/>
                <a:cs typeface="Arial" charset="0"/>
              </a:rPr>
              <a:t>“Simplification” theorem</a:t>
            </a:r>
            <a:r>
              <a:rPr lang="en-US" sz="2200" dirty="0">
                <a:latin typeface="+mj-lt"/>
                <a:cs typeface="Arial" charset="0"/>
              </a:rPr>
              <a:t>	A + AP = A + P</a:t>
            </a:r>
          </a:p>
          <a:p>
            <a:pPr lvl="2">
              <a:spcBef>
                <a:spcPct val="20000"/>
              </a:spcBef>
            </a:pPr>
            <a:r>
              <a:rPr lang="en-US" sz="2200" dirty="0">
                <a:latin typeface="+mj-lt"/>
                <a:cs typeface="Arial" charset="0"/>
              </a:rPr>
              <a:t>			A + AP = A + P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D1EB346-77DC-C842-8CEC-49876C180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53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9455107"/>
      </p:ext>
    </p:extLst>
  </p:cSld>
  <p:clrMapOvr>
    <a:masterClrMapping/>
  </p:clrMapOvr>
  <p:transition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Simplification methods</a:t>
            </a:r>
          </a:p>
        </p:txBody>
      </p:sp>
      <p:cxnSp>
        <p:nvCxnSpPr>
          <p:cNvPr id="14" name="Straight Connector 13"/>
          <p:cNvCxnSpPr/>
          <p:nvPr/>
        </p:nvCxnSpPr>
        <p:spPr>
          <a:xfrm>
            <a:off x="4800600" y="3200400"/>
            <a:ext cx="228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4722240" y="4772022"/>
            <a:ext cx="15456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4419600" y="2590800"/>
            <a:ext cx="1651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4285800" y="5181600"/>
            <a:ext cx="15075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5286600" y="5181600"/>
            <a:ext cx="15613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4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33400" y="957940"/>
            <a:ext cx="81026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2200" b="1" dirty="0" err="1">
                <a:solidFill>
                  <a:srgbClr val="0070C0"/>
                </a:solidFill>
                <a:latin typeface="+mj-lt"/>
                <a:cs typeface="Arial" charset="0"/>
              </a:rPr>
              <a:t>Distributivity</a:t>
            </a:r>
            <a:r>
              <a:rPr lang="en-US" sz="2200" b="1" dirty="0">
                <a:solidFill>
                  <a:srgbClr val="0070C0"/>
                </a:solidFill>
                <a:latin typeface="+mj-lt"/>
                <a:cs typeface="Arial" charset="0"/>
              </a:rPr>
              <a:t> (T8, T8’)      	B (C+D) = BC + BD</a:t>
            </a:r>
          </a:p>
          <a:p>
            <a:pPr marL="0" lvl="1">
              <a:spcBef>
                <a:spcPct val="20000"/>
              </a:spcBef>
            </a:pPr>
            <a:r>
              <a:rPr lang="en-US" sz="2200" b="1" dirty="0">
                <a:solidFill>
                  <a:srgbClr val="0070C0"/>
                </a:solidFill>
                <a:latin typeface="+mj-lt"/>
                <a:cs typeface="Arial" charset="0"/>
              </a:rPr>
              <a:t>      				B + CD = (B+ C)(B+D)</a:t>
            </a:r>
          </a:p>
          <a:p>
            <a:pPr marL="0" lvl="1">
              <a:spcBef>
                <a:spcPct val="20000"/>
              </a:spcBef>
            </a:pPr>
            <a:endParaRPr lang="en-US" sz="1000" b="1" dirty="0">
              <a:latin typeface="+mj-lt"/>
              <a:cs typeface="Arial" charset="0"/>
            </a:endParaRPr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2200" b="1" dirty="0">
                <a:latin typeface="+mj-lt"/>
                <a:cs typeface="Arial" charset="0"/>
              </a:rPr>
              <a:t>Covering (T9’)		</a:t>
            </a:r>
            <a:r>
              <a:rPr lang="en-US" sz="2200" dirty="0">
                <a:latin typeface="+mj-lt"/>
                <a:cs typeface="Arial" charset="0"/>
              </a:rPr>
              <a:t>A + AP = A</a:t>
            </a:r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sz="1000" dirty="0">
              <a:latin typeface="+mj-lt"/>
              <a:cs typeface="Arial" charset="0"/>
            </a:endParaRPr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latin typeface="+mj-lt"/>
                <a:cs typeface="Arial" charset="0"/>
              </a:rPr>
              <a:t>Combining (T10)       	PA + PA = P</a:t>
            </a:r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sz="1000" b="1" dirty="0">
              <a:latin typeface="+mj-lt"/>
              <a:cs typeface="Arial" charset="0"/>
            </a:endParaRPr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2200" b="1" dirty="0">
                <a:latin typeface="+mj-lt"/>
                <a:cs typeface="Arial" charset="0"/>
              </a:rPr>
              <a:t>Expansion			</a:t>
            </a:r>
            <a:r>
              <a:rPr lang="en-US" sz="2200" dirty="0">
                <a:latin typeface="+mj-lt"/>
                <a:cs typeface="Arial" charset="0"/>
              </a:rPr>
              <a:t>P = PA + PA</a:t>
            </a:r>
          </a:p>
          <a:p>
            <a:pPr>
              <a:spcBef>
                <a:spcPct val="20000"/>
              </a:spcBef>
            </a:pPr>
            <a:r>
              <a:rPr lang="en-US" sz="2200" b="1" dirty="0">
                <a:latin typeface="+mj-lt"/>
                <a:cs typeface="Arial" charset="0"/>
              </a:rPr>
              <a:t>       				</a:t>
            </a:r>
            <a:r>
              <a:rPr lang="en-US" sz="2200" dirty="0">
                <a:latin typeface="+mj-lt"/>
                <a:cs typeface="Arial" charset="0"/>
              </a:rPr>
              <a:t>A = A + AP</a:t>
            </a:r>
          </a:p>
          <a:p>
            <a:pPr>
              <a:spcBef>
                <a:spcPct val="20000"/>
              </a:spcBef>
            </a:pPr>
            <a:endParaRPr lang="en-US" sz="1000" dirty="0">
              <a:latin typeface="+mj-lt"/>
              <a:cs typeface="Arial" charset="0"/>
            </a:endParaRPr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2200" b="1" dirty="0" err="1">
                <a:latin typeface="+mj-lt"/>
                <a:cs typeface="Arial" charset="0"/>
              </a:rPr>
              <a:t>Idempotency</a:t>
            </a:r>
            <a:r>
              <a:rPr lang="en-US" sz="2200" b="1" dirty="0">
                <a:latin typeface="+mj-lt"/>
                <a:cs typeface="Arial" charset="0"/>
              </a:rPr>
              <a:t> (duplication)	</a:t>
            </a:r>
            <a:r>
              <a:rPr lang="en-US" sz="2200" dirty="0">
                <a:latin typeface="+mj-lt"/>
                <a:cs typeface="Arial" charset="0"/>
              </a:rPr>
              <a:t>A = A + A</a:t>
            </a:r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sz="1000" b="1" dirty="0">
              <a:latin typeface="+mj-lt"/>
              <a:cs typeface="Arial" charset="0"/>
            </a:endParaRPr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2200" b="1" dirty="0">
                <a:latin typeface="+mj-lt"/>
                <a:cs typeface="Arial" charset="0"/>
              </a:rPr>
              <a:t>“Simplification” theorem</a:t>
            </a:r>
            <a:r>
              <a:rPr lang="en-US" sz="2200" dirty="0">
                <a:latin typeface="+mj-lt"/>
                <a:cs typeface="Arial" charset="0"/>
              </a:rPr>
              <a:t>	A + AP = A + P</a:t>
            </a:r>
          </a:p>
          <a:p>
            <a:pPr lvl="2">
              <a:spcBef>
                <a:spcPct val="20000"/>
              </a:spcBef>
            </a:pPr>
            <a:r>
              <a:rPr lang="en-US" sz="2200" dirty="0">
                <a:latin typeface="+mj-lt"/>
                <a:cs typeface="Arial" charset="0"/>
              </a:rPr>
              <a:t>			A + AP = A + P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A315CD5-34C0-AA44-98CA-5165C1E08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54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5675859"/>
      </p:ext>
    </p:extLst>
  </p:cSld>
  <p:clrMapOvr>
    <a:masterClrMapping/>
  </p:clrMapOvr>
  <p:transition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507" name="Rectangle 3"/>
          <p:cNvSpPr>
            <a:spLocks noGrp="1" noChangeArrowheads="1"/>
          </p:cNvSpPr>
          <p:nvPr>
            <p:ph idx="1"/>
            <p:custDataLst>
              <p:tags r:id="rId1"/>
            </p:custDataLst>
          </p:nvPr>
        </p:nvSpPr>
        <p:spPr>
          <a:xfrm>
            <a:off x="1257300" y="1524000"/>
            <a:ext cx="7886700" cy="4995277"/>
          </a:xfrm>
        </p:spPr>
        <p:txBody>
          <a:bodyPr/>
          <a:lstStyle/>
          <a:p>
            <a:pPr marL="0" indent="0">
              <a:buNone/>
            </a:pPr>
            <a:r>
              <a:rPr lang="en-US" b="1" i="1" dirty="0">
                <a:solidFill>
                  <a:schemeClr val="accent1"/>
                </a:solidFill>
              </a:rPr>
              <a:t>Y</a:t>
            </a:r>
            <a:r>
              <a:rPr lang="en-US" b="1" dirty="0">
                <a:solidFill>
                  <a:schemeClr val="accent1"/>
                </a:solidFill>
              </a:rPr>
              <a:t> = </a:t>
            </a:r>
            <a:r>
              <a:rPr lang="en-US" b="1" i="1" dirty="0">
                <a:solidFill>
                  <a:schemeClr val="accent1"/>
                </a:solidFill>
              </a:rPr>
              <a:t>A</a:t>
            </a:r>
            <a:r>
              <a:rPr lang="en-US" b="1" dirty="0">
                <a:solidFill>
                  <a:schemeClr val="accent1"/>
                </a:solidFill>
              </a:rPr>
              <a:t>(</a:t>
            </a:r>
            <a:r>
              <a:rPr lang="en-US" b="1" i="1" dirty="0">
                <a:solidFill>
                  <a:schemeClr val="accent1"/>
                </a:solidFill>
              </a:rPr>
              <a:t>AB</a:t>
            </a:r>
            <a:r>
              <a:rPr lang="en-US" b="1" dirty="0">
                <a:solidFill>
                  <a:schemeClr val="accent1"/>
                </a:solidFill>
              </a:rPr>
              <a:t> + </a:t>
            </a:r>
            <a:r>
              <a:rPr lang="en-US" b="1" i="1" dirty="0">
                <a:solidFill>
                  <a:schemeClr val="accent1"/>
                </a:solidFill>
              </a:rPr>
              <a:t>ABC)</a:t>
            </a:r>
            <a:endParaRPr lang="en-US" b="1" dirty="0">
              <a:solidFill>
                <a:schemeClr val="accent1"/>
              </a:solidFill>
            </a:endParaRPr>
          </a:p>
          <a:p>
            <a:pPr>
              <a:buFontTx/>
              <a:buNone/>
            </a:pPr>
            <a:r>
              <a:rPr lang="en-US" dirty="0"/>
              <a:t>       = </a:t>
            </a:r>
            <a:r>
              <a:rPr lang="en-US" i="1" dirty="0"/>
              <a:t>A</a:t>
            </a:r>
            <a:r>
              <a:rPr lang="en-US" dirty="0"/>
              <a:t>(</a:t>
            </a:r>
            <a:r>
              <a:rPr lang="en-US" b="1" i="1" dirty="0">
                <a:solidFill>
                  <a:srgbClr val="FF0000"/>
                </a:solidFill>
              </a:rPr>
              <a:t>AB(</a:t>
            </a:r>
            <a:r>
              <a:rPr lang="en-US" b="1" dirty="0">
                <a:solidFill>
                  <a:srgbClr val="FF0000"/>
                </a:solidFill>
              </a:rPr>
              <a:t>1 + </a:t>
            </a:r>
            <a:r>
              <a:rPr lang="en-US" b="1" i="1" dirty="0">
                <a:solidFill>
                  <a:srgbClr val="FF0000"/>
                </a:solidFill>
              </a:rPr>
              <a:t>C</a:t>
            </a:r>
            <a:r>
              <a:rPr lang="en-US" b="1" dirty="0">
                <a:solidFill>
                  <a:srgbClr val="FF0000"/>
                </a:solidFill>
              </a:rPr>
              <a:t>)</a:t>
            </a:r>
            <a:r>
              <a:rPr lang="en-US" dirty="0">
                <a:solidFill>
                  <a:srgbClr val="FF0000"/>
                </a:solidFill>
              </a:rPr>
              <a:t>)</a:t>
            </a:r>
            <a:r>
              <a:rPr lang="en-US" dirty="0"/>
              <a:t>		T8: </a:t>
            </a:r>
            <a:r>
              <a:rPr lang="en-US" dirty="0" err="1"/>
              <a:t>Distributivity</a:t>
            </a:r>
            <a:endParaRPr lang="en-US" dirty="0"/>
          </a:p>
          <a:p>
            <a:pPr>
              <a:buFontTx/>
              <a:buNone/>
            </a:pPr>
            <a:r>
              <a:rPr lang="en-US" dirty="0"/>
              <a:t>       = </a:t>
            </a:r>
            <a:r>
              <a:rPr lang="en-US" i="1" dirty="0"/>
              <a:t>A</a:t>
            </a:r>
            <a:r>
              <a:rPr lang="en-US" dirty="0"/>
              <a:t>(</a:t>
            </a:r>
            <a:r>
              <a:rPr lang="en-US" i="1" dirty="0"/>
              <a:t>AB</a:t>
            </a:r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1</a:t>
            </a:r>
            <a:r>
              <a:rPr lang="en-US" dirty="0"/>
              <a:t>))			T2’: Null Element</a:t>
            </a:r>
          </a:p>
          <a:p>
            <a:pPr>
              <a:buFontTx/>
              <a:buNone/>
            </a:pPr>
            <a:r>
              <a:rPr lang="en-US" dirty="0"/>
              <a:t>       = </a:t>
            </a:r>
            <a:r>
              <a:rPr lang="en-US" i="1" dirty="0"/>
              <a:t>A</a:t>
            </a:r>
            <a:r>
              <a:rPr lang="en-US" dirty="0"/>
              <a:t>(</a:t>
            </a:r>
            <a:r>
              <a:rPr lang="en-US" b="1" i="1" dirty="0">
                <a:solidFill>
                  <a:srgbClr val="FF0000"/>
                </a:solidFill>
              </a:rPr>
              <a:t>AB</a:t>
            </a:r>
            <a:r>
              <a:rPr lang="en-US" dirty="0"/>
              <a:t>)			T1: Identity</a:t>
            </a:r>
          </a:p>
          <a:p>
            <a:pPr>
              <a:buFontTx/>
              <a:buNone/>
            </a:pPr>
            <a:r>
              <a:rPr lang="en-US" dirty="0"/>
              <a:t>	   = </a:t>
            </a:r>
            <a:r>
              <a:rPr lang="en-US" b="1" dirty="0">
                <a:solidFill>
                  <a:srgbClr val="FF0000"/>
                </a:solidFill>
              </a:rPr>
              <a:t>(</a:t>
            </a:r>
            <a:r>
              <a:rPr lang="en-US" b="1" i="1" dirty="0">
                <a:solidFill>
                  <a:srgbClr val="FF0000"/>
                </a:solidFill>
              </a:rPr>
              <a:t>AA</a:t>
            </a:r>
            <a:r>
              <a:rPr lang="en-US" b="1" dirty="0">
                <a:solidFill>
                  <a:srgbClr val="FF0000"/>
                </a:solidFill>
              </a:rPr>
              <a:t>)</a:t>
            </a:r>
            <a:r>
              <a:rPr lang="en-US" i="1" dirty="0"/>
              <a:t>B	</a:t>
            </a:r>
            <a:r>
              <a:rPr lang="en-US" dirty="0"/>
              <a:t>		T7: Associativity</a:t>
            </a:r>
          </a:p>
          <a:p>
            <a:pPr>
              <a:buFontTx/>
              <a:buNone/>
            </a:pPr>
            <a:r>
              <a:rPr lang="en-US" dirty="0"/>
              <a:t>       = </a:t>
            </a:r>
            <a:r>
              <a:rPr lang="en-US" b="1" i="1" dirty="0">
                <a:solidFill>
                  <a:srgbClr val="FF0000"/>
                </a:solidFill>
              </a:rPr>
              <a:t>A</a:t>
            </a:r>
            <a:r>
              <a:rPr lang="en-US" i="1" dirty="0"/>
              <a:t>B</a:t>
            </a:r>
            <a:r>
              <a:rPr lang="en-US" dirty="0"/>
              <a:t>				T3: </a:t>
            </a:r>
            <a:r>
              <a:rPr lang="en-US" dirty="0" err="1"/>
              <a:t>Idempotency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Simplifying Boolean Equations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838200" y="972234"/>
            <a:ext cx="3505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Example 3: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25020" y="2057400"/>
            <a:ext cx="7590380" cy="3657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DBBD8EE-FF0E-D448-975C-A78978342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55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376002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Simplification methods</a:t>
            </a:r>
          </a:p>
        </p:txBody>
      </p:sp>
      <p:cxnSp>
        <p:nvCxnSpPr>
          <p:cNvPr id="14" name="Straight Connector 13"/>
          <p:cNvCxnSpPr/>
          <p:nvPr/>
        </p:nvCxnSpPr>
        <p:spPr>
          <a:xfrm>
            <a:off x="4800600" y="3200400"/>
            <a:ext cx="228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4722240" y="4772022"/>
            <a:ext cx="15456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4419600" y="2590800"/>
            <a:ext cx="1651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4285800" y="5181600"/>
            <a:ext cx="15075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5286600" y="5181600"/>
            <a:ext cx="15613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4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33400" y="957940"/>
            <a:ext cx="81026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2200" b="1" dirty="0" err="1">
                <a:latin typeface="+mj-lt"/>
                <a:cs typeface="Arial" charset="0"/>
              </a:rPr>
              <a:t>Distributivity</a:t>
            </a:r>
            <a:r>
              <a:rPr lang="en-US" sz="2200" b="1" dirty="0">
                <a:latin typeface="+mj-lt"/>
                <a:cs typeface="Arial" charset="0"/>
              </a:rPr>
              <a:t> (T8, T8’)</a:t>
            </a:r>
            <a:r>
              <a:rPr lang="en-US" sz="2200" dirty="0">
                <a:latin typeface="+mj-lt"/>
                <a:cs typeface="Arial" charset="0"/>
              </a:rPr>
              <a:t>      	B (C+D) = BC + BD</a:t>
            </a:r>
          </a:p>
          <a:p>
            <a:pPr marL="0" lvl="1">
              <a:spcBef>
                <a:spcPct val="20000"/>
              </a:spcBef>
            </a:pPr>
            <a:r>
              <a:rPr lang="en-US" sz="2200" dirty="0">
                <a:latin typeface="+mj-lt"/>
                <a:cs typeface="Arial" charset="0"/>
              </a:rPr>
              <a:t>      				B + CD = (B+ C)(B+D)</a:t>
            </a:r>
          </a:p>
          <a:p>
            <a:pPr marL="0" lvl="1">
              <a:spcBef>
                <a:spcPct val="20000"/>
              </a:spcBef>
            </a:pPr>
            <a:endParaRPr lang="en-US" sz="1000" b="1" dirty="0">
              <a:latin typeface="+mj-lt"/>
              <a:cs typeface="Arial" charset="0"/>
            </a:endParaRPr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chemeClr val="accent1"/>
                </a:solidFill>
                <a:latin typeface="+mj-lt"/>
                <a:cs typeface="Arial" charset="0"/>
              </a:rPr>
              <a:t>Covering (T9’)		A + AP = A</a:t>
            </a:r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sz="1000" dirty="0">
              <a:latin typeface="+mj-lt"/>
              <a:cs typeface="Arial" charset="0"/>
            </a:endParaRPr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2200" b="1" dirty="0">
                <a:latin typeface="+mj-lt"/>
                <a:cs typeface="Arial" charset="0"/>
              </a:rPr>
              <a:t>Combining (T10)       </a:t>
            </a:r>
            <a:r>
              <a:rPr lang="en-US" sz="2200" dirty="0">
                <a:latin typeface="+mj-lt"/>
                <a:cs typeface="Arial" charset="0"/>
              </a:rPr>
              <a:t>	PA + PA = P</a:t>
            </a:r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sz="1000" b="1" dirty="0">
              <a:latin typeface="+mj-lt"/>
              <a:cs typeface="Arial" charset="0"/>
            </a:endParaRPr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2200" b="1" dirty="0">
                <a:latin typeface="+mj-lt"/>
                <a:cs typeface="Arial" charset="0"/>
              </a:rPr>
              <a:t>Expansion			</a:t>
            </a:r>
            <a:r>
              <a:rPr lang="en-US" sz="2200" dirty="0">
                <a:latin typeface="+mj-lt"/>
                <a:cs typeface="Arial" charset="0"/>
              </a:rPr>
              <a:t>P = PA + PA</a:t>
            </a:r>
          </a:p>
          <a:p>
            <a:pPr>
              <a:spcBef>
                <a:spcPct val="20000"/>
              </a:spcBef>
            </a:pPr>
            <a:r>
              <a:rPr lang="en-US" sz="2200" b="1" dirty="0">
                <a:latin typeface="+mj-lt"/>
                <a:cs typeface="Arial" charset="0"/>
              </a:rPr>
              <a:t>       				</a:t>
            </a:r>
            <a:r>
              <a:rPr lang="en-US" sz="2200" dirty="0">
                <a:latin typeface="+mj-lt"/>
                <a:cs typeface="Arial" charset="0"/>
              </a:rPr>
              <a:t>A = A + AP</a:t>
            </a:r>
          </a:p>
          <a:p>
            <a:pPr>
              <a:spcBef>
                <a:spcPct val="20000"/>
              </a:spcBef>
            </a:pPr>
            <a:endParaRPr lang="en-US" sz="1000" dirty="0">
              <a:latin typeface="+mj-lt"/>
              <a:cs typeface="Arial" charset="0"/>
            </a:endParaRPr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2200" b="1" dirty="0" err="1">
                <a:latin typeface="+mj-lt"/>
                <a:cs typeface="Arial" charset="0"/>
              </a:rPr>
              <a:t>Idempotency</a:t>
            </a:r>
            <a:r>
              <a:rPr lang="en-US" sz="2200" b="1" dirty="0">
                <a:latin typeface="+mj-lt"/>
                <a:cs typeface="Arial" charset="0"/>
              </a:rPr>
              <a:t> (duplication)	</a:t>
            </a:r>
            <a:r>
              <a:rPr lang="en-US" sz="2200" dirty="0">
                <a:latin typeface="+mj-lt"/>
                <a:cs typeface="Arial" charset="0"/>
              </a:rPr>
              <a:t>A = A + A</a:t>
            </a:r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sz="1000" b="1" dirty="0">
              <a:latin typeface="+mj-lt"/>
              <a:cs typeface="Arial" charset="0"/>
            </a:endParaRPr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2200" b="1" dirty="0">
                <a:latin typeface="+mj-lt"/>
                <a:cs typeface="Arial" charset="0"/>
              </a:rPr>
              <a:t>“Simplification” theorem</a:t>
            </a:r>
            <a:r>
              <a:rPr lang="en-US" sz="2200" dirty="0">
                <a:latin typeface="+mj-lt"/>
                <a:cs typeface="Arial" charset="0"/>
              </a:rPr>
              <a:t>	A + AP = A + P</a:t>
            </a:r>
          </a:p>
          <a:p>
            <a:pPr lvl="2">
              <a:spcBef>
                <a:spcPct val="20000"/>
              </a:spcBef>
            </a:pPr>
            <a:r>
              <a:rPr lang="en-US" sz="2200" dirty="0">
                <a:latin typeface="+mj-lt"/>
                <a:cs typeface="Arial" charset="0"/>
              </a:rPr>
              <a:t>			A + AP = A + P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305CB6C-1C14-254E-B771-59E8C9F24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56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5016338"/>
      </p:ext>
    </p:extLst>
  </p:cSld>
  <p:clrMapOvr>
    <a:masterClrMapping/>
  </p:clrMapOvr>
  <p:transition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507" name="Rectangle 3"/>
          <p:cNvSpPr>
            <a:spLocks noGrp="1" noChangeArrowheads="1"/>
          </p:cNvSpPr>
          <p:nvPr>
            <p:ph idx="1"/>
            <p:custDataLst>
              <p:tags r:id="rId1"/>
            </p:custDataLst>
          </p:nvPr>
        </p:nvSpPr>
        <p:spPr>
          <a:xfrm>
            <a:off x="1257300" y="1524000"/>
            <a:ext cx="7886700" cy="499527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</a:rPr>
              <a:t>Y = A’BC + A’</a:t>
            </a:r>
            <a:r>
              <a:rPr lang="en-US" b="1" dirty="0">
                <a:solidFill>
                  <a:schemeClr val="accent1"/>
                </a:solidFill>
              </a:rPr>
              <a:t>		</a:t>
            </a:r>
            <a:r>
              <a:rPr lang="en-US" b="1" dirty="0"/>
              <a:t>Recall:</a:t>
            </a:r>
            <a:r>
              <a:rPr lang="en-US" b="1" dirty="0">
                <a:solidFill>
                  <a:schemeClr val="accent1"/>
                </a:solidFill>
              </a:rPr>
              <a:t> </a:t>
            </a:r>
            <a:r>
              <a:rPr lang="en-US" b="1" dirty="0">
                <a:solidFill>
                  <a:srgbClr val="0070C0"/>
                </a:solidFill>
              </a:rPr>
              <a:t>A’ = A</a:t>
            </a:r>
          </a:p>
          <a:p>
            <a:pPr marL="0" indent="0">
              <a:buNone/>
            </a:pPr>
            <a:endParaRPr lang="en-US" b="1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Note:</a:t>
            </a:r>
          </a:p>
          <a:p>
            <a:r>
              <a:rPr lang="en-US" sz="3000" dirty="0"/>
              <a:t>A‘ is shorthand for A.</a:t>
            </a:r>
          </a:p>
          <a:p>
            <a:r>
              <a:rPr lang="en-US" sz="3000" dirty="0"/>
              <a:t>But use the tick symbol (‘) </a:t>
            </a:r>
            <a:r>
              <a:rPr lang="en-US" sz="3000" b="1" dirty="0"/>
              <a:t>only when typing. </a:t>
            </a:r>
          </a:p>
          <a:p>
            <a:r>
              <a:rPr lang="en-US" sz="3000" dirty="0"/>
              <a:t>It’s easy to lose ticks (‘) when writing by hand!</a:t>
            </a:r>
          </a:p>
          <a:p>
            <a:r>
              <a:rPr lang="en-US" sz="3000" dirty="0"/>
              <a:t>It is strongly recommended that you simplify equations by writing by hand.	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Simplifying Boolean Equations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838200" y="972234"/>
            <a:ext cx="3505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Example 4: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4635500" y="3352800"/>
            <a:ext cx="1651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6965896" y="1636645"/>
            <a:ext cx="165100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1231127" y="2667000"/>
            <a:ext cx="7696200" cy="3276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05E9659-B743-D745-93C6-19FEA28A3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57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288310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507" name="Rectangle 3"/>
          <p:cNvSpPr>
            <a:spLocks noGrp="1" noChangeArrowheads="1"/>
          </p:cNvSpPr>
          <p:nvPr>
            <p:ph idx="1"/>
            <p:custDataLst>
              <p:tags r:id="rId1"/>
            </p:custDataLst>
          </p:nvPr>
        </p:nvSpPr>
        <p:spPr>
          <a:xfrm>
            <a:off x="1257300" y="1524000"/>
            <a:ext cx="7886700" cy="499527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</a:rPr>
              <a:t>Y = A’BC + A’</a:t>
            </a:r>
            <a:r>
              <a:rPr lang="en-US" b="1" dirty="0">
                <a:solidFill>
                  <a:schemeClr val="accent1"/>
                </a:solidFill>
              </a:rPr>
              <a:t>		</a:t>
            </a:r>
            <a:r>
              <a:rPr lang="en-US" b="1" dirty="0"/>
              <a:t>Recall:</a:t>
            </a:r>
            <a:r>
              <a:rPr lang="en-US" b="1" dirty="0">
                <a:solidFill>
                  <a:schemeClr val="accent1"/>
                </a:solidFill>
              </a:rPr>
              <a:t> </a:t>
            </a:r>
            <a:r>
              <a:rPr lang="en-US" b="1" dirty="0">
                <a:solidFill>
                  <a:srgbClr val="0070C0"/>
                </a:solidFill>
              </a:rPr>
              <a:t>A’ = A</a:t>
            </a:r>
            <a:endParaRPr lang="en-US" b="1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US" dirty="0"/>
              <a:t>   = A’				T9’ Covering: X + XY = X</a:t>
            </a:r>
          </a:p>
          <a:p>
            <a:pPr marL="0" indent="0">
              <a:buNone/>
            </a:pPr>
            <a:r>
              <a:rPr lang="en-US" dirty="0"/>
              <a:t>or </a:t>
            </a:r>
            <a:r>
              <a:rPr lang="en-US" b="1" dirty="0">
                <a:solidFill>
                  <a:schemeClr val="accent1"/>
                </a:solidFill>
              </a:rPr>
              <a:t>		</a:t>
            </a:r>
          </a:p>
          <a:p>
            <a:pPr>
              <a:buFontTx/>
              <a:buNone/>
            </a:pPr>
            <a:r>
              <a:rPr lang="en-US" dirty="0"/>
              <a:t>   = A’(BC + 1)		T8: </a:t>
            </a:r>
            <a:r>
              <a:rPr lang="en-US" dirty="0" err="1"/>
              <a:t>Distributivity</a:t>
            </a:r>
            <a:endParaRPr lang="en-US" dirty="0"/>
          </a:p>
          <a:p>
            <a:pPr>
              <a:buFontTx/>
              <a:buNone/>
            </a:pPr>
            <a:r>
              <a:rPr lang="en-US" dirty="0"/>
              <a:t>   = A’(</a:t>
            </a:r>
            <a:r>
              <a:rPr lang="en-US" b="1" dirty="0"/>
              <a:t>1</a:t>
            </a:r>
            <a:r>
              <a:rPr lang="en-US" dirty="0"/>
              <a:t>)			T2’: Null Element</a:t>
            </a:r>
          </a:p>
          <a:p>
            <a:pPr>
              <a:buFontTx/>
              <a:buNone/>
            </a:pPr>
            <a:r>
              <a:rPr lang="en-US" dirty="0"/>
              <a:t>   =</a:t>
            </a:r>
            <a:r>
              <a:rPr lang="en-US" i="1" dirty="0"/>
              <a:t> </a:t>
            </a:r>
            <a:r>
              <a:rPr lang="en-US" b="1" dirty="0"/>
              <a:t>A’</a:t>
            </a:r>
            <a:r>
              <a:rPr lang="en-US" dirty="0"/>
              <a:t>				T1: Identity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Simplifying Boolean Equations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838200" y="972234"/>
            <a:ext cx="3505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Example 4: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31127" y="2057400"/>
            <a:ext cx="7696200" cy="685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383527" y="3276600"/>
            <a:ext cx="7696200" cy="2133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965896" y="1636645"/>
            <a:ext cx="165100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CBA29B-87BF-664E-AA80-D1A84A625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58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45468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57201" y="1066800"/>
            <a:ext cx="826225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An expression is in </a:t>
            </a:r>
            <a:r>
              <a:rPr lang="en-US" sz="3600" b="1" dirty="0"/>
              <a:t>sum-of-products (SOP)</a:t>
            </a:r>
            <a:r>
              <a:rPr lang="en-US" sz="3600" dirty="0"/>
              <a:t> form when all products contain literals only.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rgbClr val="00B050"/>
                </a:solidFill>
              </a:rPr>
              <a:t>SOP form: 		</a:t>
            </a:r>
            <a:r>
              <a:rPr lang="en-US" sz="3600" dirty="0"/>
              <a:t>Y = AB + BC’ + DE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rgbClr val="FF0000"/>
                </a:solidFill>
              </a:rPr>
              <a:t>NOT SOP form: 	</a:t>
            </a:r>
            <a:r>
              <a:rPr lang="en-US" sz="3600" dirty="0"/>
              <a:t>Y = DF + E(A’+B)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rgbClr val="00B050"/>
                </a:solidFill>
              </a:rPr>
              <a:t>SOP form: 		</a:t>
            </a:r>
            <a:r>
              <a:rPr lang="en-US" sz="3600" dirty="0"/>
              <a:t>Z = A + BC + DE’F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6200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Multiplying Out: SOP Form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B642E29-0057-C548-84BC-530014D32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59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267683"/>
      </p:ext>
    </p:extLst>
  </p:cSld>
  <p:clrMapOvr>
    <a:masterClrMapping/>
  </p:clrMapOvr>
  <p:transition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Multiplying Out: SOP Form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838200" y="972234"/>
            <a:ext cx="3505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Example 5: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71181" y="5848290"/>
            <a:ext cx="41106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This method is called </a:t>
            </a:r>
            <a:r>
              <a:rPr lang="en-US" sz="2000" b="1" i="1" dirty="0">
                <a:solidFill>
                  <a:srgbClr val="0070C0"/>
                </a:solidFill>
              </a:rPr>
              <a:t>multiplying out</a:t>
            </a:r>
            <a:r>
              <a:rPr lang="en-US" sz="2000" b="1" dirty="0"/>
              <a:t>.</a:t>
            </a:r>
          </a:p>
        </p:txBody>
      </p:sp>
      <p:sp>
        <p:nvSpPr>
          <p:cNvPr id="5" name="Rectangle 4"/>
          <p:cNvSpPr/>
          <p:nvPr/>
        </p:nvSpPr>
        <p:spPr>
          <a:xfrm>
            <a:off x="2662481" y="5894456"/>
            <a:ext cx="4119319" cy="353943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3"/>
          <p:cNvSpPr>
            <a:spLocks noGrp="1" noChangeArrowheads="1"/>
          </p:cNvSpPr>
          <p:nvPr>
            <p:ph idx="1"/>
            <p:custDataLst>
              <p:tags r:id="rId1"/>
            </p:custDataLst>
          </p:nvPr>
        </p:nvSpPr>
        <p:spPr>
          <a:xfrm>
            <a:off x="1263650" y="1529348"/>
            <a:ext cx="7886700" cy="499527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</a:rPr>
              <a:t>Y = (A + C + D + E)(A + B)</a:t>
            </a:r>
          </a:p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     </a:t>
            </a:r>
            <a:r>
              <a:rPr lang="en-US" sz="2000" b="1" dirty="0"/>
              <a:t>Apply T8’ first when possible: </a:t>
            </a:r>
            <a:r>
              <a:rPr lang="en-US" sz="2000" dirty="0"/>
              <a:t>W+XZ = (W+X)(W+Z)</a:t>
            </a:r>
          </a:p>
          <a:p>
            <a:pPr marL="0" indent="0">
              <a:buNone/>
            </a:pPr>
            <a:r>
              <a:rPr lang="en-US" sz="2000" dirty="0"/>
              <a:t>     Make: X = (C+D+E), Z = B and rewrite equation</a:t>
            </a:r>
          </a:p>
          <a:p>
            <a:pPr marL="0" indent="0">
              <a:buNone/>
            </a:pPr>
            <a:r>
              <a:rPr lang="en-US" sz="2000" dirty="0"/>
              <a:t>          Y	= (A+</a:t>
            </a:r>
            <a:r>
              <a:rPr lang="en-US" sz="2000" b="1" dirty="0">
                <a:solidFill>
                  <a:srgbClr val="FF0000"/>
                </a:solidFill>
              </a:rPr>
              <a:t>X</a:t>
            </a:r>
            <a:r>
              <a:rPr lang="en-US" sz="2000" dirty="0"/>
              <a:t>)(A+</a:t>
            </a:r>
            <a:r>
              <a:rPr lang="en-US" sz="2000" b="1" dirty="0">
                <a:solidFill>
                  <a:srgbClr val="0070C0"/>
                </a:solidFill>
              </a:rPr>
              <a:t>Z</a:t>
            </a:r>
            <a:r>
              <a:rPr lang="en-US" sz="2000" dirty="0"/>
              <a:t>)			substitution (</a:t>
            </a:r>
            <a:r>
              <a:rPr lang="en-US" sz="2000" b="1" dirty="0">
                <a:solidFill>
                  <a:srgbClr val="FF0000"/>
                </a:solidFill>
              </a:rPr>
              <a:t>X</a:t>
            </a:r>
            <a:r>
              <a:rPr lang="en-US" sz="2000" dirty="0"/>
              <a:t>=(C+D+E), </a:t>
            </a:r>
            <a:r>
              <a:rPr lang="en-US" sz="2000" b="1" dirty="0">
                <a:solidFill>
                  <a:srgbClr val="0070C0"/>
                </a:solidFill>
              </a:rPr>
              <a:t>Z</a:t>
            </a:r>
            <a:r>
              <a:rPr lang="en-US" sz="2000" dirty="0"/>
              <a:t>=B)</a:t>
            </a:r>
          </a:p>
          <a:p>
            <a:pPr marL="0" indent="0">
              <a:buNone/>
            </a:pPr>
            <a:r>
              <a:rPr lang="en-US" sz="2000" dirty="0"/>
              <a:t>   	= A + </a:t>
            </a:r>
            <a:r>
              <a:rPr lang="en-US" sz="2000" b="1" dirty="0">
                <a:solidFill>
                  <a:srgbClr val="FF0000"/>
                </a:solidFill>
              </a:rPr>
              <a:t>X</a:t>
            </a:r>
            <a:r>
              <a:rPr lang="en-US" sz="2000" b="1" dirty="0">
                <a:solidFill>
                  <a:srgbClr val="0070C0"/>
                </a:solidFill>
              </a:rPr>
              <a:t>Z</a:t>
            </a:r>
            <a:r>
              <a:rPr lang="en-US" sz="2000" dirty="0"/>
              <a:t>				T8’: </a:t>
            </a:r>
            <a:r>
              <a:rPr lang="en-US" sz="2000" dirty="0" err="1"/>
              <a:t>Distributivity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	= A + </a:t>
            </a:r>
            <a:r>
              <a:rPr lang="en-US" sz="2000" b="1" dirty="0">
                <a:solidFill>
                  <a:srgbClr val="FF0000"/>
                </a:solidFill>
              </a:rPr>
              <a:t>(C+D+E)</a:t>
            </a:r>
            <a:r>
              <a:rPr lang="en-US" sz="2000" b="1" dirty="0">
                <a:solidFill>
                  <a:srgbClr val="0070C0"/>
                </a:solidFill>
              </a:rPr>
              <a:t>B</a:t>
            </a:r>
            <a:r>
              <a:rPr lang="en-US" sz="2000" dirty="0"/>
              <a:t>			substitution</a:t>
            </a:r>
          </a:p>
          <a:p>
            <a:pPr marL="0" indent="0">
              <a:buNone/>
            </a:pPr>
            <a:r>
              <a:rPr lang="en-US" sz="2000" dirty="0"/>
              <a:t>	= A + BC + BD + BE		T8: </a:t>
            </a:r>
            <a:r>
              <a:rPr lang="en-US" sz="2000" dirty="0" err="1"/>
              <a:t>Distributivity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or </a:t>
            </a:r>
            <a:r>
              <a:rPr lang="en-US" sz="2000" b="1" dirty="0">
                <a:solidFill>
                  <a:schemeClr val="accent1"/>
                </a:solidFill>
              </a:rPr>
              <a:t>		</a:t>
            </a:r>
          </a:p>
          <a:p>
            <a:pPr>
              <a:buFontTx/>
              <a:buNone/>
            </a:pPr>
            <a:r>
              <a:rPr lang="en-US" sz="2000" dirty="0"/>
              <a:t>          Y	= AA+AB+AC+BC+AD+BD+AE+BE 	T8: </a:t>
            </a:r>
            <a:r>
              <a:rPr lang="en-US" sz="2000" dirty="0" err="1"/>
              <a:t>Distributivity</a:t>
            </a:r>
            <a:endParaRPr lang="en-US" sz="2000" dirty="0"/>
          </a:p>
          <a:p>
            <a:pPr>
              <a:buFontTx/>
              <a:buNone/>
            </a:pPr>
            <a:r>
              <a:rPr lang="en-US" sz="2000" dirty="0"/>
              <a:t>          	= </a:t>
            </a:r>
            <a:r>
              <a:rPr lang="en-US" sz="2000" b="1" dirty="0">
                <a:solidFill>
                  <a:srgbClr val="FF0000"/>
                </a:solidFill>
              </a:rPr>
              <a:t>A</a:t>
            </a:r>
            <a:r>
              <a:rPr lang="en-US" sz="2000" dirty="0"/>
              <a:t>+AB+AC+AD+AE+BC+BD+BE	T3: </a:t>
            </a:r>
            <a:r>
              <a:rPr lang="en-US" sz="2000" dirty="0" err="1"/>
              <a:t>Idempotency</a:t>
            </a:r>
            <a:endParaRPr lang="en-US" sz="2000" dirty="0"/>
          </a:p>
          <a:p>
            <a:pPr>
              <a:buFontTx/>
              <a:buNone/>
            </a:pPr>
            <a:r>
              <a:rPr lang="en-US" sz="2000" dirty="0"/>
              <a:t>          	= </a:t>
            </a:r>
            <a:r>
              <a:rPr lang="en-US" sz="2000" b="1" dirty="0">
                <a:solidFill>
                  <a:srgbClr val="FF0000"/>
                </a:solidFill>
              </a:rPr>
              <a:t>A</a:t>
            </a:r>
            <a:r>
              <a:rPr lang="en-US" sz="2000" dirty="0"/>
              <a:t> +                            BC+BD+BE	T9’: Covering</a:t>
            </a:r>
            <a:r>
              <a:rPr lang="en-US" sz="2000" b="1" dirty="0"/>
              <a:t> </a:t>
            </a:r>
            <a:r>
              <a:rPr lang="en-US" sz="2000" dirty="0"/>
              <a:t>		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715000" y="1295400"/>
            <a:ext cx="320145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</a:rPr>
              <a:t>Recommended Method</a:t>
            </a:r>
            <a:endParaRPr lang="en-US" sz="2400" dirty="0"/>
          </a:p>
        </p:txBody>
      </p:sp>
      <p:cxnSp>
        <p:nvCxnSpPr>
          <p:cNvPr id="33" name="Straight Arrow Connector 32"/>
          <p:cNvCxnSpPr/>
          <p:nvPr/>
        </p:nvCxnSpPr>
        <p:spPr>
          <a:xfrm flipH="1">
            <a:off x="7162800" y="1905000"/>
            <a:ext cx="609600" cy="819150"/>
          </a:xfrm>
          <a:prstGeom prst="straightConnector1">
            <a:avLst/>
          </a:prstGeom>
          <a:ln w="381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1219200" y="2438400"/>
            <a:ext cx="7848600" cy="1828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/>
          <p:cNvSpPr/>
          <p:nvPr/>
        </p:nvSpPr>
        <p:spPr>
          <a:xfrm>
            <a:off x="1371600" y="4724400"/>
            <a:ext cx="7620000" cy="990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/>
          <p:cNvSpPr/>
          <p:nvPr/>
        </p:nvSpPr>
        <p:spPr>
          <a:xfrm>
            <a:off x="1524000" y="5848290"/>
            <a:ext cx="7543800" cy="4763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5410200" y="1295399"/>
            <a:ext cx="3733800" cy="8382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7010400" y="1447799"/>
            <a:ext cx="2057400" cy="13716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5CDA29C-0B38-9940-BC84-CFA1AFA1D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60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639339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36" grpId="0" animBg="1"/>
      <p:bldP spid="37" grpId="0" animBg="1"/>
      <p:bldP spid="16" grpId="0" animBg="1"/>
      <p:bldP spid="17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507" name="Rectangle 3"/>
          <p:cNvSpPr>
            <a:spLocks noGrp="1" noChangeArrowheads="1"/>
          </p:cNvSpPr>
          <p:nvPr>
            <p:ph idx="1"/>
            <p:custDataLst>
              <p:tags r:id="rId1"/>
            </p:custDataLst>
          </p:nvPr>
        </p:nvSpPr>
        <p:spPr>
          <a:xfrm>
            <a:off x="1257300" y="1524000"/>
            <a:ext cx="7886700" cy="499527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</a:rPr>
              <a:t>Y = AB + BC +B’D’ + AC’D’</a:t>
            </a:r>
          </a:p>
          <a:p>
            <a:pPr marL="0" indent="0">
              <a:buNone/>
            </a:pPr>
            <a:r>
              <a:rPr lang="en-US" sz="2400" b="1" dirty="0"/>
              <a:t>Method 1:</a:t>
            </a:r>
          </a:p>
          <a:p>
            <a:pPr marL="0" indent="0">
              <a:buNone/>
            </a:pPr>
            <a:r>
              <a:rPr lang="en-US" sz="2400" dirty="0"/>
              <a:t>     Y = AB + BC + B’D’ + </a:t>
            </a:r>
            <a:r>
              <a:rPr lang="en-US" sz="2400" b="1" dirty="0">
                <a:solidFill>
                  <a:srgbClr val="FF0000"/>
                </a:solidFill>
              </a:rPr>
              <a:t>(ABC’D’ + AB’C’D’)</a:t>
            </a:r>
            <a:r>
              <a:rPr lang="en-US" sz="2400" dirty="0"/>
              <a:t>	T10: Combining</a:t>
            </a:r>
          </a:p>
          <a:p>
            <a:pPr marL="0" indent="0">
              <a:buNone/>
            </a:pPr>
            <a:r>
              <a:rPr lang="en-US" sz="2400" dirty="0"/>
              <a:t>       = (AB + </a:t>
            </a:r>
            <a:r>
              <a:rPr lang="en-US" sz="2400" b="1" dirty="0">
                <a:solidFill>
                  <a:srgbClr val="FF0000"/>
                </a:solidFill>
              </a:rPr>
              <a:t>ABC’D’</a:t>
            </a:r>
            <a:r>
              <a:rPr lang="en-US" sz="2400" dirty="0"/>
              <a:t>) + BC + (B’D’ + </a:t>
            </a:r>
            <a:r>
              <a:rPr lang="en-US" sz="2400" b="1" dirty="0">
                <a:solidFill>
                  <a:srgbClr val="FF0000"/>
                </a:solidFill>
              </a:rPr>
              <a:t>AB’C’D’</a:t>
            </a:r>
            <a:r>
              <a:rPr lang="en-US" sz="2400" dirty="0"/>
              <a:t>) 	T6:   </a:t>
            </a:r>
            <a:r>
              <a:rPr lang="en-US" sz="2400" dirty="0" err="1"/>
              <a:t>Commutat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r>
              <a:rPr lang="en-US" sz="2400" dirty="0"/>
              <a:t>						T7:   Associativity</a:t>
            </a:r>
          </a:p>
          <a:p>
            <a:pPr marL="0" indent="0">
              <a:buNone/>
            </a:pPr>
            <a:r>
              <a:rPr lang="en-US" sz="2400" dirty="0"/>
              <a:t>       = </a:t>
            </a:r>
            <a:r>
              <a:rPr lang="en-US" sz="2400" b="1" dirty="0">
                <a:solidFill>
                  <a:srgbClr val="FF0000"/>
                </a:solidFill>
              </a:rPr>
              <a:t>AB</a:t>
            </a:r>
            <a:r>
              <a:rPr lang="en-US" sz="2400" dirty="0"/>
              <a:t> + BC + </a:t>
            </a:r>
            <a:r>
              <a:rPr lang="en-US" sz="2400" b="1" dirty="0">
                <a:solidFill>
                  <a:srgbClr val="FF0000"/>
                </a:solidFill>
              </a:rPr>
              <a:t>B’D’</a:t>
            </a:r>
            <a:r>
              <a:rPr lang="en-US" sz="2400" dirty="0"/>
              <a:t>				T9:   Covering</a:t>
            </a:r>
          </a:p>
          <a:p>
            <a:pPr marL="0" indent="0">
              <a:buNone/>
            </a:pPr>
            <a:r>
              <a:rPr lang="en-US" sz="2400" b="1" dirty="0"/>
              <a:t>Method 2:</a:t>
            </a:r>
          </a:p>
          <a:p>
            <a:pPr marL="0" indent="0">
              <a:buNone/>
            </a:pPr>
            <a:r>
              <a:rPr lang="en-US" sz="2400" dirty="0"/>
              <a:t>     Y = </a:t>
            </a:r>
            <a:r>
              <a:rPr lang="en-US" sz="2400" b="1" dirty="0"/>
              <a:t>AB</a:t>
            </a:r>
            <a:r>
              <a:rPr lang="en-US" sz="2400" dirty="0"/>
              <a:t> + BC + </a:t>
            </a:r>
            <a:r>
              <a:rPr lang="en-US" sz="2400" b="1" dirty="0"/>
              <a:t>B’D</a:t>
            </a:r>
            <a:r>
              <a:rPr lang="en-US" sz="2400" dirty="0"/>
              <a:t>’ + AC’D’ + </a:t>
            </a:r>
            <a:r>
              <a:rPr lang="en-US" sz="2400" b="1" dirty="0">
                <a:solidFill>
                  <a:srgbClr val="FF0000"/>
                </a:solidFill>
              </a:rPr>
              <a:t>AD’</a:t>
            </a:r>
            <a:r>
              <a:rPr lang="en-US" sz="2400" dirty="0"/>
              <a:t>		T11: Consensus</a:t>
            </a:r>
          </a:p>
          <a:p>
            <a:pPr marL="0" indent="0">
              <a:buNone/>
            </a:pPr>
            <a:r>
              <a:rPr lang="en-US" sz="2400" dirty="0"/>
              <a:t>        = AB + BC + B’D’ + </a:t>
            </a:r>
            <a:r>
              <a:rPr lang="en-US" sz="2400" b="1" dirty="0">
                <a:solidFill>
                  <a:srgbClr val="FF0000"/>
                </a:solidFill>
              </a:rPr>
              <a:t>AD’ </a:t>
            </a:r>
            <a:r>
              <a:rPr lang="en-US" sz="2400" dirty="0"/>
              <a:t>			T9:   Covering</a:t>
            </a:r>
          </a:p>
          <a:p>
            <a:pPr marL="0" indent="0">
              <a:buNone/>
            </a:pPr>
            <a:r>
              <a:rPr lang="en-US" sz="2400" dirty="0"/>
              <a:t>        = AB + BC + B’D’				T11: Consensus</a:t>
            </a: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Simplifying Boolean Equations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838200" y="972234"/>
            <a:ext cx="3505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Example 6:</a:t>
            </a:r>
          </a:p>
        </p:txBody>
      </p:sp>
      <p:sp>
        <p:nvSpPr>
          <p:cNvPr id="7" name="Rectangle 6"/>
          <p:cNvSpPr/>
          <p:nvPr/>
        </p:nvSpPr>
        <p:spPr>
          <a:xfrm>
            <a:off x="1231126" y="2514600"/>
            <a:ext cx="7836673" cy="1752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274859" y="4724400"/>
            <a:ext cx="7836673" cy="1524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B2C20B2-0152-284D-8271-E3EBA87B8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61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868306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Literal and </a:t>
            </a:r>
            <a:r>
              <a:rPr lang="en-US" sz="4400" dirty="0" err="1">
                <a:solidFill>
                  <a:schemeClr val="bg1"/>
                </a:solidFill>
                <a:latin typeface="+mj-lt"/>
              </a:rPr>
              <a:t>implicant</a:t>
            </a:r>
            <a:r>
              <a:rPr lang="en-US" sz="4400" dirty="0">
                <a:solidFill>
                  <a:schemeClr val="bg1"/>
                </a:solidFill>
                <a:latin typeface="+mj-lt"/>
              </a:rPr>
              <a:t> ordering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599" y="1143000"/>
            <a:ext cx="8337917" cy="595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+mj-lt"/>
                <a:cs typeface="Times New Roman" panose="02020603050405020304" pitchFamily="18" charset="0"/>
              </a:rPr>
              <a:t>Variables within an </a:t>
            </a:r>
            <a:r>
              <a:rPr lang="en-US" sz="3200" dirty="0" err="1">
                <a:latin typeface="+mj-lt"/>
                <a:cs typeface="Times New Roman" panose="02020603050405020304" pitchFamily="18" charset="0"/>
              </a:rPr>
              <a:t>implicant</a:t>
            </a:r>
            <a:r>
              <a:rPr lang="en-US" sz="3200" dirty="0">
                <a:latin typeface="+mj-lt"/>
                <a:cs typeface="Times New Roman" panose="02020603050405020304" pitchFamily="18" charset="0"/>
              </a:rPr>
              <a:t> should be in alphabetical order.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+mj-lt"/>
                <a:cs typeface="Times New Roman" panose="02020603050405020304" pitchFamily="18" charset="0"/>
              </a:rPr>
              <a:t>The order of </a:t>
            </a:r>
            <a:r>
              <a:rPr lang="en-US" sz="3200" dirty="0" err="1">
                <a:latin typeface="+mj-lt"/>
                <a:cs typeface="Times New Roman" panose="02020603050405020304" pitchFamily="18" charset="0"/>
              </a:rPr>
              <a:t>implicants</a:t>
            </a:r>
            <a:r>
              <a:rPr lang="en-US" sz="3200" dirty="0">
                <a:latin typeface="+mj-lt"/>
                <a:cs typeface="Times New Roman" panose="02020603050405020304" pitchFamily="18" charset="0"/>
              </a:rPr>
              <a:t> doesn’t matter.</a:t>
            </a:r>
          </a:p>
          <a:p>
            <a:pPr lvl="1"/>
            <a:endParaRPr lang="en-US" sz="1000" dirty="0">
              <a:latin typeface="+mj-lt"/>
              <a:cs typeface="Times New Roman" panose="02020603050405020304" pitchFamily="18" charset="0"/>
            </a:endParaRPr>
          </a:p>
          <a:p>
            <a:pPr lvl="1"/>
            <a:r>
              <a:rPr lang="en-US" sz="2800" b="1" dirty="0">
                <a:solidFill>
                  <a:srgbClr val="0070C0"/>
                </a:solidFill>
                <a:cs typeface="Times New Roman" panose="02020603050405020304" pitchFamily="18" charset="0"/>
              </a:rPr>
              <a:t>Examples:</a:t>
            </a:r>
            <a:r>
              <a:rPr lang="en-US" sz="2800" b="1" dirty="0">
                <a:cs typeface="Times New Roman" panose="02020603050405020304" pitchFamily="18" charset="0"/>
              </a:rPr>
              <a:t> 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800" b="1" dirty="0"/>
              <a:t> Correct: 	</a:t>
            </a:r>
            <a:r>
              <a:rPr lang="en-US" sz="2800" i="1" dirty="0"/>
              <a:t>Y</a:t>
            </a:r>
            <a:r>
              <a:rPr lang="en-US" sz="2800" b="1" dirty="0"/>
              <a:t> </a:t>
            </a:r>
            <a:r>
              <a:rPr lang="en-US" sz="2800" dirty="0"/>
              <a:t>= </a:t>
            </a:r>
            <a:r>
              <a:rPr lang="en-US" sz="2800" i="1" dirty="0"/>
              <a:t>AB</a:t>
            </a:r>
            <a:r>
              <a:rPr lang="en-US" sz="2800" dirty="0"/>
              <a:t> + </a:t>
            </a:r>
            <a:r>
              <a:rPr lang="en-US" sz="2800" i="1" dirty="0"/>
              <a:t>BC</a:t>
            </a:r>
            <a:r>
              <a:rPr lang="en-US" sz="2800" dirty="0"/>
              <a:t> + </a:t>
            </a:r>
            <a:r>
              <a:rPr lang="en-US" sz="2800" i="1" dirty="0"/>
              <a:t>BD</a:t>
            </a:r>
            <a:r>
              <a:rPr lang="en-US" sz="2800" dirty="0"/>
              <a:t> 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800" b="1" dirty="0"/>
              <a:t> Correct: 	</a:t>
            </a:r>
            <a:r>
              <a:rPr lang="en-US" sz="2800" i="1" dirty="0"/>
              <a:t>Y</a:t>
            </a:r>
            <a:r>
              <a:rPr lang="en-US" sz="2800" b="1" dirty="0"/>
              <a:t> </a:t>
            </a:r>
            <a:r>
              <a:rPr lang="en-US" sz="2800" dirty="0"/>
              <a:t>= </a:t>
            </a:r>
            <a:r>
              <a:rPr lang="en-US" sz="2800" i="1" dirty="0"/>
              <a:t>BC</a:t>
            </a:r>
            <a:r>
              <a:rPr lang="en-US" sz="2800" dirty="0"/>
              <a:t> + </a:t>
            </a:r>
            <a:r>
              <a:rPr lang="en-US" sz="2800" i="1" dirty="0"/>
              <a:t>BD + AB</a:t>
            </a:r>
            <a:r>
              <a:rPr lang="en-US" sz="2800" dirty="0"/>
              <a:t> 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800" b="1" dirty="0"/>
              <a:t> </a:t>
            </a:r>
            <a:r>
              <a:rPr lang="en-US" sz="2800" b="1" dirty="0">
                <a:solidFill>
                  <a:srgbClr val="FF0000"/>
                </a:solidFill>
              </a:rPr>
              <a:t>Incorrect: </a:t>
            </a:r>
            <a:r>
              <a:rPr lang="en-US" sz="2800" b="1" dirty="0"/>
              <a:t>	</a:t>
            </a:r>
            <a:r>
              <a:rPr lang="en-US" sz="2800" i="1" dirty="0"/>
              <a:t>Y</a:t>
            </a:r>
            <a:r>
              <a:rPr lang="en-US" sz="2800" b="1" dirty="0"/>
              <a:t> </a:t>
            </a:r>
            <a:r>
              <a:rPr lang="en-US" sz="2800" dirty="0"/>
              <a:t>= </a:t>
            </a:r>
            <a:r>
              <a:rPr lang="en-US" sz="2800" b="1" i="1" dirty="0">
                <a:solidFill>
                  <a:srgbClr val="FF0000"/>
                </a:solidFill>
              </a:rPr>
              <a:t>CB</a:t>
            </a:r>
            <a:r>
              <a:rPr lang="en-US" sz="2800" dirty="0"/>
              <a:t> + </a:t>
            </a:r>
            <a:r>
              <a:rPr lang="en-US" sz="2800" i="1" dirty="0"/>
              <a:t>BD</a:t>
            </a:r>
            <a:r>
              <a:rPr lang="en-US" sz="2800" dirty="0"/>
              <a:t> + </a:t>
            </a:r>
            <a:r>
              <a:rPr lang="en-US" sz="2800" b="1" i="1" dirty="0">
                <a:solidFill>
                  <a:srgbClr val="FF0000"/>
                </a:solidFill>
              </a:rPr>
              <a:t>BA</a:t>
            </a:r>
            <a:r>
              <a:rPr lang="en-US" sz="2800" dirty="0"/>
              <a:t> 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800" b="1" dirty="0"/>
              <a:t> </a:t>
            </a:r>
            <a:r>
              <a:rPr lang="en-US" sz="2800" b="1" dirty="0">
                <a:solidFill>
                  <a:srgbClr val="FF0000"/>
                </a:solidFill>
              </a:rPr>
              <a:t>Incorrect: </a:t>
            </a:r>
            <a:r>
              <a:rPr lang="en-US" sz="2800" b="1" dirty="0"/>
              <a:t>	</a:t>
            </a:r>
            <a:r>
              <a:rPr lang="en-US" sz="2800" i="1" dirty="0"/>
              <a:t>Y</a:t>
            </a:r>
            <a:r>
              <a:rPr lang="en-US" sz="2800" b="1" dirty="0"/>
              <a:t> </a:t>
            </a:r>
            <a:r>
              <a:rPr lang="en-US" sz="2800" dirty="0"/>
              <a:t>= </a:t>
            </a:r>
            <a:r>
              <a:rPr lang="en-US" sz="2800" i="1" dirty="0"/>
              <a:t>AB</a:t>
            </a:r>
            <a:r>
              <a:rPr lang="en-US" sz="2800" dirty="0"/>
              <a:t> + </a:t>
            </a:r>
            <a:r>
              <a:rPr lang="en-US" sz="2800" i="1" dirty="0"/>
              <a:t>BC</a:t>
            </a:r>
            <a:r>
              <a:rPr lang="en-US" sz="2800" dirty="0"/>
              <a:t> + </a:t>
            </a:r>
            <a:r>
              <a:rPr lang="en-US" sz="2800" b="1" i="1" dirty="0">
                <a:solidFill>
                  <a:srgbClr val="FF0000"/>
                </a:solidFill>
              </a:rPr>
              <a:t>DB</a:t>
            </a:r>
            <a:r>
              <a:rPr lang="en-US" sz="2800" dirty="0"/>
              <a:t> 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endParaRPr lang="en-US" sz="2800" dirty="0"/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endParaRPr lang="en-US" sz="2800" dirty="0"/>
          </a:p>
          <a:p>
            <a:pPr>
              <a:lnSpc>
                <a:spcPct val="90000"/>
              </a:lnSpc>
              <a:buFontTx/>
              <a:buNone/>
            </a:pPr>
            <a:endParaRPr lang="en-US" sz="2400" b="1" dirty="0">
              <a:solidFill>
                <a:schemeClr val="accent1"/>
              </a:solidFill>
              <a:latin typeface="+mj-lt"/>
            </a:endParaRPr>
          </a:p>
          <a:p>
            <a:endParaRPr lang="en-US" sz="2400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20" name="Line 7"/>
          <p:cNvSpPr>
            <a:spLocks noChangeShapeType="1"/>
          </p:cNvSpPr>
          <p:nvPr>
            <p:custDataLst>
              <p:tags r:id="rId1"/>
            </p:custDataLst>
          </p:nvPr>
        </p:nvSpPr>
        <p:spPr bwMode="auto">
          <a:xfrm>
            <a:off x="5683740" y="3378200"/>
            <a:ext cx="1524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" name="Line 9"/>
          <p:cNvSpPr>
            <a:spLocks noChangeShapeType="1"/>
          </p:cNvSpPr>
          <p:nvPr>
            <p:custDataLst>
              <p:tags r:id="rId2"/>
            </p:custDataLst>
          </p:nvPr>
        </p:nvSpPr>
        <p:spPr bwMode="auto">
          <a:xfrm>
            <a:off x="5443903" y="3378200"/>
            <a:ext cx="1524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" name="Line 7"/>
          <p:cNvSpPr>
            <a:spLocks noChangeShapeType="1"/>
          </p:cNvSpPr>
          <p:nvPr>
            <p:custDataLst>
              <p:tags r:id="rId3"/>
            </p:custDataLst>
          </p:nvPr>
        </p:nvSpPr>
        <p:spPr bwMode="auto">
          <a:xfrm>
            <a:off x="4935437" y="3886200"/>
            <a:ext cx="1524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" name="Line 9"/>
          <p:cNvSpPr>
            <a:spLocks noChangeShapeType="1"/>
          </p:cNvSpPr>
          <p:nvPr>
            <p:custDataLst>
              <p:tags r:id="rId4"/>
            </p:custDataLst>
          </p:nvPr>
        </p:nvSpPr>
        <p:spPr bwMode="auto">
          <a:xfrm>
            <a:off x="4724400" y="3886200"/>
            <a:ext cx="1524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" name="Line 7"/>
          <p:cNvSpPr>
            <a:spLocks noChangeShapeType="1"/>
          </p:cNvSpPr>
          <p:nvPr>
            <p:custDataLst>
              <p:tags r:id="rId5"/>
            </p:custDataLst>
          </p:nvPr>
        </p:nvSpPr>
        <p:spPr bwMode="auto">
          <a:xfrm>
            <a:off x="4953000" y="4398000"/>
            <a:ext cx="1524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" name="Line 9"/>
          <p:cNvSpPr>
            <a:spLocks noChangeShapeType="1"/>
          </p:cNvSpPr>
          <p:nvPr>
            <p:custDataLst>
              <p:tags r:id="rId6"/>
            </p:custDataLst>
          </p:nvPr>
        </p:nvSpPr>
        <p:spPr bwMode="auto">
          <a:xfrm>
            <a:off x="4724400" y="4398000"/>
            <a:ext cx="1524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" name="Line 7"/>
          <p:cNvSpPr>
            <a:spLocks noChangeShapeType="1"/>
          </p:cNvSpPr>
          <p:nvPr>
            <p:custDataLst>
              <p:tags r:id="rId7"/>
            </p:custDataLst>
          </p:nvPr>
        </p:nvSpPr>
        <p:spPr bwMode="auto">
          <a:xfrm>
            <a:off x="5664200" y="4902200"/>
            <a:ext cx="1524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" name="Line 9"/>
          <p:cNvSpPr>
            <a:spLocks noChangeShapeType="1"/>
          </p:cNvSpPr>
          <p:nvPr>
            <p:custDataLst>
              <p:tags r:id="rId8"/>
            </p:custDataLst>
          </p:nvPr>
        </p:nvSpPr>
        <p:spPr bwMode="auto">
          <a:xfrm>
            <a:off x="5435600" y="4902200"/>
            <a:ext cx="1524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1002527" y="2743200"/>
            <a:ext cx="7836673" cy="2971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9214B40-6978-E549-95F3-43E0136D6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62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60423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Simplifying Boolean Equations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838200" y="972234"/>
            <a:ext cx="3505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Example 7:</a:t>
            </a:r>
          </a:p>
        </p:txBody>
      </p:sp>
      <p:sp>
        <p:nvSpPr>
          <p:cNvPr id="9" name="Rectangle 3"/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1257300" y="1524000"/>
            <a:ext cx="7886700" cy="499527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b="1" dirty="0">
                <a:solidFill>
                  <a:srgbClr val="0070C0"/>
                </a:solidFill>
              </a:rPr>
              <a:t>Y = (A + BC)(A + DE)</a:t>
            </a:r>
          </a:p>
          <a:p>
            <a:pPr marL="0" indent="0">
              <a:buFont typeface="Arial" pitchFamily="34" charset="0"/>
              <a:buNone/>
            </a:pPr>
            <a:r>
              <a:rPr lang="en-US" sz="2000" b="1" dirty="0">
                <a:solidFill>
                  <a:schemeClr val="accent1"/>
                </a:solidFill>
              </a:rPr>
              <a:t>     </a:t>
            </a:r>
            <a:r>
              <a:rPr lang="en-US" sz="2000" b="1" dirty="0"/>
              <a:t>Apply T8’ first when possible: </a:t>
            </a:r>
            <a:r>
              <a:rPr lang="en-US" sz="2000" dirty="0"/>
              <a:t>W+XZ = (W+X)(W+Z)</a:t>
            </a:r>
          </a:p>
          <a:p>
            <a:pPr marL="0" indent="0">
              <a:buFont typeface="Arial" pitchFamily="34" charset="0"/>
              <a:buNone/>
            </a:pPr>
            <a:r>
              <a:rPr lang="en-US" sz="2000" dirty="0"/>
              <a:t>     Make: X = BC, Z = DE and rewrite equation</a:t>
            </a:r>
          </a:p>
          <a:p>
            <a:pPr marL="0" indent="0">
              <a:buFont typeface="Arial" pitchFamily="34" charset="0"/>
              <a:buNone/>
            </a:pPr>
            <a:r>
              <a:rPr lang="en-US" sz="2000" dirty="0"/>
              <a:t>          Y	= (A+</a:t>
            </a:r>
            <a:r>
              <a:rPr lang="en-US" sz="2000" b="1" dirty="0">
                <a:solidFill>
                  <a:srgbClr val="FF0000"/>
                </a:solidFill>
              </a:rPr>
              <a:t>X</a:t>
            </a:r>
            <a:r>
              <a:rPr lang="en-US" sz="2000" dirty="0"/>
              <a:t>)(A+</a:t>
            </a:r>
            <a:r>
              <a:rPr lang="en-US" sz="2000" b="1" dirty="0">
                <a:solidFill>
                  <a:srgbClr val="0070C0"/>
                </a:solidFill>
              </a:rPr>
              <a:t>Z</a:t>
            </a:r>
            <a:r>
              <a:rPr lang="en-US" sz="2000" dirty="0"/>
              <a:t>)		substitution (</a:t>
            </a:r>
            <a:r>
              <a:rPr lang="en-US" sz="2000" b="1" dirty="0"/>
              <a:t>X</a:t>
            </a:r>
            <a:r>
              <a:rPr lang="en-US" sz="2000" dirty="0"/>
              <a:t>=BC, </a:t>
            </a:r>
            <a:r>
              <a:rPr lang="en-US" sz="2000" b="1" dirty="0">
                <a:solidFill>
                  <a:srgbClr val="0070C0"/>
                </a:solidFill>
              </a:rPr>
              <a:t>Z</a:t>
            </a:r>
            <a:r>
              <a:rPr lang="en-US" sz="2000" dirty="0"/>
              <a:t>=DE)</a:t>
            </a:r>
          </a:p>
          <a:p>
            <a:pPr marL="0" indent="0">
              <a:buFont typeface="Arial" pitchFamily="34" charset="0"/>
              <a:buNone/>
            </a:pPr>
            <a:r>
              <a:rPr lang="en-US" sz="2000" dirty="0"/>
              <a:t>   	= A + </a:t>
            </a:r>
            <a:r>
              <a:rPr lang="en-US" sz="2000" b="1" dirty="0">
                <a:solidFill>
                  <a:srgbClr val="FF0000"/>
                </a:solidFill>
              </a:rPr>
              <a:t>X</a:t>
            </a:r>
            <a:r>
              <a:rPr lang="en-US" sz="2000" b="1" dirty="0">
                <a:solidFill>
                  <a:srgbClr val="0070C0"/>
                </a:solidFill>
              </a:rPr>
              <a:t>Z</a:t>
            </a:r>
            <a:r>
              <a:rPr lang="en-US" sz="2000" dirty="0"/>
              <a:t>			T8’: </a:t>
            </a:r>
            <a:r>
              <a:rPr lang="en-US" sz="2000" dirty="0" err="1"/>
              <a:t>Distributivity</a:t>
            </a:r>
            <a:endParaRPr lang="en-US" sz="2000" dirty="0"/>
          </a:p>
          <a:p>
            <a:pPr marL="0" indent="0">
              <a:buFont typeface="Arial" pitchFamily="34" charset="0"/>
              <a:buNone/>
            </a:pPr>
            <a:r>
              <a:rPr lang="en-US" sz="2000" dirty="0"/>
              <a:t>	= A + </a:t>
            </a:r>
            <a:r>
              <a:rPr lang="en-US" sz="2000" b="1" dirty="0">
                <a:solidFill>
                  <a:srgbClr val="FF0000"/>
                </a:solidFill>
              </a:rPr>
              <a:t>BC</a:t>
            </a:r>
            <a:r>
              <a:rPr lang="en-US" sz="2000" b="1" dirty="0">
                <a:solidFill>
                  <a:srgbClr val="0070C0"/>
                </a:solidFill>
              </a:rPr>
              <a:t>DE</a:t>
            </a:r>
            <a:r>
              <a:rPr lang="en-US" sz="2000" dirty="0"/>
              <a:t>		substitution</a:t>
            </a:r>
          </a:p>
          <a:p>
            <a:pPr marL="0" indent="0">
              <a:buFont typeface="Arial" pitchFamily="34" charset="0"/>
              <a:buNone/>
            </a:pPr>
            <a:r>
              <a:rPr lang="en-US" sz="2000" dirty="0"/>
              <a:t>or </a:t>
            </a:r>
            <a:r>
              <a:rPr lang="en-US" sz="2000" b="1" dirty="0">
                <a:solidFill>
                  <a:schemeClr val="accent1"/>
                </a:solidFill>
              </a:rPr>
              <a:t>		</a:t>
            </a:r>
          </a:p>
          <a:p>
            <a:pPr>
              <a:buFontTx/>
              <a:buNone/>
            </a:pPr>
            <a:r>
              <a:rPr lang="en-US" sz="2000" dirty="0"/>
              <a:t>          Y	= AA + ADE + ABC + BCDE	T8: </a:t>
            </a:r>
            <a:r>
              <a:rPr lang="en-US" sz="2000" dirty="0" err="1"/>
              <a:t>Distributivity</a:t>
            </a:r>
            <a:endParaRPr lang="en-US" sz="2000" dirty="0"/>
          </a:p>
          <a:p>
            <a:pPr>
              <a:buFontTx/>
              <a:buNone/>
            </a:pPr>
            <a:r>
              <a:rPr lang="en-US" sz="2000" dirty="0"/>
              <a:t>          	= A + ADE + ABC + BCDE	T3: </a:t>
            </a:r>
            <a:r>
              <a:rPr lang="en-US" sz="2000" dirty="0" err="1"/>
              <a:t>Idempotency</a:t>
            </a:r>
            <a:endParaRPr lang="en-US" sz="2000" dirty="0"/>
          </a:p>
          <a:p>
            <a:pPr>
              <a:buFontTx/>
              <a:buNone/>
            </a:pPr>
            <a:r>
              <a:rPr lang="en-US" sz="2000" dirty="0"/>
              <a:t>          	= </a:t>
            </a:r>
            <a:r>
              <a:rPr lang="en-US" sz="2000" b="1" dirty="0"/>
              <a:t>A + A</a:t>
            </a:r>
            <a:r>
              <a:rPr lang="en-US" sz="2000" dirty="0"/>
              <a:t>DE</a:t>
            </a:r>
            <a:r>
              <a:rPr lang="en-US" sz="2000" b="1" dirty="0"/>
              <a:t> </a:t>
            </a:r>
            <a:r>
              <a:rPr lang="en-US" sz="2000" dirty="0"/>
              <a:t>+ </a:t>
            </a:r>
            <a:r>
              <a:rPr lang="en-US" sz="2000" b="1" dirty="0"/>
              <a:t>A</a:t>
            </a:r>
            <a:r>
              <a:rPr lang="en-US" sz="2000" dirty="0"/>
              <a:t>BC + BCDE		</a:t>
            </a:r>
          </a:p>
          <a:p>
            <a:pPr>
              <a:buFontTx/>
              <a:buNone/>
            </a:pPr>
            <a:r>
              <a:rPr lang="en-US" sz="2000" dirty="0"/>
              <a:t> 		= </a:t>
            </a:r>
            <a:r>
              <a:rPr lang="en-US" sz="2000" b="1" dirty="0"/>
              <a:t>A             </a:t>
            </a:r>
            <a:r>
              <a:rPr lang="en-US" sz="2000" dirty="0"/>
              <a:t>            + BCDE	T9’: Covering</a:t>
            </a:r>
          </a:p>
          <a:p>
            <a:pPr>
              <a:buFont typeface="Arial" pitchFamily="34" charset="0"/>
              <a:buNone/>
            </a:pPr>
            <a:r>
              <a:rPr lang="en-US" sz="2000" dirty="0"/>
              <a:t> 		= A + BCDE		T9’: Covering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15000" y="1295400"/>
            <a:ext cx="320145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</a:rPr>
              <a:t>Recommended Method</a:t>
            </a:r>
            <a:endParaRPr lang="en-US" sz="2400" dirty="0"/>
          </a:p>
        </p:txBody>
      </p:sp>
      <p:sp>
        <p:nvSpPr>
          <p:cNvPr id="28" name="Rectangle 27"/>
          <p:cNvSpPr/>
          <p:nvPr/>
        </p:nvSpPr>
        <p:spPr>
          <a:xfrm>
            <a:off x="1447800" y="2438400"/>
            <a:ext cx="7227073" cy="158323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" name="Straight Arrow Connector 29"/>
          <p:cNvCxnSpPr/>
          <p:nvPr/>
        </p:nvCxnSpPr>
        <p:spPr>
          <a:xfrm flipH="1">
            <a:off x="7543800" y="1757065"/>
            <a:ext cx="533400" cy="833735"/>
          </a:xfrm>
          <a:prstGeom prst="straightConnector1">
            <a:avLst/>
          </a:prstGeom>
          <a:ln w="381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1905000" y="3962400"/>
            <a:ext cx="7010400" cy="232836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5257800" y="1295399"/>
            <a:ext cx="3886200" cy="8382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7315726" y="1752599"/>
            <a:ext cx="1980673" cy="8382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8FB9094-BEDC-EB46-ACC3-8A05C0ECA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63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145608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13" grpId="0" animBg="1"/>
      <p:bldP spid="18" grpId="0" animBg="1"/>
      <p:bldP spid="19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06962" name="Object 18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49764939"/>
              </p:ext>
            </p:extLst>
          </p:nvPr>
        </p:nvGraphicFramePr>
        <p:xfrm>
          <a:off x="1371600" y="3673475"/>
          <a:ext cx="3386138" cy="199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3" imgW="1288039" imgH="757289" progId="Visio.Drawing.11">
                  <p:embed/>
                </p:oleObj>
              </mc:Choice>
              <mc:Fallback>
                <p:oleObj name="Visio" r:id="rId23" imgW="1288039" imgH="757289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3673475"/>
                        <a:ext cx="3386138" cy="1990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6963" name="Object 19"/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033366236"/>
              </p:ext>
            </p:extLst>
          </p:nvPr>
        </p:nvGraphicFramePr>
        <p:xfrm>
          <a:off x="1219200" y="1355725"/>
          <a:ext cx="3657600" cy="2149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5" imgW="1280575" imgH="752302" progId="Visio.Drawing.11">
                  <p:embed/>
                </p:oleObj>
              </mc:Choice>
              <mc:Fallback>
                <p:oleObj name="Visio" r:id="rId25" imgW="1280575" imgH="752302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1355725"/>
                        <a:ext cx="3657600" cy="2149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06964" name="Rectangle 20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5029200" y="3276600"/>
            <a:ext cx="3886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sz="2400" b="1" i="1" dirty="0">
                <a:latin typeface="Times New Roman" pitchFamily="18" charset="0"/>
                <a:cs typeface="Arial" charset="0"/>
              </a:rPr>
              <a:t>E </a:t>
            </a:r>
            <a:r>
              <a:rPr lang="en-US" sz="2400" b="1" dirty="0">
                <a:latin typeface="Times New Roman" pitchFamily="18" charset="0"/>
                <a:cs typeface="Arial" charset="0"/>
              </a:rPr>
              <a:t>= (</a:t>
            </a:r>
            <a:r>
              <a:rPr lang="en-US" sz="2400" b="1" i="1" dirty="0">
                <a:latin typeface="Times New Roman" pitchFamily="18" charset="0"/>
                <a:cs typeface="Arial" charset="0"/>
              </a:rPr>
              <a:t>C + M</a:t>
            </a:r>
            <a:r>
              <a:rPr lang="en-US" sz="2400" b="1" dirty="0">
                <a:latin typeface="Times New Roman" pitchFamily="18" charset="0"/>
                <a:cs typeface="Arial" charset="0"/>
              </a:rPr>
              <a:t>)(</a:t>
            </a:r>
            <a:r>
              <a:rPr lang="en-US" sz="2400" b="1" i="1" dirty="0">
                <a:latin typeface="Times New Roman" pitchFamily="18" charset="0"/>
                <a:cs typeface="Arial" charset="0"/>
              </a:rPr>
              <a:t>C + M</a:t>
            </a:r>
            <a:r>
              <a:rPr lang="en-US" sz="2400" b="1" dirty="0">
                <a:latin typeface="Times New Roman" pitchFamily="18" charset="0"/>
                <a:cs typeface="Arial" charset="0"/>
              </a:rPr>
              <a:t>)(</a:t>
            </a:r>
            <a:r>
              <a:rPr lang="en-US" sz="2400" b="1" i="1" dirty="0">
                <a:latin typeface="Times New Roman" pitchFamily="18" charset="0"/>
                <a:cs typeface="Arial" charset="0"/>
              </a:rPr>
              <a:t>C + M</a:t>
            </a:r>
            <a:r>
              <a:rPr lang="en-US" sz="2400" b="1" dirty="0">
                <a:latin typeface="Times New Roman" pitchFamily="18" charset="0"/>
                <a:cs typeface="Arial" charset="0"/>
              </a:rPr>
              <a:t>)</a:t>
            </a:r>
          </a:p>
          <a:p>
            <a:pPr marL="342900" indent="-342900">
              <a:spcBef>
                <a:spcPct val="20000"/>
              </a:spcBef>
            </a:pPr>
            <a:r>
              <a:rPr lang="en-US" sz="2400" b="1" i="1" dirty="0">
                <a:latin typeface="Times New Roman" pitchFamily="18" charset="0"/>
                <a:cs typeface="Arial" charset="0"/>
              </a:rPr>
              <a:t>    = </a:t>
            </a:r>
            <a:r>
              <a:rPr lang="en-US" sz="2400" b="1" dirty="0">
                <a:solidFill>
                  <a:srgbClr val="FF0000"/>
                </a:solidFill>
                <a:latin typeface="Times New Roman" pitchFamily="18" charset="0"/>
                <a:cs typeface="Arial" charset="0"/>
              </a:rPr>
              <a:t>(</a:t>
            </a:r>
            <a:r>
              <a:rPr lang="en-US" sz="2400" b="1" i="1" dirty="0">
                <a:solidFill>
                  <a:srgbClr val="FF0000"/>
                </a:solidFill>
                <a:latin typeface="Times New Roman" pitchFamily="18" charset="0"/>
                <a:cs typeface="Arial" charset="0"/>
              </a:rPr>
              <a:t>C + MM</a:t>
            </a:r>
            <a:r>
              <a:rPr lang="en-US" sz="2400" b="1" dirty="0">
                <a:solidFill>
                  <a:srgbClr val="FF0000"/>
                </a:solidFill>
                <a:latin typeface="Times New Roman" pitchFamily="18" charset="0"/>
                <a:cs typeface="Arial" charset="0"/>
              </a:rPr>
              <a:t>)</a:t>
            </a:r>
            <a:r>
              <a:rPr lang="en-US" sz="2400" b="1" i="1" dirty="0">
                <a:solidFill>
                  <a:srgbClr val="FF0000"/>
                </a:solidFill>
                <a:latin typeface="Times New Roman" pitchFamily="18" charset="0"/>
                <a:cs typeface="Arial" charset="0"/>
              </a:rPr>
              <a:t>*       </a:t>
            </a:r>
            <a:r>
              <a:rPr lang="en-US" sz="2400" b="1" dirty="0">
                <a:latin typeface="Times New Roman" pitchFamily="18" charset="0"/>
                <a:cs typeface="Arial" charset="0"/>
              </a:rPr>
              <a:t>(</a:t>
            </a:r>
            <a:r>
              <a:rPr lang="en-US" sz="2400" b="1" i="1" dirty="0">
                <a:latin typeface="Times New Roman" pitchFamily="18" charset="0"/>
                <a:cs typeface="Arial" charset="0"/>
              </a:rPr>
              <a:t>C + M</a:t>
            </a:r>
            <a:r>
              <a:rPr lang="en-US" sz="2400" b="1" dirty="0">
                <a:latin typeface="Times New Roman" pitchFamily="18" charset="0"/>
                <a:cs typeface="Arial" charset="0"/>
              </a:rPr>
              <a:t>)</a:t>
            </a:r>
          </a:p>
          <a:p>
            <a:pPr marL="342900" indent="-342900">
              <a:spcBef>
                <a:spcPct val="20000"/>
              </a:spcBef>
            </a:pPr>
            <a:r>
              <a:rPr lang="en-US" sz="2400" b="1" i="1" dirty="0">
                <a:latin typeface="Times New Roman" pitchFamily="18" charset="0"/>
                <a:cs typeface="Arial" charset="0"/>
              </a:rPr>
              <a:t>    = </a:t>
            </a:r>
            <a:r>
              <a:rPr lang="en-US" sz="2400" b="1" dirty="0">
                <a:latin typeface="Times New Roman" pitchFamily="18" charset="0"/>
                <a:cs typeface="Arial" charset="0"/>
              </a:rPr>
              <a:t>(</a:t>
            </a:r>
            <a:r>
              <a:rPr lang="en-US" sz="2400" b="1" i="1" dirty="0">
                <a:latin typeface="Times New Roman" pitchFamily="18" charset="0"/>
                <a:cs typeface="Arial" charset="0"/>
              </a:rPr>
              <a:t>C + </a:t>
            </a:r>
            <a:r>
              <a:rPr lang="en-US" sz="2400" b="1" dirty="0">
                <a:solidFill>
                  <a:srgbClr val="FF0000"/>
                </a:solidFill>
                <a:latin typeface="Times New Roman" pitchFamily="18" charset="0"/>
                <a:cs typeface="Arial" charset="0"/>
              </a:rPr>
              <a:t>0</a:t>
            </a:r>
            <a:r>
              <a:rPr lang="en-US" sz="2400" b="1" dirty="0">
                <a:latin typeface="Times New Roman" pitchFamily="18" charset="0"/>
                <a:cs typeface="Arial" charset="0"/>
              </a:rPr>
              <a:t>)</a:t>
            </a:r>
            <a:r>
              <a:rPr lang="en-US" sz="2400" b="1" i="1" dirty="0">
                <a:latin typeface="Times New Roman" pitchFamily="18" charset="0"/>
                <a:cs typeface="Arial" charset="0"/>
              </a:rPr>
              <a:t>*            </a:t>
            </a:r>
            <a:r>
              <a:rPr lang="en-US" sz="2400" b="1" dirty="0">
                <a:latin typeface="Times New Roman" pitchFamily="18" charset="0"/>
                <a:cs typeface="Arial" charset="0"/>
              </a:rPr>
              <a:t>(</a:t>
            </a:r>
            <a:r>
              <a:rPr lang="en-US" sz="2400" b="1" i="1" dirty="0">
                <a:latin typeface="Times New Roman" pitchFamily="18" charset="0"/>
                <a:cs typeface="Arial" charset="0"/>
              </a:rPr>
              <a:t>C + M</a:t>
            </a:r>
            <a:r>
              <a:rPr lang="en-US" sz="2400" b="1" dirty="0">
                <a:latin typeface="Times New Roman" pitchFamily="18" charset="0"/>
                <a:cs typeface="Arial" charset="0"/>
              </a:rPr>
              <a:t>)</a:t>
            </a:r>
          </a:p>
          <a:p>
            <a:pPr marL="342900" indent="-342900">
              <a:spcBef>
                <a:spcPct val="20000"/>
              </a:spcBef>
            </a:pPr>
            <a:r>
              <a:rPr lang="en-US" sz="2400" b="1" i="1" dirty="0">
                <a:latin typeface="Times New Roman" pitchFamily="18" charset="0"/>
                <a:cs typeface="Arial" charset="0"/>
              </a:rPr>
              <a:t>    = </a:t>
            </a:r>
            <a:r>
              <a:rPr lang="en-US" sz="2400" b="1" i="1" dirty="0">
                <a:solidFill>
                  <a:srgbClr val="FF0000"/>
                </a:solidFill>
                <a:latin typeface="Times New Roman" pitchFamily="18" charset="0"/>
                <a:cs typeface="Arial" charset="0"/>
              </a:rPr>
              <a:t> C        </a:t>
            </a:r>
            <a:r>
              <a:rPr lang="en-US" sz="2400" b="1" i="1" dirty="0">
                <a:latin typeface="Times New Roman" pitchFamily="18" charset="0"/>
                <a:cs typeface="Arial" charset="0"/>
              </a:rPr>
              <a:t>*            </a:t>
            </a:r>
            <a:r>
              <a:rPr lang="en-US" sz="2400" b="1" dirty="0">
                <a:latin typeface="Times New Roman" pitchFamily="18" charset="0"/>
                <a:cs typeface="Arial" charset="0"/>
              </a:rPr>
              <a:t>(</a:t>
            </a:r>
            <a:r>
              <a:rPr lang="en-US" sz="2400" b="1" i="1" dirty="0">
                <a:latin typeface="Times New Roman" pitchFamily="18" charset="0"/>
                <a:cs typeface="Arial" charset="0"/>
              </a:rPr>
              <a:t>C + M</a:t>
            </a:r>
            <a:r>
              <a:rPr lang="en-US" sz="2400" b="1" dirty="0">
                <a:latin typeface="Times New Roman" pitchFamily="18" charset="0"/>
                <a:cs typeface="Arial" charset="0"/>
              </a:rPr>
              <a:t>)</a:t>
            </a:r>
          </a:p>
          <a:p>
            <a:pPr marL="342900" indent="-342900">
              <a:spcBef>
                <a:spcPct val="20000"/>
              </a:spcBef>
            </a:pPr>
            <a:r>
              <a:rPr lang="en-US" sz="2400" b="1" i="1" dirty="0">
                <a:latin typeface="Times New Roman" pitchFamily="18" charset="0"/>
                <a:cs typeface="Arial" charset="0"/>
              </a:rPr>
              <a:t>    =  CC + CM</a:t>
            </a:r>
          </a:p>
          <a:p>
            <a:pPr marL="342900" indent="-342900">
              <a:spcBef>
                <a:spcPct val="20000"/>
              </a:spcBef>
            </a:pPr>
            <a:r>
              <a:rPr lang="en-US" sz="2400" b="1" i="1" dirty="0">
                <a:latin typeface="Times New Roman" pitchFamily="18" charset="0"/>
                <a:cs typeface="Arial" charset="0"/>
              </a:rPr>
              <a:t>    =  </a:t>
            </a:r>
            <a:r>
              <a:rPr lang="en-US" sz="2400" b="1" dirty="0">
                <a:solidFill>
                  <a:srgbClr val="FF0000"/>
                </a:solidFill>
                <a:latin typeface="Times New Roman" pitchFamily="18" charset="0"/>
                <a:cs typeface="Arial" charset="0"/>
              </a:rPr>
              <a:t>0</a:t>
            </a:r>
            <a:r>
              <a:rPr lang="en-US" sz="2400" b="1" dirty="0">
                <a:latin typeface="Times New Roman" pitchFamily="18" charset="0"/>
                <a:cs typeface="Arial" charset="0"/>
              </a:rPr>
              <a:t> </a:t>
            </a:r>
            <a:r>
              <a:rPr lang="en-US" sz="2400" b="1" i="1" dirty="0">
                <a:latin typeface="Times New Roman" pitchFamily="18" charset="0"/>
                <a:cs typeface="Arial" charset="0"/>
              </a:rPr>
              <a:t>   + CM</a:t>
            </a:r>
          </a:p>
          <a:p>
            <a:pPr marL="342900" indent="-342900">
              <a:spcBef>
                <a:spcPct val="20000"/>
              </a:spcBef>
            </a:pPr>
            <a:r>
              <a:rPr lang="en-US" sz="2400" b="1" i="1" dirty="0">
                <a:latin typeface="Times New Roman" pitchFamily="18" charset="0"/>
                <a:cs typeface="Arial" charset="0"/>
              </a:rPr>
              <a:t>    =           CM</a:t>
            </a:r>
          </a:p>
        </p:txBody>
      </p:sp>
      <p:sp>
        <p:nvSpPr>
          <p:cNvPr id="1106965" name="Line 21"/>
          <p:cNvSpPr>
            <a:spLocks noChangeShapeType="1"/>
          </p:cNvSpPr>
          <p:nvPr>
            <p:custDataLst>
              <p:tags r:id="rId4"/>
            </p:custDataLst>
          </p:nvPr>
        </p:nvSpPr>
        <p:spPr bwMode="auto">
          <a:xfrm>
            <a:off x="7367475" y="3352800"/>
            <a:ext cx="161925" cy="15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06966" name="Line 22"/>
          <p:cNvSpPr>
            <a:spLocks noChangeShapeType="1"/>
          </p:cNvSpPr>
          <p:nvPr>
            <p:custDataLst>
              <p:tags r:id="rId5"/>
            </p:custDataLst>
          </p:nvPr>
        </p:nvSpPr>
        <p:spPr bwMode="auto">
          <a:xfrm>
            <a:off x="7783353" y="3352800"/>
            <a:ext cx="178118" cy="15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06967" name="Line 23"/>
          <p:cNvSpPr>
            <a:spLocks noChangeShapeType="1"/>
          </p:cNvSpPr>
          <p:nvPr>
            <p:custDataLst>
              <p:tags r:id="rId6"/>
            </p:custDataLst>
          </p:nvPr>
        </p:nvSpPr>
        <p:spPr bwMode="auto">
          <a:xfrm>
            <a:off x="8372475" y="3352800"/>
            <a:ext cx="161925" cy="15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06968" name="Rectangle 24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5029200" y="914400"/>
            <a:ext cx="1447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sz="2400" b="1" i="1" dirty="0">
                <a:latin typeface="Times New Roman" pitchFamily="18" charset="0"/>
                <a:cs typeface="Arial" charset="0"/>
              </a:rPr>
              <a:t>E</a:t>
            </a:r>
            <a:r>
              <a:rPr lang="en-US" sz="2400" b="1" dirty="0">
                <a:latin typeface="Times New Roman" pitchFamily="18" charset="0"/>
                <a:cs typeface="Arial" charset="0"/>
              </a:rPr>
              <a:t> = </a:t>
            </a:r>
            <a:r>
              <a:rPr lang="en-US" sz="2400" b="1" i="1" dirty="0">
                <a:latin typeface="Times New Roman" pitchFamily="18" charset="0"/>
                <a:cs typeface="Arial" charset="0"/>
              </a:rPr>
              <a:t>CM</a:t>
            </a:r>
          </a:p>
          <a:p>
            <a:pPr marL="342900" indent="-342900">
              <a:spcBef>
                <a:spcPct val="20000"/>
              </a:spcBef>
            </a:pPr>
            <a:endParaRPr lang="en-US" sz="2400" b="1" i="1" dirty="0">
              <a:latin typeface="Times New Roman" pitchFamily="18" charset="0"/>
              <a:cs typeface="Arial" charset="0"/>
            </a:endParaRPr>
          </a:p>
        </p:txBody>
      </p:sp>
      <p:sp>
        <p:nvSpPr>
          <p:cNvPr id="1106969" name="Line 25"/>
          <p:cNvSpPr>
            <a:spLocks noChangeShapeType="1"/>
          </p:cNvSpPr>
          <p:nvPr>
            <p:custDataLst>
              <p:tags r:id="rId8"/>
            </p:custDataLst>
          </p:nvPr>
        </p:nvSpPr>
        <p:spPr bwMode="auto">
          <a:xfrm>
            <a:off x="5867400" y="9906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14" name="TextBox 13"/>
          <p:cNvSpPr txBox="1"/>
          <p:nvPr/>
        </p:nvSpPr>
        <p:spPr>
          <a:xfrm>
            <a:off x="457200" y="68759"/>
            <a:ext cx="8458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Review: Canonical SOP &amp; POS Forms</a:t>
            </a:r>
          </a:p>
        </p:txBody>
      </p:sp>
      <p:sp>
        <p:nvSpPr>
          <p:cNvPr id="13" name="Rectangle 3"/>
          <p:cNvSpPr txBox="1">
            <a:spLocks noChangeArrowheads="1"/>
          </p:cNvSpPr>
          <p:nvPr>
            <p:custDataLst>
              <p:tags r:id="rId9"/>
            </p:custDataLst>
          </p:nvPr>
        </p:nvSpPr>
        <p:spPr>
          <a:xfrm>
            <a:off x="914400" y="838200"/>
            <a:ext cx="5638800" cy="4953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b="1" dirty="0">
                <a:solidFill>
                  <a:srgbClr val="0070C0"/>
                </a:solidFill>
              </a:rPr>
              <a:t>SOP – sum-of-products</a:t>
            </a:r>
          </a:p>
          <a:p>
            <a:endParaRPr lang="en-US" sz="2400" b="1" dirty="0">
              <a:solidFill>
                <a:srgbClr val="0070C0"/>
              </a:solidFill>
            </a:endParaRPr>
          </a:p>
          <a:p>
            <a:endParaRPr lang="en-US" sz="2400" b="1" dirty="0">
              <a:solidFill>
                <a:srgbClr val="0070C0"/>
              </a:solidFill>
            </a:endParaRPr>
          </a:p>
          <a:p>
            <a:endParaRPr lang="en-US" sz="2400" b="1" dirty="0">
              <a:solidFill>
                <a:srgbClr val="0070C0"/>
              </a:solidFill>
            </a:endParaRPr>
          </a:p>
          <a:p>
            <a:pPr marL="0" indent="0">
              <a:buFont typeface="Arial" pitchFamily="34" charset="0"/>
              <a:buNone/>
            </a:pPr>
            <a:endParaRPr lang="en-US" sz="2400" b="1" dirty="0">
              <a:solidFill>
                <a:srgbClr val="0070C0"/>
              </a:solidFill>
            </a:endParaRPr>
          </a:p>
          <a:p>
            <a:pPr marL="0" indent="0">
              <a:buFont typeface="Arial" pitchFamily="34" charset="0"/>
              <a:buNone/>
            </a:pPr>
            <a:endParaRPr lang="en-US" sz="200" b="1" dirty="0">
              <a:solidFill>
                <a:srgbClr val="0070C0"/>
              </a:solidFill>
            </a:endParaRPr>
          </a:p>
          <a:p>
            <a:pPr marL="0" indent="0">
              <a:buFont typeface="Arial" pitchFamily="34" charset="0"/>
              <a:buNone/>
            </a:pPr>
            <a:r>
              <a:rPr lang="en-US" b="1" dirty="0">
                <a:solidFill>
                  <a:srgbClr val="0070C0"/>
                </a:solidFill>
              </a:rPr>
              <a:t>POS – product-of-sums</a:t>
            </a:r>
          </a:p>
        </p:txBody>
      </p:sp>
      <p:sp>
        <p:nvSpPr>
          <p:cNvPr id="12" name="Line 21"/>
          <p:cNvSpPr>
            <a:spLocks noChangeShapeType="1"/>
          </p:cNvSpPr>
          <p:nvPr>
            <p:custDataLst>
              <p:tags r:id="rId10"/>
            </p:custDataLst>
          </p:nvPr>
        </p:nvSpPr>
        <p:spPr bwMode="auto">
          <a:xfrm>
            <a:off x="6664271" y="3802049"/>
            <a:ext cx="161925" cy="1588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Line 22"/>
          <p:cNvSpPr>
            <a:spLocks noChangeShapeType="1"/>
          </p:cNvSpPr>
          <p:nvPr>
            <p:custDataLst>
              <p:tags r:id="rId11"/>
            </p:custDataLst>
          </p:nvPr>
        </p:nvSpPr>
        <p:spPr bwMode="auto">
          <a:xfrm>
            <a:off x="7772400" y="3808412"/>
            <a:ext cx="178118" cy="15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" name="Line 23"/>
          <p:cNvSpPr>
            <a:spLocks noChangeShapeType="1"/>
          </p:cNvSpPr>
          <p:nvPr>
            <p:custDataLst>
              <p:tags r:id="rId12"/>
            </p:custDataLst>
          </p:nvPr>
        </p:nvSpPr>
        <p:spPr bwMode="auto">
          <a:xfrm>
            <a:off x="8361522" y="3808412"/>
            <a:ext cx="161925" cy="15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" name="Line 22"/>
          <p:cNvSpPr>
            <a:spLocks noChangeShapeType="1"/>
          </p:cNvSpPr>
          <p:nvPr>
            <p:custDataLst>
              <p:tags r:id="rId13"/>
            </p:custDataLst>
          </p:nvPr>
        </p:nvSpPr>
        <p:spPr bwMode="auto">
          <a:xfrm>
            <a:off x="7783353" y="4241759"/>
            <a:ext cx="178118" cy="15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" name="Line 23"/>
          <p:cNvSpPr>
            <a:spLocks noChangeShapeType="1"/>
          </p:cNvSpPr>
          <p:nvPr>
            <p:custDataLst>
              <p:tags r:id="rId14"/>
            </p:custDataLst>
          </p:nvPr>
        </p:nvSpPr>
        <p:spPr bwMode="auto">
          <a:xfrm>
            <a:off x="8372475" y="4241759"/>
            <a:ext cx="161925" cy="15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" name="Line 22"/>
          <p:cNvSpPr>
            <a:spLocks noChangeShapeType="1"/>
          </p:cNvSpPr>
          <p:nvPr>
            <p:custDataLst>
              <p:tags r:id="rId15"/>
            </p:custDataLst>
          </p:nvPr>
        </p:nvSpPr>
        <p:spPr bwMode="auto">
          <a:xfrm>
            <a:off x="7780351" y="4698959"/>
            <a:ext cx="178118" cy="15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" name="Line 23"/>
          <p:cNvSpPr>
            <a:spLocks noChangeShapeType="1"/>
          </p:cNvSpPr>
          <p:nvPr>
            <p:custDataLst>
              <p:tags r:id="rId16"/>
            </p:custDataLst>
          </p:nvPr>
        </p:nvSpPr>
        <p:spPr bwMode="auto">
          <a:xfrm>
            <a:off x="8369473" y="4698959"/>
            <a:ext cx="161925" cy="15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" name="Line 22"/>
          <p:cNvSpPr>
            <a:spLocks noChangeShapeType="1"/>
          </p:cNvSpPr>
          <p:nvPr>
            <p:custDataLst>
              <p:tags r:id="rId17"/>
            </p:custDataLst>
          </p:nvPr>
        </p:nvSpPr>
        <p:spPr bwMode="auto">
          <a:xfrm>
            <a:off x="6019800" y="5111763"/>
            <a:ext cx="178118" cy="15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" name="Line 23"/>
          <p:cNvSpPr>
            <a:spLocks noChangeShapeType="1"/>
          </p:cNvSpPr>
          <p:nvPr>
            <p:custDataLst>
              <p:tags r:id="rId18"/>
            </p:custDataLst>
          </p:nvPr>
        </p:nvSpPr>
        <p:spPr bwMode="auto">
          <a:xfrm>
            <a:off x="6772275" y="5111763"/>
            <a:ext cx="161925" cy="15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" name="Line 23"/>
          <p:cNvSpPr>
            <a:spLocks noChangeShapeType="1"/>
          </p:cNvSpPr>
          <p:nvPr>
            <p:custDataLst>
              <p:tags r:id="rId19"/>
            </p:custDataLst>
          </p:nvPr>
        </p:nvSpPr>
        <p:spPr bwMode="auto">
          <a:xfrm>
            <a:off x="6746875" y="5561012"/>
            <a:ext cx="161925" cy="15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" name="Line 23"/>
          <p:cNvSpPr>
            <a:spLocks noChangeShapeType="1"/>
          </p:cNvSpPr>
          <p:nvPr>
            <p:custDataLst>
              <p:tags r:id="rId20"/>
            </p:custDataLst>
          </p:nvPr>
        </p:nvSpPr>
        <p:spPr bwMode="auto">
          <a:xfrm>
            <a:off x="6731000" y="6005512"/>
            <a:ext cx="161925" cy="15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5638800" y="914400"/>
            <a:ext cx="559118" cy="4572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6413182" y="5914852"/>
            <a:ext cx="559118" cy="41563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7080636" y="2020669"/>
            <a:ext cx="152996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FF0000"/>
                </a:solidFill>
              </a:rPr>
              <a:t>same</a:t>
            </a:r>
            <a:endParaRPr lang="en-US" sz="3600" dirty="0">
              <a:solidFill>
                <a:srgbClr val="FF0000"/>
              </a:solidFill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5029200" y="3683000"/>
            <a:ext cx="4102873" cy="2667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8CC21A-64D0-2445-8915-A631F9D07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64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065275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5" grpId="0" animBg="1"/>
      <p:bldP spid="3" grpId="0"/>
      <p:bldP spid="32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57201" y="1066800"/>
            <a:ext cx="826225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An expression is in </a:t>
            </a:r>
            <a:r>
              <a:rPr lang="en-US" sz="3600" b="1" dirty="0"/>
              <a:t>product-of-sums (POS)</a:t>
            </a:r>
            <a:r>
              <a:rPr lang="en-US" sz="3600" dirty="0"/>
              <a:t> form when all sums contain literals only.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rgbClr val="00B050"/>
                </a:solidFill>
              </a:rPr>
              <a:t>POS form: 		</a:t>
            </a:r>
            <a:r>
              <a:rPr lang="en-US" sz="3600" dirty="0"/>
              <a:t>Y = (A+B)(C+D)(E’+F)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rgbClr val="FF0000"/>
                </a:solidFill>
              </a:rPr>
              <a:t>NOT POS form: 	</a:t>
            </a:r>
            <a:r>
              <a:rPr lang="en-US" sz="3600" dirty="0"/>
              <a:t>Y = (D+E)(F’+GH)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rgbClr val="00B050"/>
                </a:solidFill>
              </a:rPr>
              <a:t>POS form: 		</a:t>
            </a:r>
            <a:r>
              <a:rPr lang="en-US" sz="3600" dirty="0"/>
              <a:t>Z = A(B+C)(D+E’)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6200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Factoring: POS Form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B303470-C5AD-0C42-89CD-D238E5278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65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311740"/>
      </p:ext>
    </p:extLst>
  </p:cSld>
  <p:clrMapOvr>
    <a:masterClrMapping/>
  </p:clrMapOvr>
  <p:transition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Factoring: POS Form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838200" y="972234"/>
            <a:ext cx="3505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Example 8:</a:t>
            </a:r>
          </a:p>
        </p:txBody>
      </p:sp>
      <p:sp>
        <p:nvSpPr>
          <p:cNvPr id="22" name="Rectangle 3"/>
          <p:cNvSpPr>
            <a:spLocks noGrp="1" noChangeArrowheads="1"/>
          </p:cNvSpPr>
          <p:nvPr>
            <p:ph idx="1"/>
            <p:custDataLst>
              <p:tags r:id="rId1"/>
            </p:custDataLst>
          </p:nvPr>
        </p:nvSpPr>
        <p:spPr>
          <a:xfrm>
            <a:off x="1181100" y="1481723"/>
            <a:ext cx="7886700" cy="499527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</a:rPr>
              <a:t>Y = (A + B’CDE)</a:t>
            </a:r>
          </a:p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     </a:t>
            </a:r>
            <a:r>
              <a:rPr lang="en-US" sz="2000" b="1" dirty="0"/>
              <a:t>Apply T8’ first when possible: </a:t>
            </a:r>
            <a:r>
              <a:rPr lang="en-US" sz="2000" dirty="0"/>
              <a:t>W+XZ = (W+X)(W+Z)</a:t>
            </a:r>
          </a:p>
          <a:p>
            <a:pPr marL="0" indent="0">
              <a:buNone/>
            </a:pPr>
            <a:r>
              <a:rPr lang="en-US" sz="2000" dirty="0"/>
              <a:t>     Make: X = B’C, Z = DE and rewrite equation</a:t>
            </a:r>
          </a:p>
          <a:p>
            <a:pPr marL="0" indent="0">
              <a:buNone/>
            </a:pPr>
            <a:r>
              <a:rPr lang="en-US" sz="2000" dirty="0"/>
              <a:t>          Y	= (A+XZ)				substitution (X=B’C, Z=DE)</a:t>
            </a:r>
          </a:p>
          <a:p>
            <a:pPr marL="0" indent="0">
              <a:buNone/>
            </a:pPr>
            <a:r>
              <a:rPr lang="en-US" sz="2000" dirty="0"/>
              <a:t> 	= (A+B’C)(A+DE) 			T8’: </a:t>
            </a:r>
            <a:r>
              <a:rPr lang="en-US" sz="2000" dirty="0" err="1"/>
              <a:t>Distributivity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   	= (A+B’)(A+C)(A+D)(A+E) 		T8’: </a:t>
            </a:r>
            <a:r>
              <a:rPr lang="en-US" sz="2000" dirty="0" err="1"/>
              <a:t>Distributivity</a:t>
            </a:r>
            <a:endParaRPr lang="en-US" sz="2000" dirty="0"/>
          </a:p>
        </p:txBody>
      </p:sp>
      <p:sp>
        <p:nvSpPr>
          <p:cNvPr id="23" name="Rectangle 22"/>
          <p:cNvSpPr/>
          <p:nvPr/>
        </p:nvSpPr>
        <p:spPr>
          <a:xfrm>
            <a:off x="1247029" y="2438400"/>
            <a:ext cx="7836673" cy="1524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8855B7F-17D5-8041-A0AD-3D0DB5730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66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305620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Factoring: POS Form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838200" y="972234"/>
            <a:ext cx="3505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Example 9:</a:t>
            </a:r>
          </a:p>
        </p:txBody>
      </p:sp>
      <p:sp>
        <p:nvSpPr>
          <p:cNvPr id="10" name="Rectangle 3"/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1181100" y="1481723"/>
            <a:ext cx="7886700" cy="499527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b="1" dirty="0">
                <a:solidFill>
                  <a:srgbClr val="0070C0"/>
                </a:solidFill>
              </a:rPr>
              <a:t>Y = AB + C’DE + F</a:t>
            </a:r>
          </a:p>
          <a:p>
            <a:pPr marL="0" indent="0">
              <a:buFont typeface="Arial" pitchFamily="34" charset="0"/>
              <a:buNone/>
            </a:pPr>
            <a:r>
              <a:rPr lang="en-US" sz="2000" b="1" dirty="0">
                <a:solidFill>
                  <a:schemeClr val="accent1"/>
                </a:solidFill>
              </a:rPr>
              <a:t>     </a:t>
            </a:r>
            <a:r>
              <a:rPr lang="en-US" sz="2000" b="1" dirty="0"/>
              <a:t>Apply T8’ first when possible: </a:t>
            </a:r>
            <a:r>
              <a:rPr lang="en-US" sz="2000" dirty="0"/>
              <a:t>W+XZ = (W+X)(W+Z)</a:t>
            </a:r>
          </a:p>
          <a:p>
            <a:pPr marL="0" indent="0">
              <a:buFont typeface="Arial" pitchFamily="34" charset="0"/>
              <a:buNone/>
            </a:pPr>
            <a:r>
              <a:rPr lang="en-US" sz="2000" dirty="0"/>
              <a:t>     Make: W = AB, X = C’, Z = DE and rewrite equation</a:t>
            </a:r>
          </a:p>
          <a:p>
            <a:pPr marL="0" indent="0">
              <a:buFont typeface="Arial" pitchFamily="34" charset="0"/>
              <a:buNone/>
            </a:pPr>
            <a:r>
              <a:rPr lang="en-US" sz="2000" dirty="0"/>
              <a:t>          Y	= (W+XZ) + F		   substitution W = AB, X = C’, Z = DE</a:t>
            </a:r>
          </a:p>
          <a:p>
            <a:pPr marL="0" indent="0">
              <a:buFont typeface="Arial" pitchFamily="34" charset="0"/>
              <a:buNone/>
            </a:pPr>
            <a:r>
              <a:rPr lang="en-US" sz="2000" dirty="0"/>
              <a:t> 	= (W+X)(W+Z) + F 	  		T8’: </a:t>
            </a:r>
            <a:r>
              <a:rPr lang="en-US" sz="2000" dirty="0" err="1"/>
              <a:t>Distributivity</a:t>
            </a:r>
            <a:endParaRPr lang="en-US" sz="2000" dirty="0"/>
          </a:p>
          <a:p>
            <a:pPr marL="0" indent="0">
              <a:buFont typeface="Arial" pitchFamily="34" charset="0"/>
              <a:buNone/>
            </a:pPr>
            <a:r>
              <a:rPr lang="en-US" sz="2000" dirty="0"/>
              <a:t>   	= (AB+C’)(AB+DE)+F   			substitution</a:t>
            </a:r>
          </a:p>
          <a:p>
            <a:pPr marL="0" indent="0">
              <a:buFont typeface="Arial" pitchFamily="34" charset="0"/>
              <a:buNone/>
            </a:pPr>
            <a:r>
              <a:rPr lang="en-US" sz="2000" dirty="0"/>
              <a:t>	= (A+C’)(B+C’)(AB+D)(AB+E)+F		T8’: </a:t>
            </a:r>
            <a:r>
              <a:rPr lang="en-US" sz="2000" dirty="0" err="1"/>
              <a:t>Distributivity</a:t>
            </a:r>
            <a:endParaRPr lang="en-US" sz="2000" dirty="0"/>
          </a:p>
          <a:p>
            <a:pPr marL="0" indent="0">
              <a:buFont typeface="Arial" pitchFamily="34" charset="0"/>
              <a:buNone/>
            </a:pPr>
            <a:r>
              <a:rPr lang="en-US" sz="2000" dirty="0"/>
              <a:t>	= (A+C’)(B+C’)(A+D)(B+D)(A+E)(B+E)+F	T8’: </a:t>
            </a:r>
            <a:r>
              <a:rPr lang="en-US" sz="2000" dirty="0" err="1"/>
              <a:t>Distributivity</a:t>
            </a:r>
            <a:endParaRPr lang="en-US" sz="2000" dirty="0"/>
          </a:p>
          <a:p>
            <a:pPr marL="0" indent="0">
              <a:buFont typeface="Arial" pitchFamily="34" charset="0"/>
              <a:buNone/>
            </a:pPr>
            <a:r>
              <a:rPr lang="en-US" sz="2000" dirty="0"/>
              <a:t>	= (A+C’+F)(B+C’+F)(A+D+F)(B+D+F)(A+E+F)(B+E+F)   T8’: Distr.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47029" y="2438400"/>
            <a:ext cx="7836673" cy="2667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57FBEA4-E3EB-284F-9B53-5337C4F9B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67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508920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547" name="Rectangle 3"/>
          <p:cNvSpPr>
            <a:spLocks noGrp="1" noChangeArrowheads="1"/>
          </p:cNvSpPr>
          <p:nvPr>
            <p:ph idx="1"/>
            <p:custDataLst>
              <p:tags r:id="rId1"/>
            </p:custDataLst>
          </p:nvPr>
        </p:nvSpPr>
        <p:spPr>
          <a:xfrm>
            <a:off x="1247200" y="1557923"/>
            <a:ext cx="5067300" cy="499527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i="1" dirty="0">
                <a:solidFill>
                  <a:srgbClr val="0070C0"/>
                </a:solidFill>
              </a:rPr>
              <a:t>Y</a:t>
            </a:r>
            <a:r>
              <a:rPr lang="en-US" b="1" dirty="0">
                <a:solidFill>
                  <a:srgbClr val="0070C0"/>
                </a:solidFill>
              </a:rPr>
              <a:t> = </a:t>
            </a:r>
            <a:r>
              <a:rPr lang="en-US" b="1" i="1" dirty="0">
                <a:solidFill>
                  <a:srgbClr val="0070C0"/>
                </a:solidFill>
              </a:rPr>
              <a:t>(A+BD)C</a:t>
            </a:r>
          </a:p>
          <a:p>
            <a:pPr marL="0" indent="0">
              <a:buNone/>
            </a:pPr>
            <a:r>
              <a:rPr lang="en-US" i="1" dirty="0"/>
              <a:t>   = (A+BD) + C</a:t>
            </a:r>
          </a:p>
          <a:p>
            <a:pPr marL="0" indent="0">
              <a:buNone/>
            </a:pPr>
            <a:r>
              <a:rPr lang="en-US" i="1" dirty="0"/>
              <a:t>   = (A•(BD)) + C</a:t>
            </a:r>
          </a:p>
          <a:p>
            <a:pPr marL="0" indent="0">
              <a:buNone/>
            </a:pPr>
            <a:r>
              <a:rPr lang="en-US" i="1" dirty="0"/>
              <a:t>   = (A•(BD)) + C</a:t>
            </a:r>
          </a:p>
          <a:p>
            <a:pPr marL="0" indent="0">
              <a:buNone/>
            </a:pPr>
            <a:r>
              <a:rPr lang="en-US" i="1" dirty="0"/>
              <a:t>   = ABD + C</a:t>
            </a:r>
          </a:p>
        </p:txBody>
      </p:sp>
      <p:sp>
        <p:nvSpPr>
          <p:cNvPr id="876548" name="Line 4"/>
          <p:cNvSpPr>
            <a:spLocks noChangeShapeType="1"/>
          </p:cNvSpPr>
          <p:nvPr>
            <p:custDataLst>
              <p:tags r:id="rId2"/>
            </p:custDataLst>
          </p:nvPr>
        </p:nvSpPr>
        <p:spPr bwMode="auto">
          <a:xfrm>
            <a:off x="3135866" y="1664095"/>
            <a:ext cx="228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76549" name="Line 5"/>
          <p:cNvSpPr>
            <a:spLocks noChangeShapeType="1"/>
          </p:cNvSpPr>
          <p:nvPr>
            <p:custDataLst>
              <p:tags r:id="rId3"/>
            </p:custDataLst>
          </p:nvPr>
        </p:nvSpPr>
        <p:spPr bwMode="auto">
          <a:xfrm>
            <a:off x="2450066" y="1664094"/>
            <a:ext cx="489857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76550" name="Line 6"/>
          <p:cNvSpPr>
            <a:spLocks noChangeShapeType="1"/>
          </p:cNvSpPr>
          <p:nvPr>
            <p:custDataLst>
              <p:tags r:id="rId4"/>
            </p:custDataLst>
          </p:nvPr>
        </p:nvSpPr>
        <p:spPr bwMode="auto">
          <a:xfrm>
            <a:off x="2058174" y="1595437"/>
            <a:ext cx="1306292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De Morgan’s Theorem</a:t>
            </a:r>
          </a:p>
        </p:txBody>
      </p:sp>
      <p:sp>
        <p:nvSpPr>
          <p:cNvPr id="13" name="Line 6"/>
          <p:cNvSpPr>
            <a:spLocks noChangeShapeType="1"/>
          </p:cNvSpPr>
          <p:nvPr>
            <p:custDataLst>
              <p:tags r:id="rId5"/>
            </p:custDataLst>
          </p:nvPr>
        </p:nvSpPr>
        <p:spPr bwMode="auto">
          <a:xfrm>
            <a:off x="2058175" y="2186608"/>
            <a:ext cx="93617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Line 4"/>
          <p:cNvSpPr>
            <a:spLocks noChangeShapeType="1"/>
          </p:cNvSpPr>
          <p:nvPr>
            <p:custDataLst>
              <p:tags r:id="rId6"/>
            </p:custDataLst>
          </p:nvPr>
        </p:nvSpPr>
        <p:spPr bwMode="auto">
          <a:xfrm>
            <a:off x="3495100" y="2262808"/>
            <a:ext cx="228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" name="Line 5"/>
          <p:cNvSpPr>
            <a:spLocks noChangeShapeType="1"/>
          </p:cNvSpPr>
          <p:nvPr>
            <p:custDataLst>
              <p:tags r:id="rId7"/>
            </p:custDataLst>
          </p:nvPr>
        </p:nvSpPr>
        <p:spPr bwMode="auto">
          <a:xfrm>
            <a:off x="2471834" y="2262807"/>
            <a:ext cx="489857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" name="Line 4"/>
          <p:cNvSpPr>
            <a:spLocks noChangeShapeType="1"/>
          </p:cNvSpPr>
          <p:nvPr>
            <p:custDataLst>
              <p:tags r:id="rId8"/>
            </p:custDataLst>
          </p:nvPr>
        </p:nvSpPr>
        <p:spPr bwMode="auto">
          <a:xfrm>
            <a:off x="3495100" y="2208380"/>
            <a:ext cx="228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" name="Line 4"/>
          <p:cNvSpPr>
            <a:spLocks noChangeShapeType="1"/>
          </p:cNvSpPr>
          <p:nvPr>
            <p:custDataLst>
              <p:tags r:id="rId9"/>
            </p:custDataLst>
          </p:nvPr>
        </p:nvSpPr>
        <p:spPr bwMode="auto">
          <a:xfrm>
            <a:off x="2047296" y="2828866"/>
            <a:ext cx="228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" name="Line 4"/>
          <p:cNvSpPr>
            <a:spLocks noChangeShapeType="1"/>
          </p:cNvSpPr>
          <p:nvPr>
            <p:custDataLst>
              <p:tags r:id="rId10"/>
            </p:custDataLst>
          </p:nvPr>
        </p:nvSpPr>
        <p:spPr bwMode="auto">
          <a:xfrm>
            <a:off x="2667783" y="2828866"/>
            <a:ext cx="380999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" name="Line 4"/>
          <p:cNvSpPr>
            <a:spLocks noChangeShapeType="1"/>
          </p:cNvSpPr>
          <p:nvPr>
            <p:custDataLst>
              <p:tags r:id="rId11"/>
            </p:custDataLst>
          </p:nvPr>
        </p:nvSpPr>
        <p:spPr bwMode="auto">
          <a:xfrm>
            <a:off x="2667783" y="2763553"/>
            <a:ext cx="380999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" name="Line 4"/>
          <p:cNvSpPr>
            <a:spLocks noChangeShapeType="1"/>
          </p:cNvSpPr>
          <p:nvPr>
            <p:custDataLst>
              <p:tags r:id="rId12"/>
            </p:custDataLst>
          </p:nvPr>
        </p:nvSpPr>
        <p:spPr bwMode="auto">
          <a:xfrm>
            <a:off x="2085396" y="3405809"/>
            <a:ext cx="228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" name="Line 4"/>
          <p:cNvSpPr>
            <a:spLocks noChangeShapeType="1"/>
          </p:cNvSpPr>
          <p:nvPr>
            <p:custDataLst>
              <p:tags r:id="rId13"/>
            </p:custDataLst>
          </p:nvPr>
        </p:nvSpPr>
        <p:spPr bwMode="auto">
          <a:xfrm>
            <a:off x="1949318" y="3993639"/>
            <a:ext cx="228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4740100" y="2409609"/>
            <a:ext cx="425150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 sz="2800" dirty="0"/>
              <a:t>Work from the </a:t>
            </a:r>
            <a:r>
              <a:rPr lang="en-US" sz="2800" b="1" dirty="0">
                <a:solidFill>
                  <a:srgbClr val="0070C0"/>
                </a:solidFill>
              </a:rPr>
              <a:t>outside in</a:t>
            </a:r>
          </a:p>
          <a:p>
            <a:r>
              <a:rPr lang="en-US" sz="2800" dirty="0"/>
              <a:t>      (i.e., top bar, then down)</a:t>
            </a:r>
          </a:p>
          <a:p>
            <a:pPr marL="285750" indent="-285750">
              <a:buFont typeface="Arial" charset="0"/>
              <a:buChar char="•"/>
            </a:pPr>
            <a:r>
              <a:rPr lang="en-US" sz="2800" dirty="0"/>
              <a:t>Use </a:t>
            </a:r>
            <a:r>
              <a:rPr lang="en-US" sz="2800" b="1" dirty="0">
                <a:solidFill>
                  <a:srgbClr val="0070C0"/>
                </a:solidFill>
              </a:rPr>
              <a:t>involution</a:t>
            </a:r>
            <a:r>
              <a:rPr lang="en-US" sz="2800" dirty="0">
                <a:solidFill>
                  <a:srgbClr val="0070C0"/>
                </a:solidFill>
              </a:rPr>
              <a:t> </a:t>
            </a:r>
            <a:r>
              <a:rPr lang="en-US" sz="2800" dirty="0"/>
              <a:t>when possible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285301" y="2052637"/>
            <a:ext cx="3428999" cy="403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838200" y="972234"/>
            <a:ext cx="3505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Example 10: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A0A3AB7-0BB4-5648-B039-50E072DD0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68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643176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5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547" name="Rectangle 3"/>
          <p:cNvSpPr>
            <a:spLocks noGrp="1" noChangeArrowheads="1"/>
          </p:cNvSpPr>
          <p:nvPr>
            <p:ph idx="1"/>
            <p:custDataLst>
              <p:tags r:id="rId1"/>
            </p:custDataLst>
          </p:nvPr>
        </p:nvSpPr>
        <p:spPr>
          <a:xfrm>
            <a:off x="1028700" y="1634123"/>
            <a:ext cx="7886700" cy="499527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i="1" dirty="0">
                <a:solidFill>
                  <a:srgbClr val="0070C0"/>
                </a:solidFill>
              </a:rPr>
              <a:t>Y</a:t>
            </a:r>
            <a:r>
              <a:rPr lang="en-US" b="1" dirty="0">
                <a:solidFill>
                  <a:srgbClr val="0070C0"/>
                </a:solidFill>
              </a:rPr>
              <a:t> = </a:t>
            </a:r>
            <a:r>
              <a:rPr lang="en-US" b="1" i="1" dirty="0">
                <a:solidFill>
                  <a:srgbClr val="0070C0"/>
                </a:solidFill>
              </a:rPr>
              <a:t>(ACE+D) + B</a:t>
            </a:r>
          </a:p>
          <a:p>
            <a:pPr marL="0" indent="0">
              <a:buNone/>
            </a:pPr>
            <a:r>
              <a:rPr lang="en-US" i="1" dirty="0"/>
              <a:t>   = (ACE+D) • B</a:t>
            </a:r>
          </a:p>
          <a:p>
            <a:pPr marL="0" indent="0">
              <a:buNone/>
            </a:pPr>
            <a:r>
              <a:rPr lang="en-US" i="1" dirty="0"/>
              <a:t>   = (ACE•D) • B</a:t>
            </a:r>
          </a:p>
          <a:p>
            <a:pPr marL="0" indent="0">
              <a:buNone/>
            </a:pPr>
            <a:r>
              <a:rPr lang="en-US" i="1" dirty="0"/>
              <a:t>   = ((AC+E)•D) • B</a:t>
            </a:r>
          </a:p>
          <a:p>
            <a:pPr marL="0" indent="0">
              <a:buNone/>
            </a:pPr>
            <a:r>
              <a:rPr lang="en-US" i="1" dirty="0"/>
              <a:t>   = ((AC+E)•D) • B</a:t>
            </a:r>
          </a:p>
          <a:p>
            <a:pPr marL="0" indent="0">
              <a:buNone/>
            </a:pPr>
            <a:r>
              <a:rPr lang="en-US" i="1" dirty="0"/>
              <a:t>   = (ACD + DE) • B</a:t>
            </a:r>
          </a:p>
          <a:p>
            <a:pPr marL="0" indent="0">
              <a:buNone/>
            </a:pPr>
            <a:r>
              <a:rPr lang="en-US" i="1" dirty="0"/>
              <a:t>   = ABCD + BDE</a:t>
            </a:r>
          </a:p>
        </p:txBody>
      </p:sp>
      <p:sp>
        <p:nvSpPr>
          <p:cNvPr id="876548" name="Line 4"/>
          <p:cNvSpPr>
            <a:spLocks noChangeShapeType="1"/>
          </p:cNvSpPr>
          <p:nvPr>
            <p:custDataLst>
              <p:tags r:id="rId2"/>
            </p:custDataLst>
          </p:nvPr>
        </p:nvSpPr>
        <p:spPr bwMode="auto">
          <a:xfrm>
            <a:off x="2710542" y="1759267"/>
            <a:ext cx="228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76549" name="Line 5"/>
          <p:cNvSpPr>
            <a:spLocks noChangeShapeType="1"/>
          </p:cNvSpPr>
          <p:nvPr>
            <p:custDataLst>
              <p:tags r:id="rId3"/>
            </p:custDataLst>
          </p:nvPr>
        </p:nvSpPr>
        <p:spPr bwMode="auto">
          <a:xfrm>
            <a:off x="1883227" y="1751693"/>
            <a:ext cx="446313" cy="1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76550" name="Line 6"/>
          <p:cNvSpPr>
            <a:spLocks noChangeShapeType="1"/>
          </p:cNvSpPr>
          <p:nvPr>
            <p:custDataLst>
              <p:tags r:id="rId4"/>
            </p:custDataLst>
          </p:nvPr>
        </p:nvSpPr>
        <p:spPr bwMode="auto">
          <a:xfrm>
            <a:off x="1861450" y="1682523"/>
            <a:ext cx="1861464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De Morgan’s Theorem</a:t>
            </a:r>
          </a:p>
        </p:txBody>
      </p:sp>
      <p:sp>
        <p:nvSpPr>
          <p:cNvPr id="13" name="Line 6"/>
          <p:cNvSpPr>
            <a:spLocks noChangeShapeType="1"/>
          </p:cNvSpPr>
          <p:nvPr>
            <p:custDataLst>
              <p:tags r:id="rId5"/>
            </p:custDataLst>
          </p:nvPr>
        </p:nvSpPr>
        <p:spPr bwMode="auto">
          <a:xfrm>
            <a:off x="1861450" y="2281408"/>
            <a:ext cx="1045031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Line 4"/>
          <p:cNvSpPr>
            <a:spLocks noChangeShapeType="1"/>
          </p:cNvSpPr>
          <p:nvPr>
            <p:custDataLst>
              <p:tags r:id="rId6"/>
            </p:custDataLst>
          </p:nvPr>
        </p:nvSpPr>
        <p:spPr bwMode="auto">
          <a:xfrm>
            <a:off x="3450780" y="2357608"/>
            <a:ext cx="228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" name="Line 5"/>
          <p:cNvSpPr>
            <a:spLocks noChangeShapeType="1"/>
          </p:cNvSpPr>
          <p:nvPr>
            <p:custDataLst>
              <p:tags r:id="rId7"/>
            </p:custDataLst>
          </p:nvPr>
        </p:nvSpPr>
        <p:spPr bwMode="auto">
          <a:xfrm>
            <a:off x="1858273" y="2336007"/>
            <a:ext cx="41366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" name="Line 4"/>
          <p:cNvSpPr>
            <a:spLocks noChangeShapeType="1"/>
          </p:cNvSpPr>
          <p:nvPr>
            <p:custDataLst>
              <p:tags r:id="rId8"/>
            </p:custDataLst>
          </p:nvPr>
        </p:nvSpPr>
        <p:spPr bwMode="auto">
          <a:xfrm>
            <a:off x="1850571" y="2916466"/>
            <a:ext cx="478969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" name="Line 4"/>
          <p:cNvSpPr>
            <a:spLocks noChangeShapeType="1"/>
          </p:cNvSpPr>
          <p:nvPr>
            <p:custDataLst>
              <p:tags r:id="rId9"/>
            </p:custDataLst>
          </p:nvPr>
        </p:nvSpPr>
        <p:spPr bwMode="auto">
          <a:xfrm>
            <a:off x="1850571" y="2862040"/>
            <a:ext cx="62048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" name="Line 4"/>
          <p:cNvSpPr>
            <a:spLocks noChangeShapeType="1"/>
          </p:cNvSpPr>
          <p:nvPr>
            <p:custDataLst>
              <p:tags r:id="rId10"/>
            </p:custDataLst>
          </p:nvPr>
        </p:nvSpPr>
        <p:spPr bwMode="auto">
          <a:xfrm flipV="1">
            <a:off x="2008418" y="3522205"/>
            <a:ext cx="375548" cy="4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" name="Line 4"/>
          <p:cNvSpPr>
            <a:spLocks noChangeShapeType="1"/>
          </p:cNvSpPr>
          <p:nvPr>
            <p:custDataLst>
              <p:tags r:id="rId11"/>
            </p:custDataLst>
          </p:nvPr>
        </p:nvSpPr>
        <p:spPr bwMode="auto">
          <a:xfrm>
            <a:off x="2677882" y="2357608"/>
            <a:ext cx="228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" name="Line 4"/>
          <p:cNvSpPr>
            <a:spLocks noChangeShapeType="1"/>
          </p:cNvSpPr>
          <p:nvPr>
            <p:custDataLst>
              <p:tags r:id="rId12"/>
            </p:custDataLst>
          </p:nvPr>
        </p:nvSpPr>
        <p:spPr bwMode="auto">
          <a:xfrm>
            <a:off x="3461666" y="2916466"/>
            <a:ext cx="228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" name="Line 4"/>
          <p:cNvSpPr>
            <a:spLocks noChangeShapeType="1"/>
          </p:cNvSpPr>
          <p:nvPr>
            <p:custDataLst>
              <p:tags r:id="rId13"/>
            </p:custDataLst>
          </p:nvPr>
        </p:nvSpPr>
        <p:spPr bwMode="auto">
          <a:xfrm>
            <a:off x="2726080" y="2916462"/>
            <a:ext cx="228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" name="Line 4"/>
          <p:cNvSpPr>
            <a:spLocks noChangeShapeType="1"/>
          </p:cNvSpPr>
          <p:nvPr>
            <p:custDataLst>
              <p:tags r:id="rId14"/>
            </p:custDataLst>
          </p:nvPr>
        </p:nvSpPr>
        <p:spPr bwMode="auto">
          <a:xfrm>
            <a:off x="2596242" y="3522205"/>
            <a:ext cx="228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" name="Line 4"/>
          <p:cNvSpPr>
            <a:spLocks noChangeShapeType="1"/>
          </p:cNvSpPr>
          <p:nvPr>
            <p:custDataLst>
              <p:tags r:id="rId15"/>
            </p:custDataLst>
          </p:nvPr>
        </p:nvSpPr>
        <p:spPr bwMode="auto">
          <a:xfrm>
            <a:off x="1981194" y="3435130"/>
            <a:ext cx="40277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" name="Line 4"/>
          <p:cNvSpPr>
            <a:spLocks noChangeShapeType="1"/>
          </p:cNvSpPr>
          <p:nvPr>
            <p:custDataLst>
              <p:tags r:id="rId16"/>
            </p:custDataLst>
          </p:nvPr>
        </p:nvSpPr>
        <p:spPr bwMode="auto">
          <a:xfrm>
            <a:off x="3868466" y="3515013"/>
            <a:ext cx="228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" name="Line 4"/>
          <p:cNvSpPr>
            <a:spLocks noChangeShapeType="1"/>
          </p:cNvSpPr>
          <p:nvPr>
            <p:custDataLst>
              <p:tags r:id="rId17"/>
            </p:custDataLst>
          </p:nvPr>
        </p:nvSpPr>
        <p:spPr bwMode="auto">
          <a:xfrm>
            <a:off x="2601670" y="4110033"/>
            <a:ext cx="228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" name="Line 4"/>
          <p:cNvSpPr>
            <a:spLocks noChangeShapeType="1"/>
          </p:cNvSpPr>
          <p:nvPr>
            <p:custDataLst>
              <p:tags r:id="rId18"/>
            </p:custDataLst>
          </p:nvPr>
        </p:nvSpPr>
        <p:spPr bwMode="auto">
          <a:xfrm>
            <a:off x="3873894" y="4102841"/>
            <a:ext cx="228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" name="Line 4"/>
          <p:cNvSpPr>
            <a:spLocks noChangeShapeType="1"/>
          </p:cNvSpPr>
          <p:nvPr>
            <p:custDataLst>
              <p:tags r:id="rId19"/>
            </p:custDataLst>
          </p:nvPr>
        </p:nvSpPr>
        <p:spPr bwMode="auto">
          <a:xfrm>
            <a:off x="3856200" y="4676281"/>
            <a:ext cx="228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" name="Line 4"/>
          <p:cNvSpPr>
            <a:spLocks noChangeShapeType="1"/>
          </p:cNvSpPr>
          <p:nvPr>
            <p:custDataLst>
              <p:tags r:id="rId20"/>
            </p:custDataLst>
          </p:nvPr>
        </p:nvSpPr>
        <p:spPr bwMode="auto">
          <a:xfrm>
            <a:off x="3166296" y="4676277"/>
            <a:ext cx="228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" name="Line 4"/>
          <p:cNvSpPr>
            <a:spLocks noChangeShapeType="1"/>
          </p:cNvSpPr>
          <p:nvPr>
            <p:custDataLst>
              <p:tags r:id="rId21"/>
            </p:custDataLst>
          </p:nvPr>
        </p:nvSpPr>
        <p:spPr bwMode="auto">
          <a:xfrm>
            <a:off x="1932215" y="5263032"/>
            <a:ext cx="228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" name="Line 4"/>
          <p:cNvSpPr>
            <a:spLocks noChangeShapeType="1"/>
          </p:cNvSpPr>
          <p:nvPr>
            <p:custDataLst>
              <p:tags r:id="rId22"/>
            </p:custDataLst>
          </p:nvPr>
        </p:nvSpPr>
        <p:spPr bwMode="auto">
          <a:xfrm>
            <a:off x="2993567" y="5263032"/>
            <a:ext cx="228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2" name="Line 4"/>
          <p:cNvSpPr>
            <a:spLocks noChangeShapeType="1"/>
          </p:cNvSpPr>
          <p:nvPr>
            <p:custDataLst>
              <p:tags r:id="rId23"/>
            </p:custDataLst>
          </p:nvPr>
        </p:nvSpPr>
        <p:spPr bwMode="auto">
          <a:xfrm>
            <a:off x="3492106" y="5263013"/>
            <a:ext cx="228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" name="Line 4"/>
          <p:cNvSpPr>
            <a:spLocks noChangeShapeType="1"/>
          </p:cNvSpPr>
          <p:nvPr>
            <p:custDataLst>
              <p:tags r:id="rId24"/>
            </p:custDataLst>
          </p:nvPr>
        </p:nvSpPr>
        <p:spPr bwMode="auto">
          <a:xfrm>
            <a:off x="2726852" y="2854542"/>
            <a:ext cx="228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" name="Rectangle 35"/>
          <p:cNvSpPr/>
          <p:nvPr/>
        </p:nvSpPr>
        <p:spPr>
          <a:xfrm>
            <a:off x="1143001" y="2128837"/>
            <a:ext cx="3428999" cy="403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/>
          <p:cNvSpPr txBox="1"/>
          <p:nvPr/>
        </p:nvSpPr>
        <p:spPr>
          <a:xfrm>
            <a:off x="838200" y="972234"/>
            <a:ext cx="3505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Example 11: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D9E7997-1931-A245-83F9-1DC7E7382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69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290722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0" y="76200"/>
            <a:ext cx="9144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  <a:latin typeface="+mj-lt"/>
              </a:rPr>
              <a:t>Chapter 2: Combinational Logic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DAA03A6C-70A8-504F-B2A9-E24C66359451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0" y="2438400"/>
            <a:ext cx="9144000" cy="1600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en-US" sz="7200" b="1" dirty="0"/>
              <a:t>Boolean Algebra: Simplifying Equations</a:t>
            </a:r>
            <a:endParaRPr lang="en-US" sz="7200" dirty="0"/>
          </a:p>
          <a:p>
            <a:pPr algn="ctr">
              <a:buFontTx/>
              <a:buNone/>
            </a:pPr>
            <a:endParaRPr lang="en-US" sz="72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AA03A6C-70A8-504F-B2A9-E24C66359451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>
          <a:xfrm>
            <a:off x="152400" y="1066800"/>
            <a:ext cx="9144000" cy="1600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en-US" sz="7200" b="1" dirty="0">
                <a:solidFill>
                  <a:schemeClr val="bg1"/>
                </a:solidFill>
              </a:rPr>
              <a:t>Common Errors</a:t>
            </a:r>
            <a:endParaRPr lang="en-US" sz="7200" dirty="0">
              <a:solidFill>
                <a:schemeClr val="bg1"/>
              </a:solidFill>
            </a:endParaRPr>
          </a:p>
          <a:p>
            <a:pPr lvl="1" algn="ctr"/>
            <a:endParaRPr lang="en-US" sz="7200" dirty="0"/>
          </a:p>
          <a:p>
            <a:pPr algn="ctr">
              <a:buFontTx/>
              <a:buNone/>
            </a:pP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249948092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Common Errors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181686"/>
            <a:ext cx="8134350" cy="4995277"/>
          </a:xfrm>
        </p:spPr>
        <p:txBody>
          <a:bodyPr>
            <a:normAutofit/>
          </a:bodyPr>
          <a:lstStyle/>
          <a:p>
            <a:r>
              <a:rPr lang="en-US" sz="2400" dirty="0"/>
              <a:t>Using ticks ‘ instead of </a:t>
            </a:r>
            <a:r>
              <a:rPr lang="en-US" sz="2400" b="1" dirty="0"/>
              <a:t>bars</a:t>
            </a:r>
            <a:r>
              <a:rPr lang="en-US" sz="2400" dirty="0"/>
              <a:t> over variables when writing equations by hand – ticks are easy to lose</a:t>
            </a:r>
          </a:p>
          <a:p>
            <a:r>
              <a:rPr lang="en-US" sz="2400" b="1" dirty="0"/>
              <a:t>Not</a:t>
            </a:r>
            <a:r>
              <a:rPr lang="en-US" sz="2400" dirty="0"/>
              <a:t> keeping terms </a:t>
            </a:r>
            <a:r>
              <a:rPr lang="en-US" sz="2400" b="1" dirty="0"/>
              <a:t>aligned</a:t>
            </a:r>
            <a:r>
              <a:rPr lang="en-US" sz="2400" dirty="0"/>
              <a:t> from step to step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Alignment helps you see what changed from step-to-step.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It helps in both solving and double-checking the problem.</a:t>
            </a:r>
          </a:p>
          <a:p>
            <a:r>
              <a:rPr lang="en-US" sz="2400" dirty="0"/>
              <a:t>Applying </a:t>
            </a:r>
            <a:r>
              <a:rPr lang="en-US" sz="2400" b="1" dirty="0"/>
              <a:t>multiple theorems </a:t>
            </a:r>
            <a:r>
              <a:rPr lang="en-US" sz="2400" dirty="0"/>
              <a:t>to the same term in one step</a:t>
            </a:r>
          </a:p>
          <a:p>
            <a:r>
              <a:rPr lang="en-US" sz="2400" dirty="0"/>
              <a:t>Applying </a:t>
            </a:r>
            <a:r>
              <a:rPr lang="en-US" sz="2400" b="1" dirty="0"/>
              <a:t>your own personal theorems</a:t>
            </a:r>
            <a:r>
              <a:rPr lang="en-US" sz="2400" dirty="0"/>
              <a:t> – don’t do it </a:t>
            </a:r>
            <a:r>
              <a:rPr lang="en-US" sz="2400" dirty="0">
                <a:sym typeface="Wingdings" panose="05000000000000000000" pitchFamily="2" charset="2"/>
              </a:rPr>
              <a:t></a:t>
            </a:r>
          </a:p>
          <a:p>
            <a:r>
              <a:rPr lang="en-US" sz="2400" dirty="0"/>
              <a:t>And, on a related note: </a:t>
            </a:r>
            <a:r>
              <a:rPr lang="en-US" sz="2400" b="1" i="1" dirty="0"/>
              <a:t>almost</a:t>
            </a:r>
            <a:r>
              <a:rPr lang="en-US" sz="2400" b="1" dirty="0"/>
              <a:t> </a:t>
            </a:r>
            <a:r>
              <a:rPr lang="en-US" sz="2400" dirty="0"/>
              <a:t>applying the correct theorem</a:t>
            </a:r>
          </a:p>
          <a:p>
            <a:r>
              <a:rPr lang="en-US" sz="2400" b="1" i="1" dirty="0">
                <a:sym typeface="Wingdings" panose="05000000000000000000" pitchFamily="2" charset="2"/>
              </a:rPr>
              <a:t>Not </a:t>
            </a:r>
            <a:r>
              <a:rPr lang="en-US" sz="2400" dirty="0">
                <a:sym typeface="Wingdings" panose="05000000000000000000" pitchFamily="2" charset="2"/>
              </a:rPr>
              <a:t> looking for opportunities to use combining, covering, and </a:t>
            </a:r>
            <a:r>
              <a:rPr lang="en-US" sz="2400" dirty="0" err="1">
                <a:sym typeface="Wingdings" panose="05000000000000000000" pitchFamily="2" charset="2"/>
              </a:rPr>
              <a:t>distributivity</a:t>
            </a:r>
            <a:r>
              <a:rPr lang="en-US" sz="2400" dirty="0">
                <a:sym typeface="Wingdings" panose="05000000000000000000" pitchFamily="2" charset="2"/>
              </a:rPr>
              <a:t> (especially the dual form).</a:t>
            </a:r>
            <a:r>
              <a:rPr lang="en-US" sz="2400" b="1" i="1" dirty="0"/>
              <a:t> </a:t>
            </a:r>
            <a:endParaRPr lang="en-US" sz="2400" dirty="0"/>
          </a:p>
          <a:p>
            <a:pPr marL="0" indent="0">
              <a:buNone/>
            </a:pPr>
            <a:endParaRPr lang="en-US" sz="2400" b="1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79ABD55-5BDB-B14C-93D0-04AFE00AA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71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0382124"/>
      </p:ext>
    </p:extLst>
  </p:cSld>
  <p:clrMapOvr>
    <a:masterClrMapping/>
  </p:clrMapOvr>
  <p:transition/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Common Errors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181686"/>
                <a:ext cx="8286750" cy="4995277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sz="2200" b="1" dirty="0"/>
                  <a:t>Losing bars </a:t>
                </a:r>
                <a:r>
                  <a:rPr lang="en-US" sz="2200" dirty="0"/>
                  <a:t>(alignment will help you avoid this)</a:t>
                </a:r>
              </a:p>
              <a:p>
                <a:r>
                  <a:rPr lang="en-US" sz="2200" b="1" dirty="0"/>
                  <a:t>Losing terms </a:t>
                </a:r>
                <a:r>
                  <a:rPr lang="en-US" sz="2200" dirty="0"/>
                  <a:t>(alignment will help you avoid this)</a:t>
                </a:r>
              </a:p>
              <a:p>
                <a:r>
                  <a:rPr lang="en-US" sz="2200" b="1" dirty="0"/>
                  <a:t>Trying to do multiple steps at once </a:t>
                </a:r>
                <a:r>
                  <a:rPr lang="en-US" sz="2200" dirty="0"/>
                  <a:t>– this is prone to errors!</a:t>
                </a:r>
              </a:p>
              <a:p>
                <a:r>
                  <a:rPr lang="en-US" sz="2200" b="1" dirty="0"/>
                  <a:t>Applying theorems incorrectly</a:t>
                </a:r>
                <a:r>
                  <a:rPr lang="en-US" sz="2200" dirty="0"/>
                  <a:t>, for example: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sz="2200" b="1" dirty="0">
                    <a:solidFill>
                      <a:srgbClr val="FF0000"/>
                    </a:solidFill>
                  </a:rPr>
                  <a:t>Wrong:</a:t>
                </a:r>
                <a:r>
                  <a:rPr lang="en-US" sz="2200" dirty="0"/>
                  <a:t> ABC + ABC = B  </a:t>
                </a:r>
                <a:r>
                  <a:rPr lang="en-US" sz="2200" b="1" dirty="0">
                    <a:solidFill>
                      <a:srgbClr val="00B050"/>
                    </a:solidFill>
                  </a:rPr>
                  <a:t>Correct: </a:t>
                </a:r>
                <a:r>
                  <a:rPr lang="en-US" sz="2200" dirty="0"/>
                  <a:t>ABC + ABC = AC. Products may only </a:t>
                </a:r>
                <a:r>
                  <a:rPr lang="en-US" sz="2200" b="1" dirty="0"/>
                  <a:t>differ in a single term </a:t>
                </a:r>
                <a:r>
                  <a:rPr lang="en-US" sz="2200" dirty="0"/>
                  <a:t>when using the combining theorem.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sz="2200" b="1" dirty="0">
                    <a:solidFill>
                      <a:srgbClr val="FF0000"/>
                    </a:solidFill>
                  </a:rPr>
                  <a:t>Wrong:</a:t>
                </a:r>
                <a:r>
                  <a:rPr lang="en-US" sz="2200" b="1" dirty="0"/>
                  <a:t> </a:t>
                </a:r>
                <a:r>
                  <a:rPr lang="en-US" sz="2200" dirty="0"/>
                  <a:t>(A + A) = 0  </a:t>
                </a:r>
                <a:r>
                  <a:rPr lang="en-US" sz="2200" b="1" dirty="0">
                    <a:solidFill>
                      <a:srgbClr val="00B050"/>
                    </a:solidFill>
                  </a:rPr>
                  <a:t>Correct:</a:t>
                </a:r>
                <a:r>
                  <a:rPr lang="en-US" sz="2200" dirty="0">
                    <a:solidFill>
                      <a:srgbClr val="00B050"/>
                    </a:solidFill>
                  </a:rPr>
                  <a:t> </a:t>
                </a:r>
                <a:r>
                  <a:rPr lang="en-US" sz="2200" dirty="0"/>
                  <a:t>A + A = 1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sz="2200" b="1" dirty="0">
                    <a:solidFill>
                      <a:srgbClr val="FF0000"/>
                    </a:solidFill>
                  </a:rPr>
                  <a:t>Wrong: </a:t>
                </a:r>
                <a:r>
                  <a:rPr lang="en-US" sz="2200" dirty="0"/>
                  <a:t>(A • A) = 1  </a:t>
                </a:r>
                <a:r>
                  <a:rPr lang="en-US" sz="2200" b="1" dirty="0">
                    <a:solidFill>
                      <a:srgbClr val="00B050"/>
                    </a:solidFill>
                  </a:rPr>
                  <a:t>Correct:</a:t>
                </a:r>
                <a:r>
                  <a:rPr lang="en-US" sz="2200" dirty="0">
                    <a:solidFill>
                      <a:srgbClr val="00B050"/>
                    </a:solidFill>
                  </a:rPr>
                  <a:t> </a:t>
                </a:r>
                <a:r>
                  <a:rPr lang="en-US" sz="2200" dirty="0"/>
                  <a:t>A • A = 0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sz="2200" b="1" dirty="0">
                    <a:solidFill>
                      <a:srgbClr val="FF0000"/>
                    </a:solidFill>
                  </a:rPr>
                  <a:t>Wrong:</a:t>
                </a:r>
                <a:r>
                  <a:rPr lang="en-US" sz="2200" dirty="0"/>
                  <a:t> ABC = B  </a:t>
                </a:r>
                <a:r>
                  <a:rPr lang="en-US" sz="2200" b="1" dirty="0">
                    <a:solidFill>
                      <a:srgbClr val="00B050"/>
                    </a:solidFill>
                  </a:rPr>
                  <a:t>Correct:</a:t>
                </a:r>
                <a:r>
                  <a:rPr lang="en-US" sz="2200" dirty="0"/>
                  <a:t> </a:t>
                </a:r>
                <a:r>
                  <a:rPr lang="en-US" sz="2200" b="1" dirty="0"/>
                  <a:t>B</a:t>
                </a:r>
                <a:r>
                  <a:rPr lang="en-US" sz="2200" dirty="0"/>
                  <a:t> + ABC = B. In order to use the covering theorem, you must have a term that covers the other terms. 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sz="2200" b="1" dirty="0">
                    <a:solidFill>
                      <a:srgbClr val="FF0000"/>
                    </a:solidFill>
                  </a:rPr>
                  <a:t>Wrong:</a:t>
                </a:r>
                <a:r>
                  <a:rPr lang="en-US" sz="2200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200" i="1">
                            <a:latin typeface="Cambria Math"/>
                          </a:rPr>
                          <m:t>𝐴𝐶</m:t>
                        </m:r>
                      </m:e>
                    </m:acc>
                    <m:r>
                      <a:rPr lang="en-US" sz="2200" i="1">
                        <a:latin typeface="Cambria Math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200" i="1">
                            <a:latin typeface="Cambria Math"/>
                          </a:rPr>
                          <m:t>𝐴</m:t>
                        </m:r>
                      </m:e>
                    </m:acc>
                    <m:acc>
                      <m:accPr>
                        <m:chr m:val="̅"/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200" i="1">
                            <a:latin typeface="Cambria Math"/>
                          </a:rPr>
                          <m:t>𝐶</m:t>
                        </m:r>
                      </m:e>
                    </m:acc>
                  </m:oMath>
                </a14:m>
                <a:r>
                  <a:rPr lang="en-US" sz="2200" b="1" dirty="0">
                    <a:solidFill>
                      <a:srgbClr val="00B050"/>
                    </a:solidFill>
                  </a:rPr>
                  <a:t>    Correct:</a:t>
                </a:r>
                <a:r>
                  <a:rPr lang="en-US" sz="2200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200" i="1">
                            <a:latin typeface="Cambria Math"/>
                          </a:rPr>
                          <m:t>𝐴𝐶</m:t>
                        </m:r>
                      </m:e>
                    </m:acc>
                    <m:r>
                      <a:rPr lang="en-US" sz="2200" i="1">
                        <a:latin typeface="Cambria Math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200" i="1">
                            <a:latin typeface="Cambria Math"/>
                          </a:rPr>
                          <m:t>𝐴</m:t>
                        </m:r>
                      </m:e>
                    </m:acc>
                    <m:r>
                      <a:rPr lang="en-US" sz="2200" i="1">
                        <a:latin typeface="Cambria Math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200" i="1">
                            <a:latin typeface="Cambria Math"/>
                          </a:rPr>
                          <m:t>𝐶</m:t>
                        </m:r>
                      </m:e>
                    </m:acc>
                    <m:r>
                      <a:rPr lang="en-US" sz="2200" b="0" i="1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sz="2200" dirty="0"/>
                  <a:t>(De Morgan’s)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sz="2200" b="1" dirty="0">
                    <a:solidFill>
                      <a:srgbClr val="FF0000"/>
                    </a:solidFill>
                  </a:rPr>
                  <a:t>Wrong:</a:t>
                </a:r>
                <a:r>
                  <a:rPr lang="en-US" sz="2200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200" i="1">
                            <a:latin typeface="Cambria Math"/>
                          </a:rPr>
                          <m:t>𝐴</m:t>
                        </m:r>
                        <m:r>
                          <a:rPr lang="en-US" sz="2200" i="1">
                            <a:latin typeface="Cambria Math"/>
                          </a:rPr>
                          <m:t>+</m:t>
                        </m:r>
                        <m:r>
                          <a:rPr lang="en-US" sz="2200" i="1">
                            <a:latin typeface="Cambria Math"/>
                          </a:rPr>
                          <m:t>𝐶</m:t>
                        </m:r>
                      </m:e>
                    </m:acc>
                    <m:r>
                      <a:rPr lang="en-US" sz="2200" i="1">
                        <a:latin typeface="Cambria Math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200" i="1">
                            <a:latin typeface="Cambria Math"/>
                          </a:rPr>
                          <m:t>𝐴</m:t>
                        </m:r>
                      </m:e>
                    </m:acc>
                    <m:r>
                      <a:rPr lang="en-US" sz="2200" i="1">
                        <a:latin typeface="Cambria Math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200" i="1">
                            <a:latin typeface="Cambria Math"/>
                          </a:rPr>
                          <m:t>𝐶</m:t>
                        </m:r>
                      </m:e>
                    </m:acc>
                  </m:oMath>
                </a14:m>
                <a:r>
                  <a:rPr lang="en-US" sz="2200" b="1" dirty="0">
                    <a:solidFill>
                      <a:srgbClr val="00B050"/>
                    </a:solidFill>
                  </a:rPr>
                  <a:t>   Correct: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200" i="1">
                            <a:latin typeface="Cambria Math"/>
                          </a:rPr>
                          <m:t>𝐴</m:t>
                        </m:r>
                        <m:r>
                          <a:rPr lang="en-US" sz="2200" i="1">
                            <a:latin typeface="Cambria Math"/>
                          </a:rPr>
                          <m:t>+</m:t>
                        </m:r>
                        <m:r>
                          <a:rPr lang="en-US" sz="2200" i="1">
                            <a:latin typeface="Cambria Math"/>
                          </a:rPr>
                          <m:t>𝐶</m:t>
                        </m:r>
                      </m:e>
                    </m:acc>
                    <m:r>
                      <a:rPr lang="en-US" sz="2200" i="1">
                        <a:latin typeface="Cambria Math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200" i="1">
                            <a:latin typeface="Cambria Math"/>
                          </a:rPr>
                          <m:t>𝐴</m:t>
                        </m:r>
                      </m:e>
                    </m:acc>
                    <m:acc>
                      <m:accPr>
                        <m:chr m:val="̅"/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200" i="1">
                            <a:latin typeface="Cambria Math"/>
                          </a:rPr>
                          <m:t>𝐶</m:t>
                        </m:r>
                      </m:e>
                    </m:acc>
                  </m:oMath>
                </a14:m>
                <a:r>
                  <a:rPr lang="en-US" sz="2200" dirty="0"/>
                  <a:t> (De Morgan’s)</a:t>
                </a:r>
                <a:endParaRPr lang="en-US" sz="2400" b="1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181686"/>
                <a:ext cx="8286750" cy="4995277"/>
              </a:xfrm>
              <a:blipFill>
                <a:blip r:embed="rId3"/>
                <a:stretch>
                  <a:fillRect l="-809" t="-15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/>
          <p:cNvCxnSpPr/>
          <p:nvPr/>
        </p:nvCxnSpPr>
        <p:spPr>
          <a:xfrm>
            <a:off x="2933696" y="3386117"/>
            <a:ext cx="152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2933696" y="3762362"/>
            <a:ext cx="152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5181600" y="3386125"/>
            <a:ext cx="152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5181600" y="3762370"/>
            <a:ext cx="152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3186111" y="2719369"/>
            <a:ext cx="152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3481385" y="2719369"/>
            <a:ext cx="152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6048378" y="2719369"/>
            <a:ext cx="152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B0CD383-74BA-D74A-BF68-F9C4F2B6B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72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0982352"/>
      </p:ext>
    </p:extLst>
  </p:cSld>
  <p:clrMapOvr>
    <a:masterClrMapping/>
  </p:clrMapOvr>
  <p:transition/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Common Errors with De Morgan’s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181686"/>
            <a:ext cx="8286750" cy="4995277"/>
          </a:xfrm>
        </p:spPr>
        <p:txBody>
          <a:bodyPr>
            <a:normAutofit fontScale="92500" lnSpcReduction="20000"/>
          </a:bodyPr>
          <a:lstStyle/>
          <a:p>
            <a:r>
              <a:rPr lang="en-US" sz="2400" dirty="0"/>
              <a:t>Not starting from the outside parentheses and working in: this often causes additional steps.</a:t>
            </a:r>
          </a:p>
          <a:p>
            <a:r>
              <a:rPr lang="en-US" sz="2400" dirty="0"/>
              <a:t>Trying to apply De Morgan’s theorem to an entire </a:t>
            </a:r>
            <a:r>
              <a:rPr lang="en-US" sz="2400" b="1" dirty="0"/>
              <a:t>complex operation </a:t>
            </a:r>
            <a:r>
              <a:rPr lang="en-US" sz="2400" dirty="0"/>
              <a:t>(instead of just to terms ANDed under a bar or terms </a:t>
            </a:r>
            <a:r>
              <a:rPr lang="en-US" sz="2400" dirty="0" err="1"/>
              <a:t>ORed</a:t>
            </a:r>
            <a:r>
              <a:rPr lang="en-US" sz="2400" dirty="0"/>
              <a:t> under a bar)</a:t>
            </a:r>
          </a:p>
          <a:p>
            <a:r>
              <a:rPr lang="en-US" sz="2400" b="1" dirty="0"/>
              <a:t>Losing bars. </a:t>
            </a:r>
            <a:r>
              <a:rPr lang="en-US" sz="2400" dirty="0"/>
              <a:t>Remember that applying the De Morgan’s Theorem is a 3 step process. For a product term under a bar: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dirty="0"/>
              <a:t>Change ANDs to ORs (or vice versa for a sum term under a bar)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dirty="0"/>
              <a:t>Bring down the terms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dirty="0"/>
              <a:t>Put bars over the individual terms</a:t>
            </a:r>
          </a:p>
          <a:p>
            <a:r>
              <a:rPr lang="en-US" sz="2400" dirty="0"/>
              <a:t>Not keeping terms associated (i.e., </a:t>
            </a:r>
            <a:r>
              <a:rPr lang="en-US" sz="2400" b="1" dirty="0"/>
              <a:t>losing parentheses</a:t>
            </a:r>
            <a:r>
              <a:rPr lang="en-US" sz="2400" dirty="0"/>
              <a:t>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For example, ABC = (A+B+C)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Example error:</a:t>
            </a:r>
          </a:p>
          <a:p>
            <a:pPr marL="1257300" lvl="2" indent="-342900"/>
            <a:r>
              <a:rPr lang="en-US" b="1" dirty="0">
                <a:solidFill>
                  <a:srgbClr val="FF0000"/>
                </a:solidFill>
              </a:rPr>
              <a:t>Wrong:  </a:t>
            </a:r>
            <a:r>
              <a:rPr lang="en-US" dirty="0"/>
              <a:t>(ABC)’C+D’   =  </a:t>
            </a:r>
            <a:r>
              <a:rPr lang="en-US" b="1" dirty="0">
                <a:solidFill>
                  <a:srgbClr val="FF0000"/>
                </a:solidFill>
              </a:rPr>
              <a:t>A’+B’+C’</a:t>
            </a:r>
            <a:r>
              <a:rPr lang="en-US" dirty="0"/>
              <a:t>C + D’   = </a:t>
            </a:r>
            <a:r>
              <a:rPr lang="en-US" b="1" dirty="0">
                <a:solidFill>
                  <a:srgbClr val="FF0000"/>
                </a:solidFill>
              </a:rPr>
              <a:t>A’ + B’ </a:t>
            </a:r>
            <a:r>
              <a:rPr lang="en-US" dirty="0"/>
              <a:t>+ D’</a:t>
            </a:r>
          </a:p>
          <a:p>
            <a:pPr marL="1257300" lvl="2" indent="-342900"/>
            <a:r>
              <a:rPr lang="en-US" b="1" dirty="0">
                <a:solidFill>
                  <a:srgbClr val="00B050"/>
                </a:solidFill>
              </a:rPr>
              <a:t>Correct: </a:t>
            </a:r>
            <a:r>
              <a:rPr lang="en-US" dirty="0"/>
              <a:t>(ABC)’C + D’ = </a:t>
            </a:r>
            <a:r>
              <a:rPr lang="en-US" b="1" dirty="0">
                <a:solidFill>
                  <a:srgbClr val="00B050"/>
                </a:solidFill>
              </a:rPr>
              <a:t>(A’+B’+C’)</a:t>
            </a:r>
            <a:r>
              <a:rPr lang="en-US" dirty="0"/>
              <a:t>C + D’ = </a:t>
            </a:r>
            <a:r>
              <a:rPr lang="en-US" b="1" dirty="0">
                <a:solidFill>
                  <a:srgbClr val="00B050"/>
                </a:solidFill>
              </a:rPr>
              <a:t>A’C+B’C</a:t>
            </a:r>
            <a:r>
              <a:rPr lang="en-US" dirty="0"/>
              <a:t> + D’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4171950" y="4611675"/>
            <a:ext cx="152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3886200" y="4611370"/>
            <a:ext cx="152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3048000" y="4613280"/>
            <a:ext cx="50164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4461510" y="4610100"/>
            <a:ext cx="152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E75E2D9-E316-AD42-8F30-1DC3A3DC0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73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1253221"/>
      </p:ext>
    </p:extLst>
  </p:cSld>
  <p:clrMapOvr>
    <a:masterClrMapping/>
  </p:clrMapOvr>
  <p:transition/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0" y="76200"/>
            <a:ext cx="9144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  <a:latin typeface="+mj-lt"/>
              </a:rPr>
              <a:t>Chapter 2: Combinational Logic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DAA03A6C-70A8-504F-B2A9-E24C66359451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0" y="2438400"/>
            <a:ext cx="9144000" cy="1600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en-US" sz="7200" b="1" dirty="0"/>
              <a:t>From Logic to Gates</a:t>
            </a:r>
            <a:endParaRPr lang="en-US" sz="7200" dirty="0"/>
          </a:p>
          <a:p>
            <a:pPr lvl="1" algn="ctr"/>
            <a:endParaRPr lang="en-US" sz="7200" dirty="0"/>
          </a:p>
          <a:p>
            <a:pPr algn="ctr">
              <a:buFontTx/>
              <a:buNone/>
            </a:pP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2626121186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075" name="Rectangle 3"/>
          <p:cNvSpPr>
            <a:spLocks noGrp="1" noChangeArrowheads="1"/>
          </p:cNvSpPr>
          <p:nvPr>
            <p:ph type="body" sz="half" idx="4294967295"/>
            <p:custDataLst>
              <p:tags r:id="rId1"/>
            </p:custDataLst>
          </p:nvPr>
        </p:nvSpPr>
        <p:spPr>
          <a:xfrm>
            <a:off x="914400" y="1219200"/>
            <a:ext cx="7315200" cy="4953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Build the following equation using logic gates:</a:t>
            </a:r>
          </a:p>
          <a:p>
            <a:pPr marL="0" indent="0">
              <a:buNone/>
            </a:pPr>
            <a:r>
              <a:rPr lang="en-US" sz="2800" i="1" dirty="0"/>
              <a:t>	Y = AB + CDE</a:t>
            </a:r>
          </a:p>
        </p:txBody>
      </p:sp>
      <p:sp>
        <p:nvSpPr>
          <p:cNvPr id="899079" name="Line 7"/>
          <p:cNvSpPr>
            <a:spLocks noChangeShapeType="1"/>
          </p:cNvSpPr>
          <p:nvPr>
            <p:custDataLst>
              <p:tags r:id="rId2"/>
            </p:custDataLst>
          </p:nvPr>
        </p:nvSpPr>
        <p:spPr bwMode="auto">
          <a:xfrm>
            <a:off x="3229200" y="18288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99082" name="Line 10"/>
          <p:cNvSpPr>
            <a:spLocks noChangeShapeType="1"/>
          </p:cNvSpPr>
          <p:nvPr>
            <p:custDataLst>
              <p:tags r:id="rId3"/>
            </p:custDataLst>
          </p:nvPr>
        </p:nvSpPr>
        <p:spPr bwMode="auto">
          <a:xfrm>
            <a:off x="2667000" y="18288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From Logic to Gates</a:t>
            </a:r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840797"/>
              </p:ext>
            </p:extLst>
          </p:nvPr>
        </p:nvGraphicFramePr>
        <p:xfrm>
          <a:off x="1763937" y="2667000"/>
          <a:ext cx="5337208" cy="236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6" imgW="1618136" imgH="716557" progId="Visio.Drawing.11">
                  <p:embed/>
                </p:oleObj>
              </mc:Choice>
              <mc:Fallback>
                <p:oleObj name="Visio" r:id="rId6" imgW="1618136" imgH="716557" progId="Visio.Drawing.1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763937" y="2667000"/>
                        <a:ext cx="5337208" cy="2362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angle 15"/>
          <p:cNvSpPr/>
          <p:nvPr/>
        </p:nvSpPr>
        <p:spPr>
          <a:xfrm>
            <a:off x="609600" y="2667000"/>
            <a:ext cx="7620000" cy="2590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BA8615D-ECC4-864C-B8B7-64404D5B4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75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216523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483" name="Rectangle 3"/>
          <p:cNvSpPr>
            <a:spLocks noGrp="1" noChangeArrowheads="1"/>
          </p:cNvSpPr>
          <p:nvPr>
            <p:ph idx="1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en-US" dirty="0"/>
              <a:t>Inputs on the left (or top)</a:t>
            </a:r>
          </a:p>
          <a:p>
            <a:r>
              <a:rPr lang="en-US" dirty="0"/>
              <a:t>Outputs on right (or bottom)</a:t>
            </a:r>
          </a:p>
          <a:p>
            <a:r>
              <a:rPr lang="en-US" dirty="0"/>
              <a:t>Gates flow from left to right</a:t>
            </a:r>
          </a:p>
          <a:p>
            <a:r>
              <a:rPr lang="en-US" dirty="0"/>
              <a:t>Straight wires are best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Circuit Schematics Rules</a:t>
            </a:r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6069593"/>
              </p:ext>
            </p:extLst>
          </p:nvPr>
        </p:nvGraphicFramePr>
        <p:xfrm>
          <a:off x="2057400" y="3733800"/>
          <a:ext cx="5337175" cy="236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1618136" imgH="716557" progId="Visio.Drawing.11">
                  <p:embed/>
                </p:oleObj>
              </mc:Choice>
              <mc:Fallback>
                <p:oleObj name="Visio" r:id="rId4" imgW="1618136" imgH="716557" progId="Visio.Drawing.11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3733800"/>
                        <a:ext cx="5337175" cy="2362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390BA0C-F4B3-704F-83E0-9EF58FF21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76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8970675"/>
      </p:ext>
    </p:extLst>
  </p:cSld>
  <p:clrMapOvr>
    <a:masterClrMapping/>
  </p:clrMapOvr>
  <p:transition/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17514" name="Object 10"/>
          <p:cNvGraphicFramePr>
            <a:graphicFrameLocks noGrp="1" noChangeAspect="1"/>
          </p:cNvGraphicFramePr>
          <p:nvPr>
            <p:ph idx="1"/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70591411"/>
              </p:ext>
            </p:extLst>
          </p:nvPr>
        </p:nvGraphicFramePr>
        <p:xfrm>
          <a:off x="1828800" y="3884613"/>
          <a:ext cx="6236643" cy="1830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3120840" imgH="915480" progId="Visio.Drawing.6">
                  <p:embed/>
                </p:oleObj>
              </mc:Choice>
              <mc:Fallback>
                <p:oleObj name="VISIO" r:id="rId5" imgW="3120840" imgH="91548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3884613"/>
                        <a:ext cx="6236643" cy="1830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17507" name="Rectangle 3"/>
          <p:cNvSpPr>
            <a:spLocks noGrp="1" noChangeArrowheads="1"/>
          </p:cNvSpPr>
          <p:nvPr>
            <p:ph type="body" sz="half" idx="4294967295"/>
            <p:custDataLst>
              <p:tags r:id="rId2"/>
            </p:custDataLst>
          </p:nvPr>
        </p:nvSpPr>
        <p:spPr>
          <a:xfrm>
            <a:off x="533400" y="1143000"/>
            <a:ext cx="7315200" cy="4953000"/>
          </a:xfrm>
        </p:spPr>
        <p:txBody>
          <a:bodyPr>
            <a:normAutofit/>
          </a:bodyPr>
          <a:lstStyle/>
          <a:p>
            <a:r>
              <a:rPr lang="en-US" dirty="0"/>
              <a:t>Wires always connect at a T junction</a:t>
            </a:r>
          </a:p>
          <a:p>
            <a:r>
              <a:rPr lang="en-US" dirty="0"/>
              <a:t>A dot where wires cross indicates a connection between the wires</a:t>
            </a:r>
          </a:p>
          <a:p>
            <a:r>
              <a:rPr lang="en-US" dirty="0"/>
              <a:t>Wires crossing </a:t>
            </a:r>
            <a:r>
              <a:rPr lang="en-US" i="1" dirty="0"/>
              <a:t>without</a:t>
            </a:r>
            <a:r>
              <a:rPr lang="en-US" dirty="0"/>
              <a:t> a dot make no connection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Circuit Schematic Rules (cont.)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2B9E333-59D8-E245-AB74-BB1A7FFF8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77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0350878"/>
      </p:ext>
    </p:extLst>
  </p:cSld>
  <p:clrMapOvr>
    <a:masterClrMapping/>
  </p:clrMapOvr>
  <p:transition/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99076" name="Object 4"/>
          <p:cNvGraphicFramePr>
            <a:graphicFrameLocks noGrp="1" noChangeAspect="1"/>
          </p:cNvGraphicFramePr>
          <p:nvPr>
            <p:ph idx="1"/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10820225"/>
              </p:ext>
            </p:extLst>
          </p:nvPr>
        </p:nvGraphicFramePr>
        <p:xfrm>
          <a:off x="1454150" y="2057400"/>
          <a:ext cx="6013450" cy="37850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11" imgW="3041365" imgH="1914421" progId="Visio.Drawing.11">
                  <p:embed/>
                </p:oleObj>
              </mc:Choice>
              <mc:Fallback>
                <p:oleObj name="Visio" r:id="rId11" imgW="3041365" imgH="1914421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4150" y="2057400"/>
                        <a:ext cx="6013450" cy="37850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99075" name="Rectangle 3"/>
          <p:cNvSpPr>
            <a:spLocks noGrp="1" noChangeArrowheads="1"/>
          </p:cNvSpPr>
          <p:nvPr>
            <p:ph type="body" sz="half" idx="4294967295"/>
            <p:custDataLst>
              <p:tags r:id="rId2"/>
            </p:custDataLst>
          </p:nvPr>
        </p:nvSpPr>
        <p:spPr>
          <a:xfrm>
            <a:off x="914400" y="1066800"/>
            <a:ext cx="7315200" cy="4953000"/>
          </a:xfrm>
        </p:spPr>
        <p:txBody>
          <a:bodyPr>
            <a:normAutofit/>
          </a:bodyPr>
          <a:lstStyle/>
          <a:p>
            <a:r>
              <a:rPr lang="en-US" sz="2800" dirty="0"/>
              <a:t>Two-level logic: </a:t>
            </a:r>
            <a:r>
              <a:rPr lang="en-US" sz="2800" b="1" dirty="0"/>
              <a:t>ANDs</a:t>
            </a:r>
            <a:r>
              <a:rPr lang="en-US" sz="2800" dirty="0"/>
              <a:t> followed by </a:t>
            </a:r>
            <a:r>
              <a:rPr lang="en-US" sz="2800" b="1" dirty="0"/>
              <a:t>ORs</a:t>
            </a:r>
          </a:p>
          <a:p>
            <a:r>
              <a:rPr lang="en-US" sz="2800" dirty="0"/>
              <a:t>Example: </a:t>
            </a:r>
            <a:r>
              <a:rPr lang="en-US" sz="2800" i="1" dirty="0"/>
              <a:t>Y</a:t>
            </a:r>
            <a:r>
              <a:rPr lang="en-US" sz="2800" dirty="0"/>
              <a:t> = </a:t>
            </a:r>
            <a:r>
              <a:rPr lang="en-US" sz="2800" i="1" dirty="0"/>
              <a:t>ABC</a:t>
            </a:r>
            <a:r>
              <a:rPr lang="en-US" sz="2800" dirty="0"/>
              <a:t> + </a:t>
            </a:r>
            <a:r>
              <a:rPr lang="en-US" sz="2800" i="1" dirty="0"/>
              <a:t>ABC</a:t>
            </a:r>
            <a:r>
              <a:rPr lang="en-US" sz="2800" dirty="0"/>
              <a:t> + </a:t>
            </a:r>
            <a:r>
              <a:rPr lang="en-US" sz="2800" i="1" dirty="0"/>
              <a:t>ABC</a:t>
            </a:r>
          </a:p>
        </p:txBody>
      </p:sp>
      <p:sp>
        <p:nvSpPr>
          <p:cNvPr id="899079" name="Line 7"/>
          <p:cNvSpPr>
            <a:spLocks noChangeShapeType="1"/>
          </p:cNvSpPr>
          <p:nvPr>
            <p:custDataLst>
              <p:tags r:id="rId3"/>
            </p:custDataLst>
          </p:nvPr>
        </p:nvSpPr>
        <p:spPr bwMode="auto">
          <a:xfrm>
            <a:off x="3505200" y="16764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99081" name="Line 9"/>
          <p:cNvSpPr>
            <a:spLocks noChangeShapeType="1"/>
          </p:cNvSpPr>
          <p:nvPr>
            <p:custDataLst>
              <p:tags r:id="rId4"/>
            </p:custDataLst>
          </p:nvPr>
        </p:nvSpPr>
        <p:spPr bwMode="auto">
          <a:xfrm>
            <a:off x="3733800" y="16764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99082" name="Line 10"/>
          <p:cNvSpPr>
            <a:spLocks noChangeShapeType="1"/>
          </p:cNvSpPr>
          <p:nvPr>
            <p:custDataLst>
              <p:tags r:id="rId5"/>
            </p:custDataLst>
          </p:nvPr>
        </p:nvSpPr>
        <p:spPr bwMode="auto">
          <a:xfrm>
            <a:off x="3276600" y="16764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99083" name="Line 11"/>
          <p:cNvSpPr>
            <a:spLocks noChangeShapeType="1"/>
          </p:cNvSpPr>
          <p:nvPr>
            <p:custDataLst>
              <p:tags r:id="rId6"/>
            </p:custDataLst>
          </p:nvPr>
        </p:nvSpPr>
        <p:spPr bwMode="auto">
          <a:xfrm>
            <a:off x="4419600" y="16764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99084" name="Line 12"/>
          <p:cNvSpPr>
            <a:spLocks noChangeShapeType="1"/>
          </p:cNvSpPr>
          <p:nvPr>
            <p:custDataLst>
              <p:tags r:id="rId7"/>
            </p:custDataLst>
          </p:nvPr>
        </p:nvSpPr>
        <p:spPr bwMode="auto">
          <a:xfrm>
            <a:off x="4648200" y="16764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99085" name="Line 13"/>
          <p:cNvSpPr>
            <a:spLocks noChangeShapeType="1"/>
          </p:cNvSpPr>
          <p:nvPr>
            <p:custDataLst>
              <p:tags r:id="rId8"/>
            </p:custDataLst>
          </p:nvPr>
        </p:nvSpPr>
        <p:spPr bwMode="auto">
          <a:xfrm>
            <a:off x="5378940" y="16764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Two-Level Logic</a:t>
            </a:r>
          </a:p>
        </p:txBody>
      </p:sp>
      <p:sp>
        <p:nvSpPr>
          <p:cNvPr id="2" name="Rectangle 1"/>
          <p:cNvSpPr/>
          <p:nvPr/>
        </p:nvSpPr>
        <p:spPr>
          <a:xfrm>
            <a:off x="1866927" y="5715000"/>
            <a:ext cx="529587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/>
              <a:t>Implements functions in </a:t>
            </a:r>
            <a:r>
              <a:rPr lang="en-US" sz="2800" b="1" dirty="0">
                <a:solidFill>
                  <a:srgbClr val="0070C0"/>
                </a:solidFill>
              </a:rPr>
              <a:t>SOP form</a:t>
            </a:r>
            <a:endParaRPr lang="en-US" sz="2800" dirty="0"/>
          </a:p>
        </p:txBody>
      </p:sp>
      <p:sp>
        <p:nvSpPr>
          <p:cNvPr id="16" name="Rectangle 15"/>
          <p:cNvSpPr/>
          <p:nvPr/>
        </p:nvSpPr>
        <p:spPr>
          <a:xfrm>
            <a:off x="723900" y="2133600"/>
            <a:ext cx="7200900" cy="3505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1148524" y="5715000"/>
            <a:ext cx="7200900" cy="457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D7F690E-72E3-414D-8A29-34BBA0487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78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239267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8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075" name="Rectangle 3"/>
          <p:cNvSpPr>
            <a:spLocks noGrp="1" noChangeArrowheads="1"/>
          </p:cNvSpPr>
          <p:nvPr>
            <p:ph type="body" sz="half" idx="4294967295"/>
            <p:custDataLst>
              <p:tags r:id="rId1"/>
            </p:custDataLst>
          </p:nvPr>
        </p:nvSpPr>
        <p:spPr>
          <a:xfrm>
            <a:off x="914400" y="1066800"/>
            <a:ext cx="7772400" cy="4953000"/>
          </a:xfrm>
        </p:spPr>
        <p:txBody>
          <a:bodyPr>
            <a:normAutofit/>
          </a:bodyPr>
          <a:lstStyle/>
          <a:p>
            <a:r>
              <a:rPr lang="en-US" sz="2800" dirty="0"/>
              <a:t>Complex logic is often built from many stages of simpler gates. </a:t>
            </a:r>
            <a:endParaRPr lang="en-US" sz="2800" i="1" dirty="0"/>
          </a:p>
        </p:txBody>
      </p:sp>
      <p:sp>
        <p:nvSpPr>
          <p:cNvPr id="13" name="TextBox 12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Multilevel Logic</a:t>
            </a:r>
          </a:p>
        </p:txBody>
      </p:sp>
      <p:graphicFrame>
        <p:nvGraphicFramePr>
          <p:cNvPr id="15" name="Object 8">
            <a:extLst>
              <a:ext uri="{FF2B5EF4-FFF2-40B4-BE49-F238E27FC236}">
                <a16:creationId xmlns:a16="http://schemas.microsoft.com/office/drawing/2014/main" id="{AE8957DE-9802-5649-AD1E-AAF69AD38A73}"/>
              </a:ext>
            </a:extLst>
          </p:cNvPr>
          <p:cNvGraphicFramePr>
            <a:graphicFrameLocks noGrp="1" noChangeAspect="1"/>
          </p:cNvGraphicFramePr>
          <p:nvPr>
            <p:ph idx="1"/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498121492"/>
              </p:ext>
            </p:extLst>
          </p:nvPr>
        </p:nvGraphicFramePr>
        <p:xfrm>
          <a:off x="4506306" y="3124200"/>
          <a:ext cx="3875694" cy="144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2064600" imgH="771480" progId="Visio.Drawing.6">
                  <p:embed/>
                </p:oleObj>
              </mc:Choice>
              <mc:Fallback>
                <p:oleObj name="VISIO" r:id="rId5" imgW="2064600" imgH="771480" progId="Visio.Drawing.6">
                  <p:embed/>
                  <p:pic>
                    <p:nvPicPr>
                      <p:cNvPr id="927752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6306" y="3124200"/>
                        <a:ext cx="3875694" cy="144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8" name="Picture 17">
            <a:extLst>
              <a:ext uri="{FF2B5EF4-FFF2-40B4-BE49-F238E27FC236}">
                <a16:creationId xmlns:a16="http://schemas.microsoft.com/office/drawing/2014/main" id="{2EDF3100-516B-9242-96B8-7497ABBDE21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8358" y="2625725"/>
            <a:ext cx="2703606" cy="244475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4A88B-C79D-144B-A592-4C8555D6A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79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9222791"/>
      </p:ext>
    </p:extLst>
  </p:cSld>
  <p:clrMapOvr>
    <a:masterClrMapping/>
  </p:clrMapOvr>
  <p:transition/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56772" name="Object 4"/>
          <p:cNvGraphicFramePr>
            <a:graphicFrameLocks noGrp="1" noChangeAspect="1"/>
          </p:cNvGraphicFramePr>
          <p:nvPr>
            <p:ph idx="1"/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01498068"/>
              </p:ext>
            </p:extLst>
          </p:nvPr>
        </p:nvGraphicFramePr>
        <p:xfrm>
          <a:off x="1447800" y="3276600"/>
          <a:ext cx="2365692" cy="198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6" imgW="1405800" imgH="1177920" progId="Visio.Drawing.6">
                  <p:embed/>
                </p:oleObj>
              </mc:Choice>
              <mc:Fallback>
                <p:oleObj name="VISIO" r:id="rId6" imgW="1405800" imgH="117792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3276600"/>
                        <a:ext cx="2365692" cy="1981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56773" name="Rectangle 5"/>
          <p:cNvSpPr>
            <a:spLocks noGrp="1" noChangeArrowheads="1"/>
          </p:cNvSpPr>
          <p:nvPr>
            <p:ph type="body" sz="half" idx="4294967295"/>
            <p:custDataLst>
              <p:tags r:id="rId2"/>
            </p:custDataLst>
          </p:nvPr>
        </p:nvSpPr>
        <p:spPr>
          <a:xfrm>
            <a:off x="533400" y="990600"/>
            <a:ext cx="7315200" cy="4953000"/>
          </a:xfrm>
          <a:noFill/>
          <a:ln/>
        </p:spPr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Example: </a:t>
            </a:r>
            <a:r>
              <a:rPr lang="en-US" b="1" dirty="0"/>
              <a:t>Priority Circuit</a:t>
            </a:r>
          </a:p>
          <a:p>
            <a:pPr marL="0" indent="0">
              <a:buNone/>
            </a:pPr>
            <a:r>
              <a:rPr lang="en-US" sz="2400" dirty="0"/>
              <a:t>     Output asserted </a:t>
            </a:r>
          </a:p>
          <a:p>
            <a:pPr marL="0" indent="0">
              <a:buNone/>
            </a:pPr>
            <a:r>
              <a:rPr lang="en-US" sz="2400" dirty="0"/>
              <a:t>     corresponding to most </a:t>
            </a:r>
          </a:p>
          <a:p>
            <a:pPr marL="0" indent="0">
              <a:buNone/>
            </a:pPr>
            <a:r>
              <a:rPr lang="en-US" sz="2400" dirty="0"/>
              <a:t>     significant TRUE input</a:t>
            </a:r>
          </a:p>
        </p:txBody>
      </p:sp>
      <p:graphicFrame>
        <p:nvGraphicFramePr>
          <p:cNvPr id="1056771" name="Object 3"/>
          <p:cNvGraphicFramePr>
            <a:graphicFrameLocks noGrp="1" noChangeAspect="1"/>
          </p:cNvGraphicFramePr>
          <p:nvPr>
            <p:ph sz="quarter" idx="4294967295"/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939281565"/>
              </p:ext>
            </p:extLst>
          </p:nvPr>
        </p:nvGraphicFramePr>
        <p:xfrm>
          <a:off x="4343400" y="1570038"/>
          <a:ext cx="4000500" cy="4297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8" imgW="1873440" imgH="2105640" progId="Visio.Drawing.11">
                  <p:embed/>
                </p:oleObj>
              </mc:Choice>
              <mc:Fallback>
                <p:oleObj name="VISIO" r:id="rId8" imgW="1873440" imgH="2105640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0" y="1570038"/>
                        <a:ext cx="4000500" cy="4297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Multiple-Output Circuits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77000" y="3962400"/>
            <a:ext cx="1905000" cy="1981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477000" y="3048000"/>
            <a:ext cx="1905000" cy="914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6453000" y="2557200"/>
            <a:ext cx="1905000" cy="414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6453000" y="2265600"/>
            <a:ext cx="1905000" cy="249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6439800" y="2103698"/>
            <a:ext cx="1905000" cy="15064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81A4ACB-049B-D744-82AD-436CDF6FC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80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084512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9" grpId="0" animBg="1"/>
      <p:bldP spid="10" grpId="0" animBg="1"/>
      <p:bldP spid="11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01124" name="Object 4"/>
          <p:cNvGraphicFramePr>
            <a:graphicFrameLocks noGrp="1" noChangeAspect="1"/>
          </p:cNvGraphicFramePr>
          <p:nvPr>
            <p:ph idx="1"/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58002547"/>
              </p:ext>
            </p:extLst>
          </p:nvPr>
        </p:nvGraphicFramePr>
        <p:xfrm>
          <a:off x="5257800" y="3124200"/>
          <a:ext cx="2875736" cy="2765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1200240" imgH="1154520" progId="Visio.Drawing.6">
                  <p:embed/>
                </p:oleObj>
              </mc:Choice>
              <mc:Fallback>
                <p:oleObj name="VISIO" r:id="rId5" imgW="1200240" imgH="115452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7800" y="3124200"/>
                        <a:ext cx="2875736" cy="2765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Priority Circuit Hardware</a:t>
            </a:r>
          </a:p>
        </p:txBody>
      </p:sp>
      <p:graphicFrame>
        <p:nvGraphicFramePr>
          <p:cNvPr id="2" name="Object 1"/>
          <p:cNvGraphicFramePr>
            <a:graphicFrameLocks noGrp="1"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090751338"/>
              </p:ext>
            </p:extLst>
          </p:nvPr>
        </p:nvGraphicFramePr>
        <p:xfrm>
          <a:off x="609600" y="1219200"/>
          <a:ext cx="4000500" cy="4297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7" imgW="1874596" imgH="2106631" progId="Visio.Drawing.11">
                  <p:embed/>
                </p:oleObj>
              </mc:Choice>
              <mc:Fallback>
                <p:oleObj name="VISIO" r:id="rId7" imgW="1874596" imgH="2106631" progId="Visio.Drawing.11">
                  <p:embed/>
                  <p:pic>
                    <p:nvPicPr>
                      <p:cNvPr id="0" name="Object 3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1219200"/>
                        <a:ext cx="4000500" cy="4297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/>
          <p:cNvSpPr/>
          <p:nvPr/>
        </p:nvSpPr>
        <p:spPr>
          <a:xfrm>
            <a:off x="5534402" y="1219200"/>
            <a:ext cx="2390398" cy="18158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/>
              <a:t>Y</a:t>
            </a:r>
            <a:r>
              <a:rPr lang="en-US" sz="2800" baseline="-25000" dirty="0"/>
              <a:t>3</a:t>
            </a:r>
            <a:r>
              <a:rPr lang="en-US" sz="2800" dirty="0"/>
              <a:t> = A</a:t>
            </a:r>
            <a:r>
              <a:rPr lang="en-US" sz="2800" baseline="-25000" dirty="0"/>
              <a:t>3</a:t>
            </a:r>
          </a:p>
          <a:p>
            <a:r>
              <a:rPr lang="en-US" sz="2800" dirty="0"/>
              <a:t>Y</a:t>
            </a:r>
            <a:r>
              <a:rPr lang="en-US" sz="2800" baseline="-25000" dirty="0"/>
              <a:t>2</a:t>
            </a:r>
            <a:r>
              <a:rPr lang="en-US" sz="2800" dirty="0"/>
              <a:t> = A</a:t>
            </a:r>
            <a:r>
              <a:rPr lang="en-US" sz="2800" baseline="-25000" dirty="0"/>
              <a:t>3</a:t>
            </a:r>
            <a:r>
              <a:rPr lang="en-US" sz="2800" dirty="0"/>
              <a:t> A</a:t>
            </a:r>
            <a:r>
              <a:rPr lang="en-US" sz="2800" baseline="-25000" dirty="0"/>
              <a:t>2</a:t>
            </a:r>
          </a:p>
          <a:p>
            <a:r>
              <a:rPr lang="en-US" sz="2800" dirty="0"/>
              <a:t>Y</a:t>
            </a:r>
            <a:r>
              <a:rPr lang="en-US" sz="2800" baseline="-25000" dirty="0"/>
              <a:t>1</a:t>
            </a:r>
            <a:r>
              <a:rPr lang="en-US" sz="2800" dirty="0"/>
              <a:t> = A</a:t>
            </a:r>
            <a:r>
              <a:rPr lang="en-US" sz="2800" baseline="-25000" dirty="0"/>
              <a:t>3</a:t>
            </a:r>
            <a:r>
              <a:rPr lang="en-US" sz="2800" dirty="0"/>
              <a:t> A</a:t>
            </a:r>
            <a:r>
              <a:rPr lang="en-US" sz="2800" baseline="-25000" dirty="0"/>
              <a:t>2</a:t>
            </a:r>
            <a:r>
              <a:rPr lang="en-US" sz="2800" dirty="0"/>
              <a:t> A</a:t>
            </a:r>
            <a:r>
              <a:rPr lang="en-US" sz="2800" baseline="-25000" dirty="0"/>
              <a:t>1</a:t>
            </a:r>
          </a:p>
          <a:p>
            <a:r>
              <a:rPr lang="en-US" sz="2800" dirty="0"/>
              <a:t>Y</a:t>
            </a:r>
            <a:r>
              <a:rPr lang="en-US" sz="2800" baseline="-25000" dirty="0"/>
              <a:t>0</a:t>
            </a:r>
            <a:r>
              <a:rPr lang="en-US" sz="2800" dirty="0"/>
              <a:t> = A</a:t>
            </a:r>
            <a:r>
              <a:rPr lang="en-US" sz="2800" baseline="-25000" dirty="0"/>
              <a:t>3</a:t>
            </a:r>
            <a:r>
              <a:rPr lang="en-US" sz="2800" dirty="0"/>
              <a:t> A</a:t>
            </a:r>
            <a:r>
              <a:rPr lang="en-US" sz="2800" baseline="-25000" dirty="0"/>
              <a:t>2</a:t>
            </a:r>
            <a:r>
              <a:rPr lang="en-US" sz="2800" dirty="0"/>
              <a:t> A</a:t>
            </a:r>
            <a:r>
              <a:rPr lang="en-US" sz="2800" baseline="-25000" dirty="0"/>
              <a:t>1</a:t>
            </a:r>
            <a:r>
              <a:rPr lang="en-US" sz="2800" dirty="0"/>
              <a:t> A</a:t>
            </a:r>
            <a:r>
              <a:rPr lang="en-US" sz="2800" baseline="-25000" dirty="0"/>
              <a:t>0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6248400" y="1752600"/>
            <a:ext cx="3048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6248400" y="2195400"/>
            <a:ext cx="3048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6640800" y="2195400"/>
            <a:ext cx="3048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6248400" y="2612400"/>
            <a:ext cx="3048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6640800" y="2612400"/>
            <a:ext cx="3048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7039200" y="2612400"/>
            <a:ext cx="3048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5500500" y="1704600"/>
            <a:ext cx="1905000" cy="490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5486400" y="2133600"/>
            <a:ext cx="1905000" cy="457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5500500" y="2557200"/>
            <a:ext cx="2424300" cy="490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5334000" y="3166800"/>
            <a:ext cx="2895600" cy="2853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5486400" y="1213800"/>
            <a:ext cx="1905000" cy="490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F657E5-0EC9-6F46-B5A5-11035E644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81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247457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02148" name="Object 4"/>
          <p:cNvGraphicFramePr>
            <a:graphicFrameLocks noGrp="1" noChangeAspect="1"/>
          </p:cNvGraphicFramePr>
          <p:nvPr>
            <p:ph idx="1"/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41262051"/>
              </p:ext>
            </p:extLst>
          </p:nvPr>
        </p:nvGraphicFramePr>
        <p:xfrm>
          <a:off x="5047667" y="2819400"/>
          <a:ext cx="3791533" cy="175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1913040" imgH="884520" progId="Visio.Drawing.6">
                  <p:embed/>
                </p:oleObj>
              </mc:Choice>
              <mc:Fallback>
                <p:oleObj name="VISIO" r:id="rId5" imgW="1913040" imgH="88452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47667" y="2819400"/>
                        <a:ext cx="3791533" cy="175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Don’t Cares</a:t>
            </a:r>
          </a:p>
        </p:txBody>
      </p:sp>
      <p:graphicFrame>
        <p:nvGraphicFramePr>
          <p:cNvPr id="2" name="Object 1"/>
          <p:cNvGraphicFramePr>
            <a:graphicFrameLocks noGrp="1"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090751338"/>
              </p:ext>
            </p:extLst>
          </p:nvPr>
        </p:nvGraphicFramePr>
        <p:xfrm>
          <a:off x="609600" y="1219200"/>
          <a:ext cx="4000500" cy="4297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7" imgW="1874596" imgH="2106631" progId="Visio.Drawing.11">
                  <p:embed/>
                </p:oleObj>
              </mc:Choice>
              <mc:Fallback>
                <p:oleObj name="VISIO" r:id="rId7" imgW="1874596" imgH="2106631" progId="Visio.Drawing.11">
                  <p:embed/>
                  <p:pic>
                    <p:nvPicPr>
                      <p:cNvPr id="0" name="Object 1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1219200"/>
                        <a:ext cx="4000500" cy="4297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10"/>
          <p:cNvSpPr/>
          <p:nvPr/>
        </p:nvSpPr>
        <p:spPr>
          <a:xfrm>
            <a:off x="4648200" y="3386049"/>
            <a:ext cx="2209800" cy="19570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4648200" y="3576193"/>
            <a:ext cx="2209800" cy="19570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4648200" y="3842897"/>
            <a:ext cx="2209800" cy="19570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4648200" y="4071497"/>
            <a:ext cx="2209800" cy="19570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4648200" y="4300097"/>
            <a:ext cx="2209800" cy="19570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7086600" y="3386049"/>
            <a:ext cx="2209800" cy="19570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7086600" y="3614297"/>
            <a:ext cx="2209800" cy="19570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7086600" y="3842897"/>
            <a:ext cx="2209800" cy="19570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7086600" y="4071497"/>
            <a:ext cx="2209800" cy="19570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7086600" y="4300097"/>
            <a:ext cx="2209800" cy="19570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5686802" y="1066800"/>
            <a:ext cx="2390398" cy="18158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/>
              <a:t>Y</a:t>
            </a:r>
            <a:r>
              <a:rPr lang="en-US" sz="2800" baseline="-25000" dirty="0"/>
              <a:t>3</a:t>
            </a:r>
            <a:r>
              <a:rPr lang="en-US" sz="2800" dirty="0"/>
              <a:t> = A</a:t>
            </a:r>
            <a:r>
              <a:rPr lang="en-US" sz="2800" baseline="-25000" dirty="0"/>
              <a:t>3</a:t>
            </a:r>
          </a:p>
          <a:p>
            <a:r>
              <a:rPr lang="en-US" sz="2800" dirty="0"/>
              <a:t>Y</a:t>
            </a:r>
            <a:r>
              <a:rPr lang="en-US" sz="2800" baseline="-25000" dirty="0"/>
              <a:t>2</a:t>
            </a:r>
            <a:r>
              <a:rPr lang="en-US" sz="2800" dirty="0"/>
              <a:t> = A</a:t>
            </a:r>
            <a:r>
              <a:rPr lang="en-US" sz="2800" baseline="-25000" dirty="0"/>
              <a:t>3</a:t>
            </a:r>
            <a:r>
              <a:rPr lang="en-US" sz="2800" dirty="0"/>
              <a:t> A</a:t>
            </a:r>
            <a:r>
              <a:rPr lang="en-US" sz="2800" baseline="-25000" dirty="0"/>
              <a:t>2</a:t>
            </a:r>
          </a:p>
          <a:p>
            <a:r>
              <a:rPr lang="en-US" sz="2800" dirty="0"/>
              <a:t>Y</a:t>
            </a:r>
            <a:r>
              <a:rPr lang="en-US" sz="2800" baseline="-25000" dirty="0"/>
              <a:t>1</a:t>
            </a:r>
            <a:r>
              <a:rPr lang="en-US" sz="2800" dirty="0"/>
              <a:t> = A</a:t>
            </a:r>
            <a:r>
              <a:rPr lang="en-US" sz="2800" baseline="-25000" dirty="0"/>
              <a:t>3</a:t>
            </a:r>
            <a:r>
              <a:rPr lang="en-US" sz="2800" dirty="0"/>
              <a:t> A</a:t>
            </a:r>
            <a:r>
              <a:rPr lang="en-US" sz="2800" baseline="-25000" dirty="0"/>
              <a:t>2</a:t>
            </a:r>
            <a:r>
              <a:rPr lang="en-US" sz="2800" dirty="0"/>
              <a:t> A</a:t>
            </a:r>
            <a:r>
              <a:rPr lang="en-US" sz="2800" baseline="-25000" dirty="0"/>
              <a:t>1</a:t>
            </a:r>
          </a:p>
          <a:p>
            <a:r>
              <a:rPr lang="en-US" sz="2800" dirty="0"/>
              <a:t>Y</a:t>
            </a:r>
            <a:r>
              <a:rPr lang="en-US" sz="2800" baseline="-25000" dirty="0"/>
              <a:t>0</a:t>
            </a:r>
            <a:r>
              <a:rPr lang="en-US" sz="2800" dirty="0"/>
              <a:t> = A</a:t>
            </a:r>
            <a:r>
              <a:rPr lang="en-US" sz="2800" baseline="-25000" dirty="0"/>
              <a:t>3</a:t>
            </a:r>
            <a:r>
              <a:rPr lang="en-US" sz="2800" dirty="0"/>
              <a:t> A</a:t>
            </a:r>
            <a:r>
              <a:rPr lang="en-US" sz="2800" baseline="-25000" dirty="0"/>
              <a:t>2</a:t>
            </a:r>
            <a:r>
              <a:rPr lang="en-US" sz="2800" dirty="0"/>
              <a:t> A</a:t>
            </a:r>
            <a:r>
              <a:rPr lang="en-US" sz="2800" baseline="-25000" dirty="0"/>
              <a:t>1</a:t>
            </a:r>
            <a:r>
              <a:rPr lang="en-US" sz="2800" dirty="0"/>
              <a:t> A</a:t>
            </a:r>
            <a:r>
              <a:rPr lang="en-US" sz="2800" baseline="-25000" dirty="0"/>
              <a:t>0</a:t>
            </a:r>
          </a:p>
        </p:txBody>
      </p:sp>
      <p:cxnSp>
        <p:nvCxnSpPr>
          <p:cNvPr id="22" name="Straight Connector 21"/>
          <p:cNvCxnSpPr/>
          <p:nvPr/>
        </p:nvCxnSpPr>
        <p:spPr>
          <a:xfrm>
            <a:off x="6400800" y="1600200"/>
            <a:ext cx="3048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6400800" y="2043000"/>
            <a:ext cx="3048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6793200" y="2043000"/>
            <a:ext cx="3048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6400800" y="2460000"/>
            <a:ext cx="3048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7191600" y="2460000"/>
            <a:ext cx="3048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6813550" y="2457450"/>
            <a:ext cx="3048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56BDCA-6070-C840-A80D-5C2FC11CA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82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17431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0" y="76200"/>
            <a:ext cx="9144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  <a:latin typeface="+mj-lt"/>
              </a:rPr>
              <a:t>Chapter 2: Combinational Logic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DAA03A6C-70A8-504F-B2A9-E24C66359451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0" y="2438400"/>
            <a:ext cx="9144000" cy="1600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en-US" sz="7200" b="1" dirty="0"/>
              <a:t>Two-Level </a:t>
            </a:r>
          </a:p>
          <a:p>
            <a:pPr marL="0" indent="0" algn="ctr">
              <a:buFont typeface="Arial" pitchFamily="34" charset="0"/>
              <a:buNone/>
            </a:pPr>
            <a:r>
              <a:rPr lang="en-US" sz="7200" b="1" dirty="0"/>
              <a:t>Logic Forms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3238028115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075" name="Rectangle 3"/>
          <p:cNvSpPr>
            <a:spLocks noGrp="1" noChangeArrowheads="1"/>
          </p:cNvSpPr>
          <p:nvPr>
            <p:ph type="body" sz="half" idx="4294967295"/>
            <p:custDataLst>
              <p:tags r:id="rId1"/>
            </p:custDataLst>
          </p:nvPr>
        </p:nvSpPr>
        <p:spPr>
          <a:xfrm>
            <a:off x="914400" y="1066800"/>
            <a:ext cx="7315200" cy="4953000"/>
          </a:xfrm>
        </p:spPr>
        <p:txBody>
          <a:bodyPr>
            <a:normAutofit/>
          </a:bodyPr>
          <a:lstStyle/>
          <a:p>
            <a:r>
              <a:rPr lang="en-US" sz="3000" b="1" dirty="0"/>
              <a:t> </a:t>
            </a:r>
            <a:r>
              <a:rPr lang="en-US" sz="3000" b="1" dirty="0">
                <a:solidFill>
                  <a:srgbClr val="0070C0"/>
                </a:solidFill>
              </a:rPr>
              <a:t>ANDs</a:t>
            </a:r>
            <a:r>
              <a:rPr lang="en-US" sz="3000" dirty="0"/>
              <a:t> followed by </a:t>
            </a:r>
            <a:r>
              <a:rPr lang="en-US" sz="3000" b="1" dirty="0">
                <a:solidFill>
                  <a:srgbClr val="0070C0"/>
                </a:solidFill>
              </a:rPr>
              <a:t>ORs</a:t>
            </a:r>
            <a:r>
              <a:rPr lang="en-US" sz="3000" dirty="0"/>
              <a:t>: 	</a:t>
            </a:r>
            <a:r>
              <a:rPr lang="en-US" sz="3000" b="1" dirty="0"/>
              <a:t>SOP</a:t>
            </a:r>
            <a:r>
              <a:rPr lang="en-US" sz="3000" dirty="0"/>
              <a:t> form</a:t>
            </a:r>
          </a:p>
          <a:p>
            <a:r>
              <a:rPr lang="en-US" sz="3000" dirty="0"/>
              <a:t> </a:t>
            </a:r>
            <a:r>
              <a:rPr lang="en-US" sz="3000" b="1" dirty="0">
                <a:solidFill>
                  <a:srgbClr val="0070C0"/>
                </a:solidFill>
              </a:rPr>
              <a:t>ORs</a:t>
            </a:r>
            <a:r>
              <a:rPr lang="en-US" sz="3000" dirty="0"/>
              <a:t> followed by </a:t>
            </a:r>
            <a:r>
              <a:rPr lang="en-US" sz="3000" b="1" dirty="0">
                <a:solidFill>
                  <a:srgbClr val="0070C0"/>
                </a:solidFill>
              </a:rPr>
              <a:t>ANDs</a:t>
            </a:r>
            <a:r>
              <a:rPr lang="en-US" sz="3000" dirty="0"/>
              <a:t>:	</a:t>
            </a:r>
            <a:r>
              <a:rPr lang="en-US" sz="3000" b="1" dirty="0"/>
              <a:t>POS</a:t>
            </a:r>
            <a:r>
              <a:rPr lang="en-US" sz="3000" dirty="0"/>
              <a:t> form</a:t>
            </a:r>
          </a:p>
          <a:p>
            <a:r>
              <a:rPr lang="en-US" sz="3000" dirty="0"/>
              <a:t> Only </a:t>
            </a:r>
            <a:r>
              <a:rPr lang="en-US" sz="3000" b="1" dirty="0">
                <a:solidFill>
                  <a:srgbClr val="0070C0"/>
                </a:solidFill>
              </a:rPr>
              <a:t>NAND</a:t>
            </a:r>
            <a:r>
              <a:rPr lang="en-US" sz="3000" dirty="0"/>
              <a:t> gates:		</a:t>
            </a:r>
            <a:r>
              <a:rPr lang="en-US" sz="3000" b="1" dirty="0"/>
              <a:t>SOP</a:t>
            </a:r>
            <a:r>
              <a:rPr lang="en-US" sz="3000" dirty="0"/>
              <a:t> form</a:t>
            </a:r>
          </a:p>
          <a:p>
            <a:r>
              <a:rPr lang="en-US" sz="3000" dirty="0"/>
              <a:t> Only </a:t>
            </a:r>
            <a:r>
              <a:rPr lang="en-US" sz="3000" b="1" dirty="0">
                <a:solidFill>
                  <a:srgbClr val="0070C0"/>
                </a:solidFill>
              </a:rPr>
              <a:t>NOR</a:t>
            </a:r>
            <a:r>
              <a:rPr lang="en-US" sz="3000" dirty="0"/>
              <a:t> gates:		</a:t>
            </a:r>
            <a:r>
              <a:rPr lang="en-US" sz="3000" b="1" dirty="0"/>
              <a:t>POS</a:t>
            </a:r>
            <a:r>
              <a:rPr lang="en-US" sz="3000" dirty="0"/>
              <a:t> 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Two-Level Logic Variations</a:t>
            </a:r>
          </a:p>
        </p:txBody>
      </p:sp>
      <p:sp>
        <p:nvSpPr>
          <p:cNvPr id="2" name="Rectangle 1"/>
          <p:cNvSpPr/>
          <p:nvPr/>
        </p:nvSpPr>
        <p:spPr>
          <a:xfrm>
            <a:off x="609600" y="990600"/>
            <a:ext cx="6934200" cy="685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1447800" y="3962400"/>
            <a:ext cx="578555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Most common form of two-level logic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FAFDFD-53A8-7641-9414-CB4DDC6E6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84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10776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075" name="Rectangle 3"/>
          <p:cNvSpPr>
            <a:spLocks noGrp="1" noChangeArrowheads="1"/>
          </p:cNvSpPr>
          <p:nvPr>
            <p:ph type="body" sz="half" idx="4294967295"/>
            <p:custDataLst>
              <p:tags r:id="rId1"/>
            </p:custDataLst>
          </p:nvPr>
        </p:nvSpPr>
        <p:spPr>
          <a:xfrm>
            <a:off x="914400" y="1066800"/>
            <a:ext cx="7772400" cy="4953000"/>
          </a:xfrm>
        </p:spPr>
        <p:txBody>
          <a:bodyPr>
            <a:normAutofit/>
          </a:bodyPr>
          <a:lstStyle/>
          <a:p>
            <a:r>
              <a:rPr lang="en-US" sz="2800" dirty="0"/>
              <a:t>Two-level logic variation: </a:t>
            </a:r>
            <a:r>
              <a:rPr lang="en-US" sz="2800" b="1" dirty="0"/>
              <a:t>ORs</a:t>
            </a:r>
            <a:r>
              <a:rPr lang="en-US" sz="2800" dirty="0"/>
              <a:t> followed by </a:t>
            </a:r>
            <a:r>
              <a:rPr lang="en-US" sz="2800" b="1" dirty="0"/>
              <a:t>ANDs</a:t>
            </a:r>
          </a:p>
          <a:p>
            <a:r>
              <a:rPr lang="en-US" sz="2800" dirty="0"/>
              <a:t>Example: </a:t>
            </a:r>
            <a:r>
              <a:rPr lang="en-US" sz="2800" i="1" dirty="0"/>
              <a:t>Y</a:t>
            </a:r>
            <a:r>
              <a:rPr lang="en-US" sz="2800" dirty="0"/>
              <a:t> = (</a:t>
            </a:r>
            <a:r>
              <a:rPr lang="en-US" sz="2800" i="1" dirty="0"/>
              <a:t>A+B)(A+B+C)</a:t>
            </a:r>
          </a:p>
        </p:txBody>
      </p:sp>
      <p:sp>
        <p:nvSpPr>
          <p:cNvPr id="899081" name="Line 9"/>
          <p:cNvSpPr>
            <a:spLocks noChangeShapeType="1"/>
          </p:cNvSpPr>
          <p:nvPr>
            <p:custDataLst>
              <p:tags r:id="rId2"/>
            </p:custDataLst>
          </p:nvPr>
        </p:nvSpPr>
        <p:spPr bwMode="auto">
          <a:xfrm>
            <a:off x="3810000" y="16764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99082" name="Line 10"/>
          <p:cNvSpPr>
            <a:spLocks noChangeShapeType="1"/>
          </p:cNvSpPr>
          <p:nvPr>
            <p:custDataLst>
              <p:tags r:id="rId3"/>
            </p:custDataLst>
          </p:nvPr>
        </p:nvSpPr>
        <p:spPr bwMode="auto">
          <a:xfrm>
            <a:off x="3429000" y="16764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99084" name="Line 12"/>
          <p:cNvSpPr>
            <a:spLocks noChangeShapeType="1"/>
          </p:cNvSpPr>
          <p:nvPr>
            <p:custDataLst>
              <p:tags r:id="rId4"/>
            </p:custDataLst>
          </p:nvPr>
        </p:nvSpPr>
        <p:spPr bwMode="auto">
          <a:xfrm>
            <a:off x="4953000" y="16764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Two-Level Logic Variation</a:t>
            </a: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0405354"/>
              </p:ext>
            </p:extLst>
          </p:nvPr>
        </p:nvGraphicFramePr>
        <p:xfrm>
          <a:off x="2057400" y="2209800"/>
          <a:ext cx="4800600" cy="33956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7" imgW="2576908" imgH="1822981" progId="Visio.Drawing.11">
                  <p:embed/>
                </p:oleObj>
              </mc:Choice>
              <mc:Fallback>
                <p:oleObj name="Visio" r:id="rId7" imgW="2576908" imgH="1822981" progId="Visio.Drawing.1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057400" y="2209800"/>
                        <a:ext cx="4800600" cy="339561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Rectangle 17"/>
          <p:cNvSpPr/>
          <p:nvPr/>
        </p:nvSpPr>
        <p:spPr>
          <a:xfrm>
            <a:off x="723900" y="2133600"/>
            <a:ext cx="7200900" cy="3505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1866927" y="5715000"/>
            <a:ext cx="529587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/>
              <a:t>Implements functions in </a:t>
            </a:r>
            <a:r>
              <a:rPr lang="en-US" sz="2800" b="1" dirty="0">
                <a:solidFill>
                  <a:srgbClr val="0070C0"/>
                </a:solidFill>
              </a:rPr>
              <a:t>POS form</a:t>
            </a:r>
            <a:endParaRPr lang="en-US" sz="2800" dirty="0"/>
          </a:p>
        </p:txBody>
      </p:sp>
      <p:sp>
        <p:nvSpPr>
          <p:cNvPr id="21" name="Rectangle 20"/>
          <p:cNvSpPr/>
          <p:nvPr/>
        </p:nvSpPr>
        <p:spPr>
          <a:xfrm>
            <a:off x="1148524" y="5715000"/>
            <a:ext cx="7200900" cy="457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72BB44F-387D-234F-999D-9F2F8515C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85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148894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21" grpId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99076" name="Object 4"/>
          <p:cNvGraphicFramePr>
            <a:graphicFrameLocks noGrp="1" noChangeAspect="1"/>
          </p:cNvGraphicFramePr>
          <p:nvPr>
            <p:ph idx="1"/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51039535"/>
              </p:ext>
            </p:extLst>
          </p:nvPr>
        </p:nvGraphicFramePr>
        <p:xfrm>
          <a:off x="1454150" y="2057400"/>
          <a:ext cx="6013450" cy="37850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12" imgW="3041365" imgH="1914421" progId="Visio.Drawing.11">
                  <p:embed/>
                </p:oleObj>
              </mc:Choice>
              <mc:Fallback>
                <p:oleObj name="Visio" r:id="rId12" imgW="3041365" imgH="1914421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4150" y="2057400"/>
                        <a:ext cx="6013450" cy="37850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99075" name="Rectangle 3"/>
          <p:cNvSpPr>
            <a:spLocks noGrp="1" noChangeArrowheads="1"/>
          </p:cNvSpPr>
          <p:nvPr>
            <p:ph type="body" sz="half" idx="4294967295"/>
            <p:custDataLst>
              <p:tags r:id="rId2"/>
            </p:custDataLst>
          </p:nvPr>
        </p:nvSpPr>
        <p:spPr>
          <a:xfrm>
            <a:off x="914400" y="1066800"/>
            <a:ext cx="7848600" cy="4953000"/>
          </a:xfrm>
        </p:spPr>
        <p:txBody>
          <a:bodyPr>
            <a:normAutofit/>
          </a:bodyPr>
          <a:lstStyle/>
          <a:p>
            <a:r>
              <a:rPr lang="en-US" sz="2800" dirty="0"/>
              <a:t>Two-level logic: </a:t>
            </a:r>
            <a:r>
              <a:rPr lang="en-US" sz="2800" b="1" dirty="0"/>
              <a:t>ANDs</a:t>
            </a:r>
            <a:r>
              <a:rPr lang="en-US" sz="2800" dirty="0"/>
              <a:t> followed by </a:t>
            </a:r>
            <a:r>
              <a:rPr lang="en-US" sz="2800" b="1" dirty="0"/>
              <a:t>ORs → NANDs</a:t>
            </a:r>
            <a:endParaRPr lang="en-US" sz="2800" dirty="0"/>
          </a:p>
          <a:p>
            <a:r>
              <a:rPr lang="en-US" sz="2800" dirty="0"/>
              <a:t>Example: </a:t>
            </a:r>
            <a:r>
              <a:rPr lang="en-US" sz="2800" i="1" dirty="0"/>
              <a:t>Y</a:t>
            </a:r>
            <a:r>
              <a:rPr lang="en-US" sz="2800" dirty="0"/>
              <a:t> = </a:t>
            </a:r>
            <a:r>
              <a:rPr lang="en-US" sz="2800" i="1" dirty="0"/>
              <a:t>ABC</a:t>
            </a:r>
            <a:r>
              <a:rPr lang="en-US" sz="2800" dirty="0"/>
              <a:t> + </a:t>
            </a:r>
            <a:r>
              <a:rPr lang="en-US" sz="2800" i="1" dirty="0"/>
              <a:t>ABC</a:t>
            </a:r>
            <a:r>
              <a:rPr lang="en-US" sz="2800" dirty="0"/>
              <a:t> + </a:t>
            </a:r>
            <a:r>
              <a:rPr lang="en-US" sz="2800" i="1" dirty="0"/>
              <a:t>ABC</a:t>
            </a:r>
          </a:p>
        </p:txBody>
      </p:sp>
      <p:sp>
        <p:nvSpPr>
          <p:cNvPr id="899079" name="Line 7"/>
          <p:cNvSpPr>
            <a:spLocks noChangeShapeType="1"/>
          </p:cNvSpPr>
          <p:nvPr>
            <p:custDataLst>
              <p:tags r:id="rId3"/>
            </p:custDataLst>
          </p:nvPr>
        </p:nvSpPr>
        <p:spPr bwMode="auto">
          <a:xfrm>
            <a:off x="3505200" y="16764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99081" name="Line 9"/>
          <p:cNvSpPr>
            <a:spLocks noChangeShapeType="1"/>
          </p:cNvSpPr>
          <p:nvPr>
            <p:custDataLst>
              <p:tags r:id="rId4"/>
            </p:custDataLst>
          </p:nvPr>
        </p:nvSpPr>
        <p:spPr bwMode="auto">
          <a:xfrm>
            <a:off x="3733800" y="16764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99082" name="Line 10"/>
          <p:cNvSpPr>
            <a:spLocks noChangeShapeType="1"/>
          </p:cNvSpPr>
          <p:nvPr>
            <p:custDataLst>
              <p:tags r:id="rId5"/>
            </p:custDataLst>
          </p:nvPr>
        </p:nvSpPr>
        <p:spPr bwMode="auto">
          <a:xfrm>
            <a:off x="3276600" y="16764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99083" name="Line 11"/>
          <p:cNvSpPr>
            <a:spLocks noChangeShapeType="1"/>
          </p:cNvSpPr>
          <p:nvPr>
            <p:custDataLst>
              <p:tags r:id="rId6"/>
            </p:custDataLst>
          </p:nvPr>
        </p:nvSpPr>
        <p:spPr bwMode="auto">
          <a:xfrm>
            <a:off x="4419600" y="16764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99084" name="Line 12"/>
          <p:cNvSpPr>
            <a:spLocks noChangeShapeType="1"/>
          </p:cNvSpPr>
          <p:nvPr>
            <p:custDataLst>
              <p:tags r:id="rId7"/>
            </p:custDataLst>
          </p:nvPr>
        </p:nvSpPr>
        <p:spPr bwMode="auto">
          <a:xfrm>
            <a:off x="4648200" y="16764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99085" name="Line 13"/>
          <p:cNvSpPr>
            <a:spLocks noChangeShapeType="1"/>
          </p:cNvSpPr>
          <p:nvPr>
            <p:custDataLst>
              <p:tags r:id="rId8"/>
            </p:custDataLst>
          </p:nvPr>
        </p:nvSpPr>
        <p:spPr bwMode="auto">
          <a:xfrm>
            <a:off x="5378940" y="16764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Two-Level Logic</a:t>
            </a:r>
          </a:p>
        </p:txBody>
      </p:sp>
      <p:sp>
        <p:nvSpPr>
          <p:cNvPr id="2" name="Rectangle 1"/>
          <p:cNvSpPr/>
          <p:nvPr/>
        </p:nvSpPr>
        <p:spPr>
          <a:xfrm>
            <a:off x="1866927" y="5715000"/>
            <a:ext cx="464986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/>
              <a:t>Put </a:t>
            </a:r>
            <a:r>
              <a:rPr lang="en-US" sz="2800" b="1" dirty="0">
                <a:solidFill>
                  <a:srgbClr val="FF0000"/>
                </a:solidFill>
              </a:rPr>
              <a:t>bubbles</a:t>
            </a:r>
            <a:r>
              <a:rPr lang="en-US" sz="2800" dirty="0"/>
              <a:t> on internal nodes.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3900" y="2133600"/>
            <a:ext cx="7200900" cy="3505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" name="Object 2"/>
          <p:cNvGraphicFramePr>
            <a:graphicFrameLocks noGrp="1" noChangeAspect="1"/>
          </p:cNvGraphicFramePr>
          <p:nvPr>
            <p:custDataLst>
              <p:tags r:id="rId9"/>
            </p:custDataLst>
            <p:extLst>
              <p:ext uri="{D42A27DB-BD31-4B8C-83A1-F6EECF244321}">
                <p14:modId xmlns:p14="http://schemas.microsoft.com/office/powerpoint/2010/main" val="480008061"/>
              </p:ext>
            </p:extLst>
          </p:nvPr>
        </p:nvGraphicFramePr>
        <p:xfrm>
          <a:off x="1454150" y="2057400"/>
          <a:ext cx="6013450" cy="378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14" imgW="3041365" imgH="1914421" progId="Visio.Drawing.11">
                  <p:embed/>
                </p:oleObj>
              </mc:Choice>
              <mc:Fallback>
                <p:oleObj name="Visio" r:id="rId14" imgW="3041365" imgH="1914421" progId="Visio.Drawing.11">
                  <p:embed/>
                  <p:pic>
                    <p:nvPicPr>
                      <p:cNvPr id="0" name="Object 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4150" y="2057400"/>
                        <a:ext cx="6013450" cy="3784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Rectangle 19"/>
          <p:cNvSpPr/>
          <p:nvPr/>
        </p:nvSpPr>
        <p:spPr>
          <a:xfrm>
            <a:off x="1148524" y="5715000"/>
            <a:ext cx="7200900" cy="457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6471938" y="5177135"/>
            <a:ext cx="213866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Both: </a:t>
            </a:r>
            <a:r>
              <a:rPr lang="en-US" sz="2400" b="1" dirty="0">
                <a:solidFill>
                  <a:srgbClr val="FF0000"/>
                </a:solidFill>
              </a:rPr>
              <a:t>SOP</a:t>
            </a:r>
            <a:r>
              <a:rPr lang="en-US" sz="2400" dirty="0"/>
              <a:t> 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6471938" y="5177135"/>
            <a:ext cx="2138662" cy="46166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4E914E-C0BB-9A43-B532-338079BCA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86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018333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0" grpId="0" animBg="1"/>
      <p:bldP spid="4" grpId="0"/>
      <p:bldP spid="5" grpId="0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075" name="Rectangle 3"/>
          <p:cNvSpPr>
            <a:spLocks noGrp="1" noChangeArrowheads="1"/>
          </p:cNvSpPr>
          <p:nvPr>
            <p:ph type="body" sz="half" idx="4294967295"/>
            <p:custDataLst>
              <p:tags r:id="rId1"/>
            </p:custDataLst>
          </p:nvPr>
        </p:nvSpPr>
        <p:spPr>
          <a:xfrm>
            <a:off x="914400" y="1066800"/>
            <a:ext cx="7772400" cy="4953000"/>
          </a:xfrm>
        </p:spPr>
        <p:txBody>
          <a:bodyPr>
            <a:normAutofit/>
          </a:bodyPr>
          <a:lstStyle/>
          <a:p>
            <a:r>
              <a:rPr lang="en-US" sz="2800" dirty="0"/>
              <a:t>Two-level logic: </a:t>
            </a:r>
            <a:r>
              <a:rPr lang="en-US" sz="2800" b="1" dirty="0"/>
              <a:t>ORs</a:t>
            </a:r>
            <a:r>
              <a:rPr lang="en-US" sz="2800" dirty="0"/>
              <a:t> followed by </a:t>
            </a:r>
            <a:r>
              <a:rPr lang="en-US" sz="2800" b="1" dirty="0"/>
              <a:t>ANDs → NORs</a:t>
            </a:r>
          </a:p>
          <a:p>
            <a:r>
              <a:rPr lang="en-US" sz="2800" dirty="0"/>
              <a:t>Example: </a:t>
            </a:r>
            <a:r>
              <a:rPr lang="en-US" sz="2800" i="1" dirty="0"/>
              <a:t>Y</a:t>
            </a:r>
            <a:r>
              <a:rPr lang="en-US" sz="2800" dirty="0"/>
              <a:t> = (</a:t>
            </a:r>
            <a:r>
              <a:rPr lang="en-US" sz="2800" i="1" dirty="0"/>
              <a:t>A+B)(A+B+C)</a:t>
            </a:r>
          </a:p>
        </p:txBody>
      </p:sp>
      <p:sp>
        <p:nvSpPr>
          <p:cNvPr id="899081" name="Line 9"/>
          <p:cNvSpPr>
            <a:spLocks noChangeShapeType="1"/>
          </p:cNvSpPr>
          <p:nvPr>
            <p:custDataLst>
              <p:tags r:id="rId2"/>
            </p:custDataLst>
          </p:nvPr>
        </p:nvSpPr>
        <p:spPr bwMode="auto">
          <a:xfrm>
            <a:off x="3810000" y="16764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99082" name="Line 10"/>
          <p:cNvSpPr>
            <a:spLocks noChangeShapeType="1"/>
          </p:cNvSpPr>
          <p:nvPr>
            <p:custDataLst>
              <p:tags r:id="rId3"/>
            </p:custDataLst>
          </p:nvPr>
        </p:nvSpPr>
        <p:spPr bwMode="auto">
          <a:xfrm>
            <a:off x="3429000" y="16764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99084" name="Line 12"/>
          <p:cNvSpPr>
            <a:spLocks noChangeShapeType="1"/>
          </p:cNvSpPr>
          <p:nvPr>
            <p:custDataLst>
              <p:tags r:id="rId4"/>
            </p:custDataLst>
          </p:nvPr>
        </p:nvSpPr>
        <p:spPr bwMode="auto">
          <a:xfrm>
            <a:off x="4953000" y="16764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Two-Level Logic Variation</a:t>
            </a: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3203131"/>
              </p:ext>
            </p:extLst>
          </p:nvPr>
        </p:nvGraphicFramePr>
        <p:xfrm>
          <a:off x="2057400" y="2209800"/>
          <a:ext cx="4800600" cy="33956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7" imgW="2576908" imgH="1822981" progId="Visio.Drawing.11">
                  <p:embed/>
                </p:oleObj>
              </mc:Choice>
              <mc:Fallback>
                <p:oleObj name="Visio" r:id="rId7" imgW="2576908" imgH="1822981" progId="Visio.Drawing.1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057400" y="2209800"/>
                        <a:ext cx="4800600" cy="339561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13"/>
          <p:cNvSpPr/>
          <p:nvPr/>
        </p:nvSpPr>
        <p:spPr>
          <a:xfrm>
            <a:off x="1866927" y="5715000"/>
            <a:ext cx="464986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/>
              <a:t>Put </a:t>
            </a:r>
            <a:r>
              <a:rPr lang="en-US" sz="2800" b="1" dirty="0">
                <a:solidFill>
                  <a:srgbClr val="FF0000"/>
                </a:solidFill>
              </a:rPr>
              <a:t>bubbles</a:t>
            </a:r>
            <a:r>
              <a:rPr lang="en-US" sz="2800" dirty="0"/>
              <a:t> on internal nodes.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8524" y="5715000"/>
            <a:ext cx="7200900" cy="457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723900" y="2133600"/>
            <a:ext cx="7200900" cy="3505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2551788"/>
              </p:ext>
            </p:extLst>
          </p:nvPr>
        </p:nvGraphicFramePr>
        <p:xfrm>
          <a:off x="1905000" y="2133600"/>
          <a:ext cx="5181600" cy="36112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9" imgW="2771814" imgH="1914421" progId="Visio.Drawing.11">
                  <p:embed/>
                </p:oleObj>
              </mc:Choice>
              <mc:Fallback>
                <p:oleObj name="Visio" r:id="rId9" imgW="2771814" imgH="1914421" progId="Visio.Drawing.11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2133600"/>
                        <a:ext cx="5181600" cy="361126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Rectangle 21"/>
          <p:cNvSpPr/>
          <p:nvPr/>
        </p:nvSpPr>
        <p:spPr>
          <a:xfrm>
            <a:off x="6471938" y="5177135"/>
            <a:ext cx="213866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Both: </a:t>
            </a:r>
            <a:r>
              <a:rPr lang="en-US" sz="2400" b="1" dirty="0">
                <a:solidFill>
                  <a:srgbClr val="FF0000"/>
                </a:solidFill>
              </a:rPr>
              <a:t>POS</a:t>
            </a:r>
            <a:r>
              <a:rPr lang="en-US" sz="2400" dirty="0"/>
              <a:t> form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71938" y="5177135"/>
            <a:ext cx="2138662" cy="46166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881A056-5F26-1A42-965C-5E7EB611A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87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491449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9" grpId="0" animBg="1"/>
      <p:bldP spid="22" grpId="0"/>
      <p:bldP spid="23" grpId="0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0" y="76200"/>
            <a:ext cx="9144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  <a:latin typeface="+mj-lt"/>
              </a:rPr>
              <a:t>Chapter 2: Combinational Logic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DAA03A6C-70A8-504F-B2A9-E24C66359451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0" y="2438400"/>
            <a:ext cx="9144000" cy="1600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en-US" sz="7200" b="1" dirty="0"/>
              <a:t>Bubble Pushing</a:t>
            </a:r>
            <a:endParaRPr lang="en-US" sz="7200" dirty="0"/>
          </a:p>
          <a:p>
            <a:pPr lvl="1" algn="ctr"/>
            <a:endParaRPr lang="en-US" sz="7200" dirty="0"/>
          </a:p>
          <a:p>
            <a:pPr algn="ctr">
              <a:buFontTx/>
              <a:buNone/>
            </a:pP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3068961863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De Morgan’s Theorem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2822838"/>
              </p:ext>
            </p:extLst>
          </p:nvPr>
        </p:nvGraphicFramePr>
        <p:xfrm>
          <a:off x="758953" y="1397000"/>
          <a:ext cx="7614918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88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067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3000" dirty="0"/>
                        <a:t>#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000" dirty="0"/>
                        <a:t>Theorem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000" dirty="0"/>
                        <a:t>Dual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000" dirty="0"/>
                        <a:t>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T12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B•C•</a:t>
                      </a:r>
                      <a:r>
                        <a:rPr lang="en-US" sz="2400" baseline="0" dirty="0"/>
                        <a:t>D… = B+C+D…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aseline="0" dirty="0"/>
                        <a:t>B+C+D…= B</a:t>
                      </a:r>
                      <a:r>
                        <a:rPr lang="en-US" sz="2400" dirty="0"/>
                        <a:t>•C•D</a:t>
                      </a:r>
                      <a:r>
                        <a:rPr lang="en-US" sz="2400" baseline="0" dirty="0"/>
                        <a:t>…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De Morgan’s</a:t>
                      </a:r>
                      <a:r>
                        <a:rPr lang="en-US" sz="2400" baseline="0" dirty="0"/>
                        <a:t> Theorem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18" name="Straight Connector 17"/>
          <p:cNvCxnSpPr/>
          <p:nvPr/>
        </p:nvCxnSpPr>
        <p:spPr>
          <a:xfrm>
            <a:off x="1524000" y="2032000"/>
            <a:ext cx="10668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4155000" y="2042160"/>
            <a:ext cx="9504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2862600" y="2032000"/>
            <a:ext cx="171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3190560" y="2032000"/>
            <a:ext cx="171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3506790" y="2032000"/>
            <a:ext cx="171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5368960" y="2038350"/>
            <a:ext cx="171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5696920" y="2038350"/>
            <a:ext cx="171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>
            <a:off x="6013150" y="2038350"/>
            <a:ext cx="171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74B18EC-37F5-1147-84F0-E53078A23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89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624329"/>
      </p:ext>
    </p:extLst>
  </p:cSld>
  <p:clrMapOvr>
    <a:masterClrMapping/>
  </p:clrMapOvr>
  <p:transition/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547" name="Rectangle 3"/>
          <p:cNvSpPr>
            <a:spLocks noGrp="1" noChangeArrowheads="1"/>
          </p:cNvSpPr>
          <p:nvPr>
            <p:ph idx="1"/>
            <p:custDataLst>
              <p:tags r:id="rId1"/>
            </p:custDataLst>
          </p:nvPr>
        </p:nvSpPr>
        <p:spPr>
          <a:xfrm>
            <a:off x="1333500" y="1634123"/>
            <a:ext cx="5067300" cy="499527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i="1" dirty="0">
                <a:solidFill>
                  <a:srgbClr val="0070C0"/>
                </a:solidFill>
              </a:rPr>
              <a:t>Y</a:t>
            </a:r>
            <a:r>
              <a:rPr lang="en-US" b="1" dirty="0">
                <a:solidFill>
                  <a:srgbClr val="0070C0"/>
                </a:solidFill>
              </a:rPr>
              <a:t> = </a:t>
            </a:r>
            <a:r>
              <a:rPr lang="en-US" b="1" i="1" dirty="0">
                <a:solidFill>
                  <a:srgbClr val="0070C0"/>
                </a:solidFill>
              </a:rPr>
              <a:t>A+BC</a:t>
            </a:r>
          </a:p>
          <a:p>
            <a:pPr marL="0" indent="0">
              <a:buNone/>
            </a:pPr>
            <a:r>
              <a:rPr lang="en-US" i="1" dirty="0"/>
              <a:t>   = A•BC </a:t>
            </a:r>
          </a:p>
          <a:p>
            <a:pPr marL="0" indent="0">
              <a:buNone/>
            </a:pPr>
            <a:r>
              <a:rPr lang="en-US" i="1" dirty="0"/>
              <a:t>   = A•BC </a:t>
            </a:r>
          </a:p>
          <a:p>
            <a:pPr marL="0" indent="0">
              <a:buNone/>
            </a:pPr>
            <a:r>
              <a:rPr lang="en-US" i="1" dirty="0"/>
              <a:t>   = ABC</a:t>
            </a:r>
          </a:p>
        </p:txBody>
      </p:sp>
      <p:sp>
        <p:nvSpPr>
          <p:cNvPr id="876549" name="Line 5"/>
          <p:cNvSpPr>
            <a:spLocks noChangeShapeType="1"/>
          </p:cNvSpPr>
          <p:nvPr>
            <p:custDataLst>
              <p:tags r:id="rId2"/>
            </p:custDataLst>
          </p:nvPr>
        </p:nvSpPr>
        <p:spPr bwMode="auto">
          <a:xfrm>
            <a:off x="2438400" y="1740294"/>
            <a:ext cx="489857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76550" name="Line 6"/>
          <p:cNvSpPr>
            <a:spLocks noChangeShapeType="1"/>
          </p:cNvSpPr>
          <p:nvPr>
            <p:custDataLst>
              <p:tags r:id="rId3"/>
            </p:custDataLst>
          </p:nvPr>
        </p:nvSpPr>
        <p:spPr bwMode="auto">
          <a:xfrm>
            <a:off x="1981200" y="1671637"/>
            <a:ext cx="963382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De Morgan’s Theorem</a:t>
            </a:r>
          </a:p>
        </p:txBody>
      </p:sp>
      <p:sp>
        <p:nvSpPr>
          <p:cNvPr id="13" name="Line 6"/>
          <p:cNvSpPr>
            <a:spLocks noChangeShapeType="1"/>
          </p:cNvSpPr>
          <p:nvPr>
            <p:custDataLst>
              <p:tags r:id="rId4"/>
            </p:custDataLst>
          </p:nvPr>
        </p:nvSpPr>
        <p:spPr bwMode="auto">
          <a:xfrm>
            <a:off x="2449830" y="2262808"/>
            <a:ext cx="47897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" name="Line 5"/>
          <p:cNvSpPr>
            <a:spLocks noChangeShapeType="1"/>
          </p:cNvSpPr>
          <p:nvPr>
            <p:custDataLst>
              <p:tags r:id="rId5"/>
            </p:custDataLst>
          </p:nvPr>
        </p:nvSpPr>
        <p:spPr bwMode="auto">
          <a:xfrm>
            <a:off x="2438400" y="2339007"/>
            <a:ext cx="489857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" name="Line 4"/>
          <p:cNvSpPr>
            <a:spLocks noChangeShapeType="1"/>
          </p:cNvSpPr>
          <p:nvPr>
            <p:custDataLst>
              <p:tags r:id="rId6"/>
            </p:custDataLst>
          </p:nvPr>
        </p:nvSpPr>
        <p:spPr bwMode="auto">
          <a:xfrm>
            <a:off x="1981200" y="2905066"/>
            <a:ext cx="228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4003500" y="1781983"/>
            <a:ext cx="4784900" cy="138499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 sz="2800" dirty="0"/>
              <a:t>Work from the </a:t>
            </a:r>
            <a:r>
              <a:rPr lang="en-US" sz="2800" b="1" dirty="0"/>
              <a:t>outside in</a:t>
            </a:r>
          </a:p>
          <a:p>
            <a:r>
              <a:rPr lang="en-US" sz="2800" dirty="0"/>
              <a:t>      (i.e., top bar, then down)</a:t>
            </a:r>
          </a:p>
          <a:p>
            <a:pPr marL="285750" indent="-285750">
              <a:buFont typeface="Arial" charset="0"/>
              <a:buChar char="•"/>
            </a:pPr>
            <a:r>
              <a:rPr lang="en-US" sz="2800" dirty="0"/>
              <a:t>Use </a:t>
            </a:r>
            <a:r>
              <a:rPr lang="en-US" sz="2800" b="1" dirty="0"/>
              <a:t>involution</a:t>
            </a:r>
            <a:r>
              <a:rPr lang="en-US" sz="2800" dirty="0">
                <a:solidFill>
                  <a:srgbClr val="0070C0"/>
                </a:solidFill>
              </a:rPr>
              <a:t> </a:t>
            </a:r>
            <a:r>
              <a:rPr lang="en-US" sz="2800" dirty="0"/>
              <a:t>when possible</a:t>
            </a:r>
          </a:p>
        </p:txBody>
      </p:sp>
      <p:sp>
        <p:nvSpPr>
          <p:cNvPr id="26" name="Line 6"/>
          <p:cNvSpPr>
            <a:spLocks noChangeShapeType="1"/>
          </p:cNvSpPr>
          <p:nvPr>
            <p:custDataLst>
              <p:tags r:id="rId7"/>
            </p:custDataLst>
          </p:nvPr>
        </p:nvSpPr>
        <p:spPr bwMode="auto">
          <a:xfrm>
            <a:off x="1981200" y="2338387"/>
            <a:ext cx="266696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" name="Line 4"/>
          <p:cNvSpPr>
            <a:spLocks noChangeShapeType="1"/>
          </p:cNvSpPr>
          <p:nvPr>
            <p:custDataLst>
              <p:tags r:id="rId8"/>
            </p:custDataLst>
          </p:nvPr>
        </p:nvSpPr>
        <p:spPr bwMode="auto">
          <a:xfrm>
            <a:off x="1981200" y="3500437"/>
            <a:ext cx="228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838200" y="972234"/>
            <a:ext cx="3505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Example D1: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C9AF065-24BA-C941-B6CB-000F98F0E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90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9275693"/>
      </p:ext>
    </p:extLst>
  </p:cSld>
  <p:clrMapOvr>
    <a:masterClrMapping/>
  </p:clrMapOvr>
  <p:transition/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547" name="Rectangle 3"/>
          <p:cNvSpPr>
            <a:spLocks noGrp="1" noChangeArrowheads="1"/>
          </p:cNvSpPr>
          <p:nvPr>
            <p:ph idx="1"/>
            <p:custDataLst>
              <p:tags r:id="rId1"/>
            </p:custDataLst>
          </p:nvPr>
        </p:nvSpPr>
        <p:spPr>
          <a:xfrm>
            <a:off x="1181100" y="1557923"/>
            <a:ext cx="5067300" cy="499527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i="1" dirty="0">
                <a:solidFill>
                  <a:srgbClr val="0070C0"/>
                </a:solidFill>
              </a:rPr>
              <a:t>Y</a:t>
            </a:r>
            <a:r>
              <a:rPr lang="en-US" b="1" dirty="0">
                <a:solidFill>
                  <a:srgbClr val="0070C0"/>
                </a:solidFill>
              </a:rPr>
              <a:t> = </a:t>
            </a:r>
            <a:r>
              <a:rPr lang="en-US" b="1" i="1" dirty="0">
                <a:solidFill>
                  <a:srgbClr val="0070C0"/>
                </a:solidFill>
              </a:rPr>
              <a:t>A+BC+AB</a:t>
            </a:r>
          </a:p>
          <a:p>
            <a:pPr marL="0" indent="0">
              <a:buNone/>
            </a:pPr>
            <a:r>
              <a:rPr lang="en-US" i="1" dirty="0"/>
              <a:t>   = A•BC •AB</a:t>
            </a:r>
          </a:p>
          <a:p>
            <a:pPr marL="0" indent="0">
              <a:buNone/>
            </a:pPr>
            <a:r>
              <a:rPr lang="en-US" i="1" dirty="0"/>
              <a:t>   = A•BC •(A + B)</a:t>
            </a:r>
          </a:p>
          <a:p>
            <a:pPr marL="0" indent="0">
              <a:buNone/>
            </a:pPr>
            <a:r>
              <a:rPr lang="en-US" i="1" dirty="0"/>
              <a:t>   = ABC   •(A + B)</a:t>
            </a:r>
          </a:p>
          <a:p>
            <a:pPr marL="0" indent="0">
              <a:buNone/>
            </a:pPr>
            <a:r>
              <a:rPr lang="en-US" i="1" dirty="0"/>
              <a:t>   = ABCA + ABCB</a:t>
            </a:r>
          </a:p>
          <a:p>
            <a:pPr marL="0" indent="0">
              <a:buNone/>
            </a:pPr>
            <a:r>
              <a:rPr lang="en-US" i="1" dirty="0"/>
              <a:t>   =               ABC</a:t>
            </a:r>
          </a:p>
        </p:txBody>
      </p:sp>
      <p:sp>
        <p:nvSpPr>
          <p:cNvPr id="876548" name="Line 4"/>
          <p:cNvSpPr>
            <a:spLocks noChangeShapeType="1"/>
          </p:cNvSpPr>
          <p:nvPr>
            <p:custDataLst>
              <p:tags r:id="rId2"/>
            </p:custDataLst>
          </p:nvPr>
        </p:nvSpPr>
        <p:spPr bwMode="auto">
          <a:xfrm flipV="1">
            <a:off x="2971800" y="1671637"/>
            <a:ext cx="152400" cy="1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76549" name="Line 5"/>
          <p:cNvSpPr>
            <a:spLocks noChangeShapeType="1"/>
          </p:cNvSpPr>
          <p:nvPr>
            <p:custDataLst>
              <p:tags r:id="rId3"/>
            </p:custDataLst>
          </p:nvPr>
        </p:nvSpPr>
        <p:spPr bwMode="auto">
          <a:xfrm>
            <a:off x="2286000" y="1664094"/>
            <a:ext cx="489857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76550" name="Line 6"/>
          <p:cNvSpPr>
            <a:spLocks noChangeShapeType="1"/>
          </p:cNvSpPr>
          <p:nvPr>
            <p:custDataLst>
              <p:tags r:id="rId4"/>
            </p:custDataLst>
          </p:nvPr>
        </p:nvSpPr>
        <p:spPr bwMode="auto">
          <a:xfrm>
            <a:off x="1828800" y="1595437"/>
            <a:ext cx="1665526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 err="1">
                <a:solidFill>
                  <a:schemeClr val="bg1"/>
                </a:solidFill>
                <a:latin typeface="+mj-lt"/>
              </a:rPr>
              <a:t>DeMorgan’s</a:t>
            </a:r>
            <a:r>
              <a:rPr lang="en-US" sz="4400" dirty="0">
                <a:solidFill>
                  <a:schemeClr val="bg1"/>
                </a:solidFill>
                <a:latin typeface="+mj-lt"/>
              </a:rPr>
              <a:t> Theorem</a:t>
            </a:r>
          </a:p>
        </p:txBody>
      </p:sp>
      <p:sp>
        <p:nvSpPr>
          <p:cNvPr id="13" name="Line 6"/>
          <p:cNvSpPr>
            <a:spLocks noChangeShapeType="1"/>
          </p:cNvSpPr>
          <p:nvPr>
            <p:custDataLst>
              <p:tags r:id="rId5"/>
            </p:custDataLst>
          </p:nvPr>
        </p:nvSpPr>
        <p:spPr bwMode="auto">
          <a:xfrm>
            <a:off x="2286000" y="2186608"/>
            <a:ext cx="47897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" name="Line 5"/>
          <p:cNvSpPr>
            <a:spLocks noChangeShapeType="1"/>
          </p:cNvSpPr>
          <p:nvPr>
            <p:custDataLst>
              <p:tags r:id="rId6"/>
            </p:custDataLst>
          </p:nvPr>
        </p:nvSpPr>
        <p:spPr bwMode="auto">
          <a:xfrm>
            <a:off x="2286000" y="2262807"/>
            <a:ext cx="489857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" name="Line 4"/>
          <p:cNvSpPr>
            <a:spLocks noChangeShapeType="1"/>
          </p:cNvSpPr>
          <p:nvPr>
            <p:custDataLst>
              <p:tags r:id="rId7"/>
            </p:custDataLst>
          </p:nvPr>
        </p:nvSpPr>
        <p:spPr bwMode="auto">
          <a:xfrm>
            <a:off x="3048000" y="2208380"/>
            <a:ext cx="4572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" name="Line 4"/>
          <p:cNvSpPr>
            <a:spLocks noChangeShapeType="1"/>
          </p:cNvSpPr>
          <p:nvPr>
            <p:custDataLst>
              <p:tags r:id="rId8"/>
            </p:custDataLst>
          </p:nvPr>
        </p:nvSpPr>
        <p:spPr bwMode="auto">
          <a:xfrm>
            <a:off x="1828800" y="2828866"/>
            <a:ext cx="228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" name="Line 4"/>
          <p:cNvSpPr>
            <a:spLocks noChangeShapeType="1"/>
          </p:cNvSpPr>
          <p:nvPr>
            <p:custDataLst>
              <p:tags r:id="rId9"/>
            </p:custDataLst>
          </p:nvPr>
        </p:nvSpPr>
        <p:spPr bwMode="auto">
          <a:xfrm>
            <a:off x="1828800" y="3405809"/>
            <a:ext cx="228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" name="Line 4"/>
          <p:cNvSpPr>
            <a:spLocks noChangeShapeType="1"/>
          </p:cNvSpPr>
          <p:nvPr>
            <p:custDataLst>
              <p:tags r:id="rId10"/>
            </p:custDataLst>
          </p:nvPr>
        </p:nvSpPr>
        <p:spPr bwMode="auto">
          <a:xfrm>
            <a:off x="1883218" y="3993639"/>
            <a:ext cx="228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4597800" y="1737181"/>
            <a:ext cx="44700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 sz="2800" dirty="0"/>
              <a:t>De Morgan </a:t>
            </a:r>
            <a:r>
              <a:rPr lang="en-US" sz="2800" b="1" dirty="0"/>
              <a:t>applies to</a:t>
            </a:r>
            <a:r>
              <a:rPr lang="en-US" sz="2800" dirty="0"/>
              <a:t>: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2800" b="1" dirty="0">
                <a:solidFill>
                  <a:srgbClr val="0070C0"/>
                </a:solidFill>
              </a:rPr>
              <a:t>Products</a:t>
            </a:r>
            <a:r>
              <a:rPr lang="en-US" sz="2800" dirty="0"/>
              <a:t> under a bar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2800" b="1" dirty="0">
                <a:solidFill>
                  <a:srgbClr val="0070C0"/>
                </a:solidFill>
              </a:rPr>
              <a:t>Sums</a:t>
            </a:r>
            <a:r>
              <a:rPr lang="en-US" sz="2800" dirty="0"/>
              <a:t> under a bar</a:t>
            </a:r>
          </a:p>
          <a:p>
            <a:pPr marL="285750" indent="-285750">
              <a:buFont typeface="Arial" charset="0"/>
              <a:buChar char="•"/>
            </a:pPr>
            <a:r>
              <a:rPr lang="en-US" sz="2800" b="1" dirty="0">
                <a:solidFill>
                  <a:srgbClr val="FF0000"/>
                </a:solidFill>
              </a:rPr>
              <a:t>Do not </a:t>
            </a:r>
            <a:r>
              <a:rPr lang="en-US" sz="2800" dirty="0"/>
              <a:t>try to apply </a:t>
            </a:r>
            <a:r>
              <a:rPr lang="en-US" sz="2800" dirty="0" err="1"/>
              <a:t>DeMorgan’s</a:t>
            </a:r>
            <a:r>
              <a:rPr lang="en-US" sz="2800" dirty="0"/>
              <a:t> to a </a:t>
            </a:r>
            <a:r>
              <a:rPr lang="en-US" sz="2800" b="1" dirty="0">
                <a:solidFill>
                  <a:srgbClr val="FF0000"/>
                </a:solidFill>
              </a:rPr>
              <a:t>mix of operations</a:t>
            </a:r>
          </a:p>
        </p:txBody>
      </p:sp>
      <p:sp>
        <p:nvSpPr>
          <p:cNvPr id="26" name="Line 6"/>
          <p:cNvSpPr>
            <a:spLocks noChangeShapeType="1"/>
          </p:cNvSpPr>
          <p:nvPr>
            <p:custDataLst>
              <p:tags r:id="rId11"/>
            </p:custDataLst>
          </p:nvPr>
        </p:nvSpPr>
        <p:spPr bwMode="auto">
          <a:xfrm>
            <a:off x="1828800" y="2262187"/>
            <a:ext cx="266696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" name="Line 4"/>
          <p:cNvSpPr>
            <a:spLocks noChangeShapeType="1"/>
          </p:cNvSpPr>
          <p:nvPr>
            <p:custDataLst>
              <p:tags r:id="rId12"/>
            </p:custDataLst>
          </p:nvPr>
        </p:nvSpPr>
        <p:spPr bwMode="auto">
          <a:xfrm>
            <a:off x="3200400" y="2814637"/>
            <a:ext cx="228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" name="Line 4"/>
          <p:cNvSpPr>
            <a:spLocks noChangeShapeType="1"/>
          </p:cNvSpPr>
          <p:nvPr>
            <p:custDataLst>
              <p:tags r:id="rId13"/>
            </p:custDataLst>
          </p:nvPr>
        </p:nvSpPr>
        <p:spPr bwMode="auto">
          <a:xfrm>
            <a:off x="3200400" y="2760209"/>
            <a:ext cx="228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" name="Line 4"/>
          <p:cNvSpPr>
            <a:spLocks noChangeShapeType="1"/>
          </p:cNvSpPr>
          <p:nvPr>
            <p:custDataLst>
              <p:tags r:id="rId14"/>
            </p:custDataLst>
          </p:nvPr>
        </p:nvSpPr>
        <p:spPr bwMode="auto">
          <a:xfrm>
            <a:off x="3783330" y="2814637"/>
            <a:ext cx="228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" name="Line 4"/>
          <p:cNvSpPr>
            <a:spLocks noChangeShapeType="1"/>
          </p:cNvSpPr>
          <p:nvPr>
            <p:custDataLst>
              <p:tags r:id="rId15"/>
            </p:custDataLst>
          </p:nvPr>
        </p:nvSpPr>
        <p:spPr bwMode="auto">
          <a:xfrm>
            <a:off x="3238500" y="1671637"/>
            <a:ext cx="1524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" name="Line 4"/>
          <p:cNvSpPr>
            <a:spLocks noChangeShapeType="1"/>
          </p:cNvSpPr>
          <p:nvPr>
            <p:custDataLst>
              <p:tags r:id="rId16"/>
            </p:custDataLst>
          </p:nvPr>
        </p:nvSpPr>
        <p:spPr bwMode="auto">
          <a:xfrm flipV="1">
            <a:off x="3048000" y="2281236"/>
            <a:ext cx="152400" cy="1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" name="Line 4"/>
          <p:cNvSpPr>
            <a:spLocks noChangeShapeType="1"/>
          </p:cNvSpPr>
          <p:nvPr>
            <p:custDataLst>
              <p:tags r:id="rId17"/>
            </p:custDataLst>
          </p:nvPr>
        </p:nvSpPr>
        <p:spPr bwMode="auto">
          <a:xfrm>
            <a:off x="3314700" y="2281236"/>
            <a:ext cx="1524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" name="Line 4"/>
          <p:cNvSpPr>
            <a:spLocks noChangeShapeType="1"/>
          </p:cNvSpPr>
          <p:nvPr>
            <p:custDataLst>
              <p:tags r:id="rId18"/>
            </p:custDataLst>
          </p:nvPr>
        </p:nvSpPr>
        <p:spPr bwMode="auto">
          <a:xfrm>
            <a:off x="3781425" y="2760662"/>
            <a:ext cx="228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" name="Line 4"/>
          <p:cNvSpPr>
            <a:spLocks noChangeShapeType="1"/>
          </p:cNvSpPr>
          <p:nvPr>
            <p:custDataLst>
              <p:tags r:id="rId19"/>
            </p:custDataLst>
          </p:nvPr>
        </p:nvSpPr>
        <p:spPr bwMode="auto">
          <a:xfrm>
            <a:off x="3178175" y="4005262"/>
            <a:ext cx="228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" name="Line 4"/>
          <p:cNvSpPr>
            <a:spLocks noChangeShapeType="1"/>
          </p:cNvSpPr>
          <p:nvPr>
            <p:custDataLst>
              <p:tags r:id="rId20"/>
            </p:custDataLst>
          </p:nvPr>
        </p:nvSpPr>
        <p:spPr bwMode="auto">
          <a:xfrm>
            <a:off x="3171825" y="4567237"/>
            <a:ext cx="228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" name="TextBox 29"/>
          <p:cNvSpPr txBox="1"/>
          <p:nvPr/>
        </p:nvSpPr>
        <p:spPr>
          <a:xfrm>
            <a:off x="838200" y="972234"/>
            <a:ext cx="3505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Example D2: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184E7CC-4C73-AF41-BFA0-F483FB3B4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91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5902244"/>
      </p:ext>
    </p:extLst>
  </p:cSld>
  <p:clrMapOvr>
    <a:masterClrMapping/>
  </p:clrMapOvr>
  <p:transition/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547" name="Rectangle 3"/>
          <p:cNvSpPr>
            <a:spLocks noGrp="1" noChangeArrowheads="1"/>
          </p:cNvSpPr>
          <p:nvPr>
            <p:ph idx="1"/>
            <p:custDataLst>
              <p:tags r:id="rId1"/>
            </p:custDataLst>
          </p:nvPr>
        </p:nvSpPr>
        <p:spPr>
          <a:xfrm>
            <a:off x="1181100" y="1557923"/>
            <a:ext cx="5067300" cy="499527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i="1" dirty="0">
                <a:solidFill>
                  <a:srgbClr val="0070C0"/>
                </a:solidFill>
              </a:rPr>
              <a:t>Y</a:t>
            </a:r>
            <a:r>
              <a:rPr lang="en-US" b="1" dirty="0">
                <a:solidFill>
                  <a:srgbClr val="0070C0"/>
                </a:solidFill>
              </a:rPr>
              <a:t> = </a:t>
            </a:r>
            <a:r>
              <a:rPr lang="en-US" b="1" i="1" dirty="0">
                <a:solidFill>
                  <a:srgbClr val="0070C0"/>
                </a:solidFill>
              </a:rPr>
              <a:t>A+BC+AB</a:t>
            </a:r>
          </a:p>
          <a:p>
            <a:pPr marL="0" indent="0">
              <a:buNone/>
            </a:pPr>
            <a:r>
              <a:rPr lang="en-US" i="1" dirty="0"/>
              <a:t>   = A•BC •AB</a:t>
            </a:r>
          </a:p>
          <a:p>
            <a:pPr marL="0" indent="0">
              <a:buNone/>
            </a:pPr>
            <a:r>
              <a:rPr lang="en-US" i="1" dirty="0"/>
              <a:t>   = A•BC •(A + B)</a:t>
            </a:r>
          </a:p>
          <a:p>
            <a:pPr marL="0" indent="0">
              <a:buNone/>
            </a:pPr>
            <a:r>
              <a:rPr lang="en-US" i="1" dirty="0"/>
              <a:t>   = ABC   •(A + B)</a:t>
            </a:r>
          </a:p>
          <a:p>
            <a:pPr marL="0" indent="0">
              <a:buNone/>
            </a:pPr>
            <a:r>
              <a:rPr lang="en-US" i="1" dirty="0"/>
              <a:t>   = ABCA + ABCB</a:t>
            </a:r>
          </a:p>
          <a:p>
            <a:pPr marL="0" indent="0">
              <a:buNone/>
            </a:pPr>
            <a:r>
              <a:rPr lang="en-US" i="1" dirty="0"/>
              <a:t>   =               ABC</a:t>
            </a:r>
          </a:p>
        </p:txBody>
      </p:sp>
      <p:sp>
        <p:nvSpPr>
          <p:cNvPr id="876548" name="Line 4"/>
          <p:cNvSpPr>
            <a:spLocks noChangeShapeType="1"/>
          </p:cNvSpPr>
          <p:nvPr>
            <p:custDataLst>
              <p:tags r:id="rId2"/>
            </p:custDataLst>
          </p:nvPr>
        </p:nvSpPr>
        <p:spPr bwMode="auto">
          <a:xfrm flipV="1">
            <a:off x="2971800" y="1671637"/>
            <a:ext cx="152400" cy="1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76549" name="Line 5"/>
          <p:cNvSpPr>
            <a:spLocks noChangeShapeType="1"/>
          </p:cNvSpPr>
          <p:nvPr>
            <p:custDataLst>
              <p:tags r:id="rId3"/>
            </p:custDataLst>
          </p:nvPr>
        </p:nvSpPr>
        <p:spPr bwMode="auto">
          <a:xfrm>
            <a:off x="2286000" y="1664094"/>
            <a:ext cx="489857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76550" name="Line 6"/>
          <p:cNvSpPr>
            <a:spLocks noChangeShapeType="1"/>
          </p:cNvSpPr>
          <p:nvPr>
            <p:custDataLst>
              <p:tags r:id="rId4"/>
            </p:custDataLst>
          </p:nvPr>
        </p:nvSpPr>
        <p:spPr bwMode="auto">
          <a:xfrm>
            <a:off x="1828800" y="1595437"/>
            <a:ext cx="1665526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De Morgan’s Theorem</a:t>
            </a:r>
          </a:p>
        </p:txBody>
      </p:sp>
      <p:sp>
        <p:nvSpPr>
          <p:cNvPr id="13" name="Line 6"/>
          <p:cNvSpPr>
            <a:spLocks noChangeShapeType="1"/>
          </p:cNvSpPr>
          <p:nvPr>
            <p:custDataLst>
              <p:tags r:id="rId5"/>
            </p:custDataLst>
          </p:nvPr>
        </p:nvSpPr>
        <p:spPr bwMode="auto">
          <a:xfrm>
            <a:off x="2286000" y="2186608"/>
            <a:ext cx="47897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" name="Line 5"/>
          <p:cNvSpPr>
            <a:spLocks noChangeShapeType="1"/>
          </p:cNvSpPr>
          <p:nvPr>
            <p:custDataLst>
              <p:tags r:id="rId6"/>
            </p:custDataLst>
          </p:nvPr>
        </p:nvSpPr>
        <p:spPr bwMode="auto">
          <a:xfrm>
            <a:off x="2286000" y="2262807"/>
            <a:ext cx="489857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" name="Line 4"/>
          <p:cNvSpPr>
            <a:spLocks noChangeShapeType="1"/>
          </p:cNvSpPr>
          <p:nvPr>
            <p:custDataLst>
              <p:tags r:id="rId7"/>
            </p:custDataLst>
          </p:nvPr>
        </p:nvSpPr>
        <p:spPr bwMode="auto">
          <a:xfrm>
            <a:off x="3048000" y="2208380"/>
            <a:ext cx="4572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" name="Line 4"/>
          <p:cNvSpPr>
            <a:spLocks noChangeShapeType="1"/>
          </p:cNvSpPr>
          <p:nvPr>
            <p:custDataLst>
              <p:tags r:id="rId8"/>
            </p:custDataLst>
          </p:nvPr>
        </p:nvSpPr>
        <p:spPr bwMode="auto">
          <a:xfrm>
            <a:off x="1828800" y="2828866"/>
            <a:ext cx="228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" name="Line 4"/>
          <p:cNvSpPr>
            <a:spLocks noChangeShapeType="1"/>
          </p:cNvSpPr>
          <p:nvPr>
            <p:custDataLst>
              <p:tags r:id="rId9"/>
            </p:custDataLst>
          </p:nvPr>
        </p:nvSpPr>
        <p:spPr bwMode="auto">
          <a:xfrm>
            <a:off x="1828800" y="3405809"/>
            <a:ext cx="228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" name="Line 4"/>
          <p:cNvSpPr>
            <a:spLocks noChangeShapeType="1"/>
          </p:cNvSpPr>
          <p:nvPr>
            <p:custDataLst>
              <p:tags r:id="rId10"/>
            </p:custDataLst>
          </p:nvPr>
        </p:nvSpPr>
        <p:spPr bwMode="auto">
          <a:xfrm>
            <a:off x="1883218" y="3993639"/>
            <a:ext cx="228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" name="Line 6"/>
          <p:cNvSpPr>
            <a:spLocks noChangeShapeType="1"/>
          </p:cNvSpPr>
          <p:nvPr>
            <p:custDataLst>
              <p:tags r:id="rId11"/>
            </p:custDataLst>
          </p:nvPr>
        </p:nvSpPr>
        <p:spPr bwMode="auto">
          <a:xfrm>
            <a:off x="1828800" y="2262187"/>
            <a:ext cx="266696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" name="Line 4"/>
          <p:cNvSpPr>
            <a:spLocks noChangeShapeType="1"/>
          </p:cNvSpPr>
          <p:nvPr>
            <p:custDataLst>
              <p:tags r:id="rId12"/>
            </p:custDataLst>
          </p:nvPr>
        </p:nvSpPr>
        <p:spPr bwMode="auto">
          <a:xfrm>
            <a:off x="3200400" y="2814637"/>
            <a:ext cx="228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" name="Line 4"/>
          <p:cNvSpPr>
            <a:spLocks noChangeShapeType="1"/>
          </p:cNvSpPr>
          <p:nvPr>
            <p:custDataLst>
              <p:tags r:id="rId13"/>
            </p:custDataLst>
          </p:nvPr>
        </p:nvSpPr>
        <p:spPr bwMode="auto">
          <a:xfrm>
            <a:off x="3200400" y="2760209"/>
            <a:ext cx="228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" name="Line 4"/>
          <p:cNvSpPr>
            <a:spLocks noChangeShapeType="1"/>
          </p:cNvSpPr>
          <p:nvPr>
            <p:custDataLst>
              <p:tags r:id="rId14"/>
            </p:custDataLst>
          </p:nvPr>
        </p:nvSpPr>
        <p:spPr bwMode="auto">
          <a:xfrm>
            <a:off x="3783330" y="2814637"/>
            <a:ext cx="228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" name="Line 4"/>
          <p:cNvSpPr>
            <a:spLocks noChangeShapeType="1"/>
          </p:cNvSpPr>
          <p:nvPr>
            <p:custDataLst>
              <p:tags r:id="rId15"/>
            </p:custDataLst>
          </p:nvPr>
        </p:nvSpPr>
        <p:spPr bwMode="auto">
          <a:xfrm>
            <a:off x="3238500" y="1671637"/>
            <a:ext cx="1524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" name="Line 4"/>
          <p:cNvSpPr>
            <a:spLocks noChangeShapeType="1"/>
          </p:cNvSpPr>
          <p:nvPr>
            <p:custDataLst>
              <p:tags r:id="rId16"/>
            </p:custDataLst>
          </p:nvPr>
        </p:nvSpPr>
        <p:spPr bwMode="auto">
          <a:xfrm flipV="1">
            <a:off x="3048000" y="2281236"/>
            <a:ext cx="152400" cy="1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" name="Line 4"/>
          <p:cNvSpPr>
            <a:spLocks noChangeShapeType="1"/>
          </p:cNvSpPr>
          <p:nvPr>
            <p:custDataLst>
              <p:tags r:id="rId17"/>
            </p:custDataLst>
          </p:nvPr>
        </p:nvSpPr>
        <p:spPr bwMode="auto">
          <a:xfrm>
            <a:off x="3314700" y="2281236"/>
            <a:ext cx="1524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" name="Line 4"/>
          <p:cNvSpPr>
            <a:spLocks noChangeShapeType="1"/>
          </p:cNvSpPr>
          <p:nvPr>
            <p:custDataLst>
              <p:tags r:id="rId18"/>
            </p:custDataLst>
          </p:nvPr>
        </p:nvSpPr>
        <p:spPr bwMode="auto">
          <a:xfrm>
            <a:off x="3781425" y="2760662"/>
            <a:ext cx="228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" name="Line 4"/>
          <p:cNvSpPr>
            <a:spLocks noChangeShapeType="1"/>
          </p:cNvSpPr>
          <p:nvPr>
            <p:custDataLst>
              <p:tags r:id="rId19"/>
            </p:custDataLst>
          </p:nvPr>
        </p:nvSpPr>
        <p:spPr bwMode="auto">
          <a:xfrm>
            <a:off x="3178175" y="4005262"/>
            <a:ext cx="228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" name="Line 4"/>
          <p:cNvSpPr>
            <a:spLocks noChangeShapeType="1"/>
          </p:cNvSpPr>
          <p:nvPr>
            <p:custDataLst>
              <p:tags r:id="rId20"/>
            </p:custDataLst>
          </p:nvPr>
        </p:nvSpPr>
        <p:spPr bwMode="auto">
          <a:xfrm>
            <a:off x="3171825" y="4567237"/>
            <a:ext cx="228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" name="TextBox 29"/>
          <p:cNvSpPr txBox="1"/>
          <p:nvPr/>
        </p:nvSpPr>
        <p:spPr>
          <a:xfrm>
            <a:off x="838200" y="972234"/>
            <a:ext cx="3505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Example D2: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97800" y="1613118"/>
            <a:ext cx="447000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Don’t forget these parentheses!</a:t>
            </a:r>
          </a:p>
          <a:p>
            <a:r>
              <a:rPr lang="en-US" sz="2800" b="1" dirty="0"/>
              <a:t>    </a:t>
            </a:r>
            <a:r>
              <a:rPr lang="en-US" sz="2800" b="1" dirty="0">
                <a:solidFill>
                  <a:srgbClr val="0070C0"/>
                </a:solidFill>
              </a:rPr>
              <a:t>Remember: </a:t>
            </a:r>
          </a:p>
          <a:p>
            <a:pPr lvl="1"/>
            <a:r>
              <a:rPr lang="en-US" sz="2800" b="1" dirty="0"/>
              <a:t>    AB = (A + B)</a:t>
            </a:r>
          </a:p>
        </p:txBody>
      </p:sp>
      <p:sp>
        <p:nvSpPr>
          <p:cNvPr id="41" name="Line 4"/>
          <p:cNvSpPr>
            <a:spLocks noChangeShapeType="1"/>
          </p:cNvSpPr>
          <p:nvPr>
            <p:custDataLst>
              <p:tags r:id="rId21"/>
            </p:custDataLst>
          </p:nvPr>
        </p:nvSpPr>
        <p:spPr bwMode="auto">
          <a:xfrm>
            <a:off x="5410200" y="2995374"/>
            <a:ext cx="4572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2" name="Line 4"/>
          <p:cNvSpPr>
            <a:spLocks noChangeShapeType="1"/>
          </p:cNvSpPr>
          <p:nvPr>
            <p:custDataLst>
              <p:tags r:id="rId22"/>
            </p:custDataLst>
          </p:nvPr>
        </p:nvSpPr>
        <p:spPr bwMode="auto">
          <a:xfrm>
            <a:off x="6400800" y="2995374"/>
            <a:ext cx="1524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" name="Line 4"/>
          <p:cNvSpPr>
            <a:spLocks noChangeShapeType="1"/>
          </p:cNvSpPr>
          <p:nvPr>
            <p:custDataLst>
              <p:tags r:id="rId23"/>
            </p:custDataLst>
          </p:nvPr>
        </p:nvSpPr>
        <p:spPr bwMode="auto">
          <a:xfrm>
            <a:off x="6858000" y="2995374"/>
            <a:ext cx="1524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cxnSp>
        <p:nvCxnSpPr>
          <p:cNvPr id="44" name="Straight Arrow Connector 43"/>
          <p:cNvCxnSpPr/>
          <p:nvPr/>
        </p:nvCxnSpPr>
        <p:spPr>
          <a:xfrm flipH="1">
            <a:off x="4191000" y="2509476"/>
            <a:ext cx="762000" cy="378768"/>
          </a:xfrm>
          <a:prstGeom prst="straightConnector1">
            <a:avLst/>
          </a:prstGeom>
          <a:ln w="381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26B66C8-4DF1-0F41-8363-045826A1E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92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0460257"/>
      </p:ext>
    </p:extLst>
  </p:cSld>
  <p:clrMapOvr>
    <a:masterClrMapping/>
  </p:clrMapOvr>
  <p:transition/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76557" name="Object 13"/>
          <p:cNvGraphicFramePr>
            <a:graphicFrameLocks noGrp="1" noChangeAspect="1"/>
          </p:cNvGraphicFramePr>
          <p:nvPr>
            <p:ph idx="1"/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90477470"/>
              </p:ext>
            </p:extLst>
          </p:nvPr>
        </p:nvGraphicFramePr>
        <p:xfrm>
          <a:off x="4572000" y="4038600"/>
          <a:ext cx="2145792" cy="182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13" imgW="838800" imgH="714240" progId="Visio.Drawing.6">
                  <p:embed/>
                </p:oleObj>
              </mc:Choice>
              <mc:Fallback>
                <p:oleObj name="VISIO" r:id="rId13" imgW="838800" imgH="71424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4038600"/>
                        <a:ext cx="2145792" cy="182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76547" name="Rectangle 3"/>
          <p:cNvSpPr>
            <a:spLocks noGrp="1" noChangeArrowheads="1"/>
          </p:cNvSpPr>
          <p:nvPr>
            <p:ph type="body" sz="half" idx="4294967295"/>
            <p:custDataLst>
              <p:tags r:id="rId2"/>
            </p:custDataLst>
          </p:nvPr>
        </p:nvSpPr>
        <p:spPr>
          <a:xfrm>
            <a:off x="914400" y="1219200"/>
            <a:ext cx="3810000" cy="4953000"/>
          </a:xfrm>
        </p:spPr>
        <p:txBody>
          <a:bodyPr/>
          <a:lstStyle/>
          <a:p>
            <a:r>
              <a:rPr lang="en-US" i="1" dirty="0"/>
              <a:t>Y</a:t>
            </a:r>
            <a:r>
              <a:rPr lang="en-US" dirty="0"/>
              <a:t> = </a:t>
            </a:r>
            <a:r>
              <a:rPr lang="en-US" i="1" dirty="0"/>
              <a:t>AB</a:t>
            </a:r>
            <a:r>
              <a:rPr lang="en-US" dirty="0"/>
              <a:t> = </a:t>
            </a:r>
            <a:r>
              <a:rPr lang="en-US" i="1" dirty="0"/>
              <a:t>A</a:t>
            </a:r>
            <a:r>
              <a:rPr lang="en-US" dirty="0"/>
              <a:t> + </a:t>
            </a:r>
            <a:r>
              <a:rPr lang="en-US" i="1" dirty="0"/>
              <a:t>B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i="1" dirty="0"/>
              <a:t>Y</a:t>
            </a:r>
            <a:r>
              <a:rPr lang="en-US" dirty="0"/>
              <a:t> = </a:t>
            </a:r>
            <a:r>
              <a:rPr lang="en-US" i="1" dirty="0"/>
              <a:t>A</a:t>
            </a:r>
            <a:r>
              <a:rPr lang="en-US" dirty="0"/>
              <a:t> + </a:t>
            </a:r>
            <a:r>
              <a:rPr lang="en-US" i="1" dirty="0"/>
              <a:t>B</a:t>
            </a:r>
            <a:r>
              <a:rPr lang="en-US" dirty="0"/>
              <a:t> = </a:t>
            </a:r>
            <a:r>
              <a:rPr lang="en-US" i="1" dirty="0"/>
              <a:t>A</a:t>
            </a:r>
            <a:r>
              <a:rPr lang="en-US" dirty="0"/>
              <a:t>   </a:t>
            </a:r>
            <a:r>
              <a:rPr lang="en-US" i="1" dirty="0"/>
              <a:t>B</a:t>
            </a:r>
          </a:p>
        </p:txBody>
      </p:sp>
      <p:graphicFrame>
        <p:nvGraphicFramePr>
          <p:cNvPr id="876555" name="Object 11"/>
          <p:cNvGraphicFramePr>
            <a:graphicFrameLocks noGrp="1" noChangeAspect="1"/>
          </p:cNvGraphicFramePr>
          <p:nvPr>
            <p:ph sz="quarter" idx="4294967295"/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4268081642"/>
              </p:ext>
            </p:extLst>
          </p:nvPr>
        </p:nvGraphicFramePr>
        <p:xfrm>
          <a:off x="4572000" y="1295400"/>
          <a:ext cx="2133600" cy="18179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15" imgW="838800" imgH="714240" progId="Visio.Drawing.6">
                  <p:embed/>
                </p:oleObj>
              </mc:Choice>
              <mc:Fallback>
                <p:oleObj name="VISIO" r:id="rId15" imgW="838800" imgH="71424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1295400"/>
                        <a:ext cx="2133600" cy="181791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76548" name="Line 4"/>
          <p:cNvSpPr>
            <a:spLocks noChangeShapeType="1"/>
          </p:cNvSpPr>
          <p:nvPr>
            <p:custDataLst>
              <p:tags r:id="rId4"/>
            </p:custDataLst>
          </p:nvPr>
        </p:nvSpPr>
        <p:spPr bwMode="auto">
          <a:xfrm>
            <a:off x="2819400" y="1342055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76549" name="Line 5"/>
          <p:cNvSpPr>
            <a:spLocks noChangeShapeType="1"/>
          </p:cNvSpPr>
          <p:nvPr>
            <p:custDataLst>
              <p:tags r:id="rId5"/>
            </p:custDataLst>
          </p:nvPr>
        </p:nvSpPr>
        <p:spPr bwMode="auto">
          <a:xfrm>
            <a:off x="3429000" y="1342055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76550" name="Line 6"/>
          <p:cNvSpPr>
            <a:spLocks noChangeShapeType="1"/>
          </p:cNvSpPr>
          <p:nvPr>
            <p:custDataLst>
              <p:tags r:id="rId6"/>
            </p:custDataLst>
          </p:nvPr>
        </p:nvSpPr>
        <p:spPr bwMode="auto">
          <a:xfrm>
            <a:off x="1981200" y="1342055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76551" name="Oval 7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3505200" y="4419600"/>
            <a:ext cx="76200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76552" name="Line 8"/>
          <p:cNvSpPr>
            <a:spLocks noChangeShapeType="1"/>
          </p:cNvSpPr>
          <p:nvPr>
            <p:custDataLst>
              <p:tags r:id="rId8"/>
            </p:custDataLst>
          </p:nvPr>
        </p:nvSpPr>
        <p:spPr bwMode="auto">
          <a:xfrm>
            <a:off x="3189517" y="4265648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76553" name="Line 9"/>
          <p:cNvSpPr>
            <a:spLocks noChangeShapeType="1"/>
          </p:cNvSpPr>
          <p:nvPr>
            <p:custDataLst>
              <p:tags r:id="rId9"/>
            </p:custDataLst>
          </p:nvPr>
        </p:nvSpPr>
        <p:spPr bwMode="auto">
          <a:xfrm>
            <a:off x="3722917" y="4265648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76554" name="Line 10"/>
          <p:cNvSpPr>
            <a:spLocks noChangeShapeType="1"/>
          </p:cNvSpPr>
          <p:nvPr>
            <p:custDataLst>
              <p:tags r:id="rId10"/>
            </p:custDataLst>
          </p:nvPr>
        </p:nvSpPr>
        <p:spPr bwMode="auto">
          <a:xfrm>
            <a:off x="1970317" y="4265648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De Morgan’s Theorem: Gates</a:t>
            </a:r>
          </a:p>
        </p:txBody>
      </p:sp>
      <p:sp>
        <p:nvSpPr>
          <p:cNvPr id="2" name="Rectangle 1"/>
          <p:cNvSpPr/>
          <p:nvPr/>
        </p:nvSpPr>
        <p:spPr>
          <a:xfrm>
            <a:off x="6858000" y="1676400"/>
            <a:ext cx="1906869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</a:rPr>
              <a:t>NAND gate </a:t>
            </a:r>
          </a:p>
          <a:p>
            <a:r>
              <a:rPr lang="en-US" sz="2800" dirty="0"/>
              <a:t>two forms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0" y="4419600"/>
            <a:ext cx="1680845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</a:rPr>
              <a:t>NOR gate </a:t>
            </a:r>
          </a:p>
          <a:p>
            <a:r>
              <a:rPr lang="en-US" sz="2800" dirty="0"/>
              <a:t>two forms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CC156D-06AF-CD42-A53A-E78C8652D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93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1868773"/>
      </p:ext>
    </p:extLst>
  </p:cSld>
  <p:clrMapOvr>
    <a:masterClrMapping/>
  </p:clrMapOvr>
  <p:transition/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77575" name="Object 7"/>
          <p:cNvGraphicFramePr>
            <a:graphicFrameLocks noGrp="1" noChangeAspect="1"/>
          </p:cNvGraphicFramePr>
          <p:nvPr>
            <p:ph idx="1"/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31941494"/>
              </p:ext>
            </p:extLst>
          </p:nvPr>
        </p:nvGraphicFramePr>
        <p:xfrm>
          <a:off x="2438400" y="4876800"/>
          <a:ext cx="4841631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6" imgW="1685880" imgH="371520" progId="Visio.Drawing.6">
                  <p:embed/>
                </p:oleObj>
              </mc:Choice>
              <mc:Fallback>
                <p:oleObj name="VISIO" r:id="rId6" imgW="1685880" imgH="37152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4876800"/>
                        <a:ext cx="4841631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77578" name="Rectangle 10"/>
          <p:cNvSpPr>
            <a:spLocks noGrp="1" noChangeArrowheads="1"/>
          </p:cNvSpPr>
          <p:nvPr>
            <p:ph type="body" sz="half" idx="4294967295"/>
            <p:custDataLst>
              <p:tags r:id="rId2"/>
            </p:custDataLst>
          </p:nvPr>
        </p:nvSpPr>
        <p:spPr>
          <a:xfrm>
            <a:off x="533400" y="990600"/>
            <a:ext cx="7772400" cy="4953000"/>
          </a:xfrm>
          <a:noFill/>
          <a:ln/>
        </p:spPr>
        <p:txBody>
          <a:bodyPr/>
          <a:lstStyle/>
          <a:p>
            <a:r>
              <a:rPr lang="en-US" b="1" dirty="0"/>
              <a:t>Backward:</a:t>
            </a:r>
          </a:p>
          <a:p>
            <a:pPr lvl="1"/>
            <a:r>
              <a:rPr lang="en-US" sz="2000" dirty="0"/>
              <a:t>Body changes</a:t>
            </a:r>
          </a:p>
          <a:p>
            <a:pPr lvl="1"/>
            <a:r>
              <a:rPr lang="en-US" sz="2000" dirty="0"/>
              <a:t>Adds bubbles to inputs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1400" dirty="0"/>
          </a:p>
          <a:p>
            <a:r>
              <a:rPr lang="en-US" b="1" dirty="0"/>
              <a:t>Forward:</a:t>
            </a:r>
          </a:p>
          <a:p>
            <a:pPr lvl="1"/>
            <a:r>
              <a:rPr lang="en-US" sz="2000" dirty="0"/>
              <a:t>Body changes</a:t>
            </a:r>
          </a:p>
          <a:p>
            <a:pPr lvl="1"/>
            <a:r>
              <a:rPr lang="en-US" sz="2000" dirty="0"/>
              <a:t>Adds bubble to output</a:t>
            </a:r>
          </a:p>
        </p:txBody>
      </p:sp>
      <p:graphicFrame>
        <p:nvGraphicFramePr>
          <p:cNvPr id="877573" name="Object 5"/>
          <p:cNvGraphicFramePr>
            <a:graphicFrameLocks noGrp="1" noChangeAspect="1"/>
          </p:cNvGraphicFramePr>
          <p:nvPr>
            <p:ph sz="quarter" idx="4294967295"/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1204842638"/>
              </p:ext>
            </p:extLst>
          </p:nvPr>
        </p:nvGraphicFramePr>
        <p:xfrm>
          <a:off x="2362200" y="2209800"/>
          <a:ext cx="4953000" cy="1092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8" imgW="1685880" imgH="371520" progId="Visio.Drawing.6">
                  <p:embed/>
                </p:oleObj>
              </mc:Choice>
              <mc:Fallback>
                <p:oleObj name="VISIO" r:id="rId8" imgW="1685880" imgH="37152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2209800"/>
                        <a:ext cx="4953000" cy="1092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Bubble Pushing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581400"/>
            <a:ext cx="7162800" cy="2286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5DAF415-2AE8-B049-A388-25DCB66D8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94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14366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78596" name="Object 4"/>
          <p:cNvGraphicFramePr>
            <a:graphicFrameLocks noGrp="1" noChangeAspect="1"/>
          </p:cNvGraphicFramePr>
          <p:nvPr>
            <p:ph idx="1"/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90338035"/>
              </p:ext>
            </p:extLst>
          </p:nvPr>
        </p:nvGraphicFramePr>
        <p:xfrm>
          <a:off x="2514600" y="1951038"/>
          <a:ext cx="4260207" cy="2163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7" imgW="1407240" imgH="714240" progId="Visio.Drawing.6">
                  <p:embed/>
                </p:oleObj>
              </mc:Choice>
              <mc:Fallback>
                <p:oleObj name="VISIO" r:id="rId7" imgW="1407240" imgH="71424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1951038"/>
                        <a:ext cx="4260207" cy="2163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Bubble Pushing</a:t>
            </a:r>
          </a:p>
        </p:txBody>
      </p:sp>
      <p:sp>
        <p:nvSpPr>
          <p:cNvPr id="5" name="Rectangle 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33400" y="990600"/>
            <a:ext cx="77724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+mj-lt"/>
                <a:cs typeface="Arial" charset="0"/>
              </a:rPr>
              <a:t>What is the Boolean expression for this circuit?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 dirty="0">
              <a:latin typeface="+mj-lt"/>
              <a:cs typeface="Arial" charset="0"/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 dirty="0">
              <a:latin typeface="+mj-lt"/>
              <a:cs typeface="Arial" charset="0"/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 dirty="0">
              <a:latin typeface="+mj-lt"/>
              <a:cs typeface="Arial" charset="0"/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 dirty="0">
              <a:latin typeface="+mj-lt"/>
              <a:cs typeface="Arial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066800" y="1981200"/>
            <a:ext cx="7162800" cy="2286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6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200400" y="4953000"/>
            <a:ext cx="30480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sz="3200" b="1" i="1" dirty="0">
                <a:latin typeface="Times New Roman" pitchFamily="18" charset="0"/>
                <a:cs typeface="Arial" charset="0"/>
              </a:rPr>
              <a:t>Y</a:t>
            </a:r>
            <a:r>
              <a:rPr lang="en-US" sz="3200" b="1" dirty="0">
                <a:latin typeface="Times New Roman" pitchFamily="18" charset="0"/>
                <a:cs typeface="Arial" charset="0"/>
              </a:rPr>
              <a:t> = </a:t>
            </a:r>
            <a:r>
              <a:rPr lang="en-US" sz="3200" b="1" i="1" dirty="0">
                <a:latin typeface="Times New Roman" pitchFamily="18" charset="0"/>
                <a:cs typeface="Arial" charset="0"/>
              </a:rPr>
              <a:t>AB</a:t>
            </a:r>
            <a:r>
              <a:rPr lang="en-US" sz="3200" b="1" dirty="0">
                <a:latin typeface="Times New Roman" pitchFamily="18" charset="0"/>
                <a:cs typeface="Arial" charset="0"/>
              </a:rPr>
              <a:t> + </a:t>
            </a:r>
            <a:r>
              <a:rPr lang="en-US" sz="3200" b="1" i="1" dirty="0">
                <a:latin typeface="Times New Roman" pitchFamily="18" charset="0"/>
                <a:cs typeface="Arial" charset="0"/>
              </a:rPr>
              <a:t>CD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 b="1" dirty="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 b="1" dirty="0">
              <a:latin typeface="Times New Roman" pitchFamily="18" charset="0"/>
              <a:cs typeface="Arial" charset="0"/>
            </a:endParaRPr>
          </a:p>
        </p:txBody>
      </p:sp>
      <p:graphicFrame>
        <p:nvGraphicFramePr>
          <p:cNvPr id="2" name="Object 1"/>
          <p:cNvGraphicFramePr>
            <a:graphicFrameLocks noGrp="1" noChangeAspect="1"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195911650"/>
              </p:ext>
            </p:extLst>
          </p:nvPr>
        </p:nvGraphicFramePr>
        <p:xfrm>
          <a:off x="2532350" y="1955400"/>
          <a:ext cx="4260850" cy="2162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9" imgW="1407471" imgH="714479" progId="Visio.Drawing.11">
                  <p:embed/>
                </p:oleObj>
              </mc:Choice>
              <mc:Fallback>
                <p:oleObj name="Visio" r:id="rId9" imgW="1407471" imgH="714479" progId="Visio.Drawing.11">
                  <p:embed/>
                  <p:pic>
                    <p:nvPicPr>
                      <p:cNvPr id="0" name="Object 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2350" y="1955400"/>
                        <a:ext cx="4260850" cy="2162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9"/>
          <p:cNvSpPr/>
          <p:nvPr/>
        </p:nvSpPr>
        <p:spPr>
          <a:xfrm>
            <a:off x="1219200" y="4876800"/>
            <a:ext cx="7162800" cy="990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C9B5136-F547-9943-B257-7F063A353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95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21594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27752" name="Object 8"/>
          <p:cNvGraphicFramePr>
            <a:graphicFrameLocks noGrp="1" noChangeAspect="1"/>
          </p:cNvGraphicFramePr>
          <p:nvPr>
            <p:ph idx="1"/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01499265"/>
              </p:ext>
            </p:extLst>
          </p:nvPr>
        </p:nvGraphicFramePr>
        <p:xfrm>
          <a:off x="1955198" y="3294063"/>
          <a:ext cx="5664802" cy="2116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2064600" imgH="771480" progId="Visio.Drawing.6">
                  <p:embed/>
                </p:oleObj>
              </mc:Choice>
              <mc:Fallback>
                <p:oleObj name="VISIO" r:id="rId5" imgW="2064600" imgH="77148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5198" y="3294063"/>
                        <a:ext cx="5664802" cy="2116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7746" name="Rectangle 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914400" y="1143000"/>
            <a:ext cx="80010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+mj-lt"/>
                <a:cs typeface="Arial" charset="0"/>
              </a:rPr>
              <a:t>Begin at output, then work toward inputs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+mj-lt"/>
                <a:cs typeface="Arial" charset="0"/>
              </a:rPr>
              <a:t>Push bubbles on final output back 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+mj-lt"/>
                <a:cs typeface="Arial" charset="0"/>
              </a:rPr>
              <a:t>Draw gates in a form so bubbles cancel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Bubble Pushing Rules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937DB9A-C35D-2442-A136-D1E6FAAB3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96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3354576"/>
      </p:ext>
    </p:extLst>
  </p:cSld>
  <p:clrMapOvr>
    <a:masterClrMapping/>
  </p:clrMapOvr>
  <p:transition/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50627" name="Object 3"/>
          <p:cNvGraphicFramePr>
            <a:graphicFrameLocks noGrp="1" noChangeAspect="1"/>
          </p:cNvGraphicFramePr>
          <p:nvPr>
            <p:ph idx="1"/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17743710"/>
              </p:ext>
            </p:extLst>
          </p:nvPr>
        </p:nvGraphicFramePr>
        <p:xfrm>
          <a:off x="2590800" y="1113270"/>
          <a:ext cx="4112358" cy="49827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2235960" imgH="2709000" progId="Visio.Drawing.6">
                  <p:embed/>
                </p:oleObj>
              </mc:Choice>
              <mc:Fallback>
                <p:oleObj name="VISIO" r:id="rId5" imgW="2235960" imgH="270900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1113270"/>
                        <a:ext cx="4112358" cy="49827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Bubble Pushing Example</a:t>
            </a:r>
          </a:p>
        </p:txBody>
      </p:sp>
      <p:sp>
        <p:nvSpPr>
          <p:cNvPr id="5" name="Rectangle 4"/>
          <p:cNvSpPr/>
          <p:nvPr/>
        </p:nvSpPr>
        <p:spPr>
          <a:xfrm>
            <a:off x="2209800" y="2514600"/>
            <a:ext cx="5562599" cy="1600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362200" y="4114800"/>
            <a:ext cx="5562599" cy="1600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514600" y="5715000"/>
            <a:ext cx="5562599" cy="457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059D004-07C9-9F49-92DB-A158B901D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97</a:t>
            </a:fld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DD4CD7C-4DE4-4A19-A9DB-DAFB5A941FAA}"/>
              </a:ext>
            </a:extLst>
          </p:cNvPr>
          <p:cNvSpPr/>
          <p:nvPr/>
        </p:nvSpPr>
        <p:spPr>
          <a:xfrm>
            <a:off x="2133600" y="1066800"/>
            <a:ext cx="5562599" cy="1600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0" name="Object 8">
            <a:extLst>
              <a:ext uri="{FF2B5EF4-FFF2-40B4-BE49-F238E27FC236}">
                <a16:creationId xmlns:a16="http://schemas.microsoft.com/office/drawing/2014/main" id="{00417A4A-03C7-40EF-8962-EDE7C9922323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53162078"/>
              </p:ext>
            </p:extLst>
          </p:nvPr>
        </p:nvGraphicFramePr>
        <p:xfrm>
          <a:off x="2895600" y="1210400"/>
          <a:ext cx="3827024" cy="14296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7" imgW="2064600" imgH="771480" progId="Visio.Drawing.6">
                  <p:embed/>
                </p:oleObj>
              </mc:Choice>
              <mc:Fallback>
                <p:oleObj name="VISIO" r:id="rId7" imgW="2064600" imgH="771480" progId="Visio.Drawing.6">
                  <p:embed/>
                  <p:pic>
                    <p:nvPicPr>
                      <p:cNvPr id="927752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1210400"/>
                        <a:ext cx="3827024" cy="142961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2749142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11" grpId="0" animBg="1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0" y="76200"/>
            <a:ext cx="9144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  <a:latin typeface="+mj-lt"/>
              </a:rPr>
              <a:t>Chapter 2: Combinational Logic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DAA03A6C-70A8-504F-B2A9-E24C66359451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0" y="2438400"/>
            <a:ext cx="9144000" cy="1600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en-US" sz="7200" b="1" dirty="0"/>
              <a:t>X’s and Z’s, Oh My</a:t>
            </a:r>
            <a:endParaRPr lang="en-US" sz="7200" dirty="0"/>
          </a:p>
          <a:p>
            <a:pPr lvl="1" algn="ctr"/>
            <a:endParaRPr lang="en-US" sz="7200" dirty="0"/>
          </a:p>
          <a:p>
            <a:pPr algn="ctr">
              <a:buFontTx/>
              <a:buNone/>
            </a:pP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81703678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29797" name="Object 5"/>
          <p:cNvGraphicFramePr>
            <a:graphicFrameLocks noGrp="1" noChangeAspect="1"/>
          </p:cNvGraphicFramePr>
          <p:nvPr>
            <p:ph idx="1"/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52330259"/>
              </p:ext>
            </p:extLst>
          </p:nvPr>
        </p:nvGraphicFramePr>
        <p:xfrm>
          <a:off x="2932409" y="2590800"/>
          <a:ext cx="2782591" cy="160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1057320" imgH="607320" progId="Visio.Drawing.6">
                  <p:embed/>
                </p:oleObj>
              </mc:Choice>
              <mc:Fallback>
                <p:oleObj name="VISIO" r:id="rId5" imgW="1057320" imgH="60732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32409" y="2590800"/>
                        <a:ext cx="2782591" cy="160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9795" name="Rectangle 3"/>
          <p:cNvSpPr>
            <a:spLocks noGrp="1" noChangeArrowheads="1"/>
          </p:cNvSpPr>
          <p:nvPr>
            <p:ph type="body" sz="half" idx="4294967295"/>
            <p:custDataLst>
              <p:tags r:id="rId2"/>
            </p:custDataLst>
          </p:nvPr>
        </p:nvSpPr>
        <p:spPr>
          <a:xfrm>
            <a:off x="533400" y="1066800"/>
            <a:ext cx="7391400" cy="525780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</a:pPr>
            <a:r>
              <a:rPr lang="en-US" sz="2400" b="1" dirty="0"/>
              <a:t>Contention:</a:t>
            </a:r>
            <a:r>
              <a:rPr lang="en-US" sz="2400" dirty="0"/>
              <a:t> circuit tries to drive output to 1 </a:t>
            </a:r>
            <a:r>
              <a:rPr lang="en-US" sz="2400" b="1" dirty="0"/>
              <a:t>and</a:t>
            </a:r>
            <a:r>
              <a:rPr lang="en-US" sz="2400" dirty="0"/>
              <a:t> 0</a:t>
            </a:r>
          </a:p>
          <a:p>
            <a:pPr lvl="1">
              <a:lnSpc>
                <a:spcPct val="90000"/>
              </a:lnSpc>
            </a:pPr>
            <a:r>
              <a:rPr lang="en-US" sz="2000" dirty="0"/>
              <a:t>Actual value somewhere in between</a:t>
            </a:r>
          </a:p>
          <a:p>
            <a:pPr lvl="1">
              <a:lnSpc>
                <a:spcPct val="90000"/>
              </a:lnSpc>
            </a:pPr>
            <a:r>
              <a:rPr lang="en-US" sz="2000" dirty="0"/>
              <a:t>Could be 0, 1, or in forbidden zone</a:t>
            </a:r>
          </a:p>
          <a:p>
            <a:pPr lvl="1">
              <a:lnSpc>
                <a:spcPct val="90000"/>
              </a:lnSpc>
            </a:pPr>
            <a:r>
              <a:rPr lang="en-US" sz="2000" dirty="0"/>
              <a:t>Might change with voltage, temperature, time, noise</a:t>
            </a:r>
          </a:p>
          <a:p>
            <a:pPr lvl="1">
              <a:lnSpc>
                <a:spcPct val="90000"/>
              </a:lnSpc>
            </a:pPr>
            <a:r>
              <a:rPr lang="en-US" sz="2000" dirty="0"/>
              <a:t>Often causes excessive power dissipation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sz="2400" dirty="0"/>
          </a:p>
          <a:p>
            <a:pPr>
              <a:lnSpc>
                <a:spcPct val="90000"/>
              </a:lnSpc>
              <a:buFontTx/>
              <a:buNone/>
            </a:pPr>
            <a:endParaRPr lang="en-US" sz="2400" dirty="0"/>
          </a:p>
          <a:p>
            <a:pPr>
              <a:lnSpc>
                <a:spcPct val="90000"/>
              </a:lnSpc>
              <a:buFontTx/>
              <a:buNone/>
            </a:pPr>
            <a:endParaRPr lang="en-US" sz="2400" dirty="0"/>
          </a:p>
          <a:p>
            <a:pPr>
              <a:lnSpc>
                <a:spcPct val="90000"/>
              </a:lnSpc>
              <a:buFontTx/>
              <a:buNone/>
            </a:pPr>
            <a:endParaRPr lang="en-US" sz="2400" dirty="0"/>
          </a:p>
          <a:p>
            <a:pPr>
              <a:lnSpc>
                <a:spcPct val="90000"/>
              </a:lnSpc>
              <a:buFontTx/>
              <a:buNone/>
            </a:pPr>
            <a:endParaRPr lang="en-US" sz="2400" dirty="0"/>
          </a:p>
          <a:p>
            <a:pPr>
              <a:lnSpc>
                <a:spcPct val="90000"/>
              </a:lnSpc>
            </a:pPr>
            <a:r>
              <a:rPr lang="en-US" sz="2400" b="1" dirty="0"/>
              <a:t>X is also used for:</a:t>
            </a:r>
          </a:p>
          <a:p>
            <a:pPr lvl="1">
              <a:lnSpc>
                <a:spcPct val="90000"/>
              </a:lnSpc>
            </a:pPr>
            <a:r>
              <a:rPr lang="en-US" sz="2000" b="1" dirty="0"/>
              <a:t>Uninitialized values</a:t>
            </a:r>
          </a:p>
          <a:p>
            <a:pPr lvl="1">
              <a:lnSpc>
                <a:spcPct val="90000"/>
              </a:lnSpc>
            </a:pPr>
            <a:r>
              <a:rPr lang="en-US" sz="2000" b="1" dirty="0"/>
              <a:t>Don’t Care</a:t>
            </a:r>
          </a:p>
          <a:p>
            <a:pPr>
              <a:lnSpc>
                <a:spcPct val="90000"/>
              </a:lnSpc>
            </a:pPr>
            <a:r>
              <a:rPr lang="en-US" sz="2400" b="1" dirty="0">
                <a:solidFill>
                  <a:srgbClr val="FF0000"/>
                </a:solidFill>
              </a:rPr>
              <a:t>Warnings: </a:t>
            </a:r>
          </a:p>
          <a:p>
            <a:pPr lvl="1">
              <a:lnSpc>
                <a:spcPct val="90000"/>
              </a:lnSpc>
            </a:pPr>
            <a:r>
              <a:rPr lang="en-US" sz="2000" dirty="0"/>
              <a:t>Contention or uninitialized outputs usually indicate a </a:t>
            </a:r>
            <a:r>
              <a:rPr lang="en-US" sz="2000" b="1" dirty="0"/>
              <a:t>bug</a:t>
            </a:r>
            <a:r>
              <a:rPr lang="en-US" sz="1600" dirty="0"/>
              <a:t>.</a:t>
            </a:r>
            <a:endParaRPr lang="en-US" sz="2000" b="1" dirty="0"/>
          </a:p>
          <a:p>
            <a:pPr lvl="1">
              <a:lnSpc>
                <a:spcPct val="90000"/>
              </a:lnSpc>
            </a:pPr>
            <a:r>
              <a:rPr lang="en-US" sz="2000" b="1" dirty="0"/>
              <a:t>L</a:t>
            </a:r>
            <a:r>
              <a:rPr lang="en-US" sz="2000" dirty="0"/>
              <a:t>ook at the context to tell meaning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Contention: X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4979A0A-5474-4C4E-9B73-E6D213FA0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99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4384711"/>
      </p:ext>
    </p:extLst>
  </p:cSld>
  <p:clrMapOvr>
    <a:masterClrMapping/>
  </p:clrMapOvr>
  <p:transition/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30820" name="Object 4"/>
          <p:cNvGraphicFramePr>
            <a:graphicFrameLocks noGrp="1" noChangeAspect="1"/>
          </p:cNvGraphicFramePr>
          <p:nvPr>
            <p:ph idx="1"/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41866285"/>
              </p:ext>
            </p:extLst>
          </p:nvPr>
        </p:nvGraphicFramePr>
        <p:xfrm>
          <a:off x="6803779" y="2667000"/>
          <a:ext cx="1546591" cy="243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828720" imgH="1305720" progId="Visio.Drawing.6">
                  <p:embed/>
                </p:oleObj>
              </mc:Choice>
              <mc:Fallback>
                <p:oleObj name="VISIO" r:id="rId5" imgW="828720" imgH="130572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03779" y="2667000"/>
                        <a:ext cx="1546591" cy="2438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30819" name="Rectangle 3"/>
          <p:cNvSpPr>
            <a:spLocks noGrp="1" noChangeArrowheads="1"/>
          </p:cNvSpPr>
          <p:nvPr>
            <p:ph type="body" sz="half" idx="4294967295"/>
            <p:custDataLst>
              <p:tags r:id="rId2"/>
            </p:custDataLst>
          </p:nvPr>
        </p:nvSpPr>
        <p:spPr>
          <a:xfrm>
            <a:off x="533400" y="914400"/>
            <a:ext cx="6242050" cy="4953000"/>
          </a:xfrm>
        </p:spPr>
        <p:txBody>
          <a:bodyPr/>
          <a:lstStyle/>
          <a:p>
            <a:r>
              <a:rPr lang="en-US" dirty="0"/>
              <a:t>Floating, high impedance, open, high Z</a:t>
            </a:r>
          </a:p>
          <a:p>
            <a:r>
              <a:rPr lang="en-US" dirty="0"/>
              <a:t>Floating output might be 0, 1, or somewhere in between</a:t>
            </a:r>
          </a:p>
          <a:p>
            <a:pPr lvl="1"/>
            <a:r>
              <a:rPr lang="en-US" sz="2400" dirty="0"/>
              <a:t>A voltmeter </a:t>
            </a:r>
            <a:r>
              <a:rPr lang="en-US" sz="2400" b="1" dirty="0">
                <a:solidFill>
                  <a:srgbClr val="FF0000"/>
                </a:solidFill>
              </a:rPr>
              <a:t>won’t</a:t>
            </a:r>
            <a:r>
              <a:rPr lang="en-US" sz="2400" dirty="0"/>
              <a:t> indicate whether a node is floating</a:t>
            </a:r>
          </a:p>
          <a:p>
            <a:pPr lvl="1"/>
            <a:r>
              <a:rPr lang="en-US" sz="2400" dirty="0"/>
              <a:t>But if you touch the node or your instructor walks over for a checkoff, it may change randomly</a:t>
            </a:r>
            <a:endParaRPr lang="en-US" sz="800" dirty="0"/>
          </a:p>
        </p:txBody>
      </p:sp>
      <p:sp>
        <p:nvSpPr>
          <p:cNvPr id="7" name="TextBox 6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Floating: Z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ADFA9BA-86BB-2440-939A-4D0D6BB63C81}"/>
              </a:ext>
            </a:extLst>
          </p:cNvPr>
          <p:cNvSpPr/>
          <p:nvPr/>
        </p:nvSpPr>
        <p:spPr>
          <a:xfrm>
            <a:off x="6629400" y="2297668"/>
            <a:ext cx="206915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chemeClr val="accent2"/>
                </a:solidFill>
              </a:rPr>
              <a:t> </a:t>
            </a:r>
            <a:r>
              <a:rPr lang="en-US" sz="2400" b="1" dirty="0">
                <a:solidFill>
                  <a:srgbClr val="0070C0"/>
                </a:solidFill>
              </a:rPr>
              <a:t>Tristate Buffer</a:t>
            </a:r>
            <a:endParaRPr lang="en-US" sz="2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DCF0D8-D5AA-4D4F-BD96-6028AB615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100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648239"/>
      </p:ext>
    </p:extLst>
  </p:cSld>
  <p:clrMapOvr>
    <a:masterClrMapping/>
  </p:clrMapOvr>
  <p:transition/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58820" name="Object 4"/>
          <p:cNvGraphicFramePr>
            <a:graphicFrameLocks noGrp="1" noChangeAspect="1"/>
          </p:cNvGraphicFramePr>
          <p:nvPr>
            <p:ph idx="1"/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44934125"/>
              </p:ext>
            </p:extLst>
          </p:nvPr>
        </p:nvGraphicFramePr>
        <p:xfrm>
          <a:off x="6324600" y="1524000"/>
          <a:ext cx="2209800" cy="432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1143000" imgH="2238120" progId="Visio.Drawing.6">
                  <p:embed/>
                </p:oleObj>
              </mc:Choice>
              <mc:Fallback>
                <p:oleObj name="VISIO" r:id="rId5" imgW="1143000" imgH="223812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4600" y="1524000"/>
                        <a:ext cx="2209800" cy="432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58819" name="Rectangle 3"/>
          <p:cNvSpPr>
            <a:spLocks noGrp="1" noChangeArrowheads="1"/>
          </p:cNvSpPr>
          <p:nvPr>
            <p:ph type="body" sz="half" idx="4294967295"/>
            <p:custDataLst>
              <p:tags r:id="rId2"/>
            </p:custDataLst>
          </p:nvPr>
        </p:nvSpPr>
        <p:spPr>
          <a:xfrm>
            <a:off x="533400" y="1066800"/>
            <a:ext cx="6477000" cy="49530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Floating nodes are used in </a:t>
            </a:r>
            <a:r>
              <a:rPr lang="en-US" dirty="0" err="1"/>
              <a:t>tristate</a:t>
            </a:r>
            <a:r>
              <a:rPr lang="en-US" dirty="0"/>
              <a:t> busses</a:t>
            </a:r>
          </a:p>
          <a:p>
            <a:pPr lvl="1"/>
            <a:r>
              <a:rPr lang="en-US" sz="2600" dirty="0"/>
              <a:t>Many different drivers</a:t>
            </a:r>
          </a:p>
          <a:p>
            <a:pPr lvl="1"/>
            <a:r>
              <a:rPr lang="en-US" sz="2600" dirty="0"/>
              <a:t>Exactly one is active at once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Tristate Busses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6009986-DF35-3144-A29B-8EA41ADA6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101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6767038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0" y="76200"/>
            <a:ext cx="9144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  <a:latin typeface="+mj-lt"/>
              </a:rPr>
              <a:t>Chapter 2: Combinational Logic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DAA03A6C-70A8-504F-B2A9-E24C66359451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0" y="2438400"/>
            <a:ext cx="9144000" cy="1600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en-US" sz="7200" b="1" dirty="0" err="1"/>
              <a:t>Karnaugh</a:t>
            </a:r>
            <a:r>
              <a:rPr lang="en-US" sz="7200" b="1" dirty="0"/>
              <a:t> Maps</a:t>
            </a:r>
            <a:endParaRPr lang="en-US" sz="7200" dirty="0"/>
          </a:p>
          <a:p>
            <a:pPr lvl="1" algn="ctr"/>
            <a:endParaRPr lang="en-US" sz="7200" dirty="0"/>
          </a:p>
          <a:p>
            <a:pPr algn="ctr">
              <a:buFontTx/>
              <a:buNone/>
            </a:pP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20333556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18535" name="Object 7"/>
          <p:cNvGraphicFramePr>
            <a:graphicFrameLocks noGrp="1" noChangeAspect="1"/>
          </p:cNvGraphicFramePr>
          <p:nvPr>
            <p:ph idx="1"/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71245955"/>
              </p:ext>
            </p:extLst>
          </p:nvPr>
        </p:nvGraphicFramePr>
        <p:xfrm>
          <a:off x="363538" y="3505200"/>
          <a:ext cx="8475662" cy="220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6" imgW="4889241" imgH="1274757" progId="Visio.Drawing.11">
                  <p:embed/>
                </p:oleObj>
              </mc:Choice>
              <mc:Fallback>
                <p:oleObj name="Visio" r:id="rId6" imgW="4889241" imgH="1274757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538" y="3505200"/>
                        <a:ext cx="8475662" cy="2209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18531" name="Rectangle 3"/>
          <p:cNvSpPr>
            <a:spLocks noGrp="1" noChangeArrowheads="1"/>
          </p:cNvSpPr>
          <p:nvPr>
            <p:ph type="body" sz="half" idx="4294967295"/>
            <p:custDataLst>
              <p:tags r:id="rId2"/>
            </p:custDataLst>
          </p:nvPr>
        </p:nvSpPr>
        <p:spPr>
          <a:xfrm>
            <a:off x="457200" y="1143000"/>
            <a:ext cx="8153400" cy="1752600"/>
          </a:xfrm>
        </p:spPr>
        <p:txBody>
          <a:bodyPr>
            <a:noAutofit/>
          </a:bodyPr>
          <a:lstStyle/>
          <a:p>
            <a:r>
              <a:rPr lang="en-US" dirty="0"/>
              <a:t>Boolean expressions can be minimized by combining terms</a:t>
            </a:r>
          </a:p>
          <a:p>
            <a:r>
              <a:rPr lang="en-US" dirty="0"/>
              <a:t>K-maps minimize equations graphically</a:t>
            </a:r>
          </a:p>
          <a:p>
            <a:pPr lvl="1"/>
            <a:r>
              <a:rPr lang="en-US" i="1" dirty="0"/>
              <a:t>PA</a:t>
            </a:r>
            <a:r>
              <a:rPr lang="en-US" dirty="0"/>
              <a:t> + </a:t>
            </a:r>
            <a:r>
              <a:rPr lang="en-US" i="1" dirty="0"/>
              <a:t>PA</a:t>
            </a:r>
            <a:r>
              <a:rPr lang="en-US" dirty="0"/>
              <a:t> = </a:t>
            </a:r>
            <a:r>
              <a:rPr lang="en-US" i="1" dirty="0"/>
              <a:t>P</a:t>
            </a:r>
            <a:endParaRPr lang="en-US" dirty="0"/>
          </a:p>
        </p:txBody>
      </p:sp>
      <p:sp>
        <p:nvSpPr>
          <p:cNvPr id="918534" name="Line 6"/>
          <p:cNvSpPr>
            <a:spLocks noChangeShapeType="1"/>
          </p:cNvSpPr>
          <p:nvPr>
            <p:custDataLst>
              <p:tags r:id="rId3"/>
            </p:custDataLst>
          </p:nvPr>
        </p:nvSpPr>
        <p:spPr bwMode="auto">
          <a:xfrm>
            <a:off x="2133600" y="28956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 err="1">
                <a:solidFill>
                  <a:schemeClr val="bg1"/>
                </a:solidFill>
                <a:latin typeface="+mj-lt"/>
              </a:rPr>
              <a:t>Karnaugh</a:t>
            </a:r>
            <a:r>
              <a:rPr lang="en-US" sz="4400" dirty="0">
                <a:solidFill>
                  <a:schemeClr val="bg1"/>
                </a:solidFill>
                <a:latin typeface="+mj-lt"/>
              </a:rPr>
              <a:t> Maps (K-Maps)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143500" y="4826000"/>
            <a:ext cx="419100" cy="34810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3365500" y="4826000"/>
            <a:ext cx="419100" cy="34810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/>
          <p:cNvSpPr/>
          <p:nvPr/>
        </p:nvSpPr>
        <p:spPr>
          <a:xfrm>
            <a:off x="3314700" y="4267200"/>
            <a:ext cx="419100" cy="34810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/>
          <p:cNvSpPr/>
          <p:nvPr/>
        </p:nvSpPr>
        <p:spPr>
          <a:xfrm>
            <a:off x="4000500" y="4826000"/>
            <a:ext cx="419100" cy="34810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/>
          <p:cNvSpPr/>
          <p:nvPr/>
        </p:nvSpPr>
        <p:spPr>
          <a:xfrm>
            <a:off x="3949700" y="4267200"/>
            <a:ext cx="419100" cy="34810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/>
          <p:cNvSpPr/>
          <p:nvPr/>
        </p:nvSpPr>
        <p:spPr>
          <a:xfrm>
            <a:off x="4533900" y="4826000"/>
            <a:ext cx="419100" cy="34810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4483100" y="4267200"/>
            <a:ext cx="419100" cy="34810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/>
          <p:cNvSpPr/>
          <p:nvPr/>
        </p:nvSpPr>
        <p:spPr>
          <a:xfrm>
            <a:off x="5092700" y="4267200"/>
            <a:ext cx="419100" cy="34810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EDC62D6-C902-A448-989C-0B5467E5F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103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826427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32" grpId="0" animBg="1"/>
      <p:bldP spid="37" grpId="0" animBg="1"/>
      <p:bldP spid="44" grpId="0" animBg="1"/>
      <p:bldP spid="45" grpId="0" animBg="1"/>
      <p:bldP spid="46" grpId="0" animBg="1"/>
      <p:bldP spid="47" grpId="0" animBg="1"/>
      <p:bldP spid="48" grpId="0" animBg="1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Line 9"/>
          <p:cNvSpPr>
            <a:spLocks noChangeShapeType="1"/>
          </p:cNvSpPr>
          <p:nvPr>
            <p:custDataLst>
              <p:tags r:id="rId1"/>
            </p:custDataLst>
          </p:nvPr>
        </p:nvSpPr>
        <p:spPr bwMode="auto">
          <a:xfrm>
            <a:off x="6491281" y="5594029"/>
            <a:ext cx="152400" cy="0"/>
          </a:xfrm>
          <a:prstGeom prst="line">
            <a:avLst/>
          </a:prstGeom>
          <a:noFill/>
          <a:ln w="19050">
            <a:solidFill>
              <a:schemeClr val="accent4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" name="Line 10"/>
          <p:cNvSpPr>
            <a:spLocks noChangeShapeType="1"/>
          </p:cNvSpPr>
          <p:nvPr>
            <p:custDataLst>
              <p:tags r:id="rId2"/>
            </p:custDataLst>
          </p:nvPr>
        </p:nvSpPr>
        <p:spPr bwMode="auto">
          <a:xfrm>
            <a:off x="6305548" y="5594029"/>
            <a:ext cx="152400" cy="0"/>
          </a:xfrm>
          <a:prstGeom prst="line">
            <a:avLst/>
          </a:prstGeom>
          <a:noFill/>
          <a:ln w="19050">
            <a:solidFill>
              <a:schemeClr val="accent4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" name="Line 9"/>
          <p:cNvSpPr>
            <a:spLocks noChangeShapeType="1"/>
          </p:cNvSpPr>
          <p:nvPr>
            <p:custDataLst>
              <p:tags r:id="rId3"/>
            </p:custDataLst>
          </p:nvPr>
        </p:nvSpPr>
        <p:spPr bwMode="auto">
          <a:xfrm>
            <a:off x="7200896" y="5594029"/>
            <a:ext cx="152400" cy="0"/>
          </a:xfrm>
          <a:prstGeom prst="line">
            <a:avLst/>
          </a:prstGeom>
          <a:noFill/>
          <a:ln w="19050">
            <a:solidFill>
              <a:srgbClr val="00B05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2" name="Line 10"/>
          <p:cNvSpPr>
            <a:spLocks noChangeShapeType="1"/>
          </p:cNvSpPr>
          <p:nvPr>
            <p:custDataLst>
              <p:tags r:id="rId4"/>
            </p:custDataLst>
          </p:nvPr>
        </p:nvSpPr>
        <p:spPr bwMode="auto">
          <a:xfrm>
            <a:off x="7010400" y="5594029"/>
            <a:ext cx="152400" cy="0"/>
          </a:xfrm>
          <a:prstGeom prst="line">
            <a:avLst/>
          </a:prstGeom>
          <a:noFill/>
          <a:ln w="19050">
            <a:solidFill>
              <a:srgbClr val="00B05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" name="Line 9"/>
          <p:cNvSpPr>
            <a:spLocks noChangeShapeType="1"/>
          </p:cNvSpPr>
          <p:nvPr>
            <p:custDataLst>
              <p:tags r:id="rId5"/>
            </p:custDataLst>
          </p:nvPr>
        </p:nvSpPr>
        <p:spPr bwMode="auto">
          <a:xfrm>
            <a:off x="6681777" y="5594029"/>
            <a:ext cx="152400" cy="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" name="Line 9"/>
          <p:cNvSpPr>
            <a:spLocks noChangeShapeType="1"/>
          </p:cNvSpPr>
          <p:nvPr>
            <p:custDataLst>
              <p:tags r:id="rId6"/>
            </p:custDataLst>
          </p:nvPr>
        </p:nvSpPr>
        <p:spPr bwMode="auto">
          <a:xfrm>
            <a:off x="7991474" y="5594029"/>
            <a:ext cx="1524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5" name="Line 10"/>
          <p:cNvSpPr>
            <a:spLocks noChangeShapeType="1"/>
          </p:cNvSpPr>
          <p:nvPr>
            <p:custDataLst>
              <p:tags r:id="rId7"/>
            </p:custDataLst>
          </p:nvPr>
        </p:nvSpPr>
        <p:spPr bwMode="auto">
          <a:xfrm>
            <a:off x="7805741" y="5594029"/>
            <a:ext cx="1524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918535" name="Object 7"/>
          <p:cNvGraphicFramePr>
            <a:graphicFrameLocks noGrp="1" noChangeAspect="1"/>
          </p:cNvGraphicFramePr>
          <p:nvPr>
            <p:ph idx="1"/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2817336190"/>
              </p:ext>
            </p:extLst>
          </p:nvPr>
        </p:nvGraphicFramePr>
        <p:xfrm>
          <a:off x="363257" y="3505200"/>
          <a:ext cx="8475943" cy="220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14" imgW="4889241" imgH="1274757" progId="Visio.Drawing.11">
                  <p:embed/>
                </p:oleObj>
              </mc:Choice>
              <mc:Fallback>
                <p:oleObj name="Visio" r:id="rId14" imgW="4889241" imgH="1274757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257" y="3505200"/>
                        <a:ext cx="8475943" cy="2209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K-Map</a:t>
            </a:r>
          </a:p>
        </p:txBody>
      </p:sp>
      <p:sp>
        <p:nvSpPr>
          <p:cNvPr id="32" name="Rectangle 7"/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381000" y="990600"/>
            <a:ext cx="8153400" cy="213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+mj-lt"/>
                <a:cs typeface="Arial" charset="0"/>
              </a:rPr>
              <a:t>Circle 1’s in adjacent squares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+mj-lt"/>
                <a:cs typeface="Arial" charset="0"/>
              </a:rPr>
              <a:t>In Boolean expression: include only literals whose true </a:t>
            </a:r>
            <a:r>
              <a:rPr lang="en-US" sz="3200" b="1" dirty="0">
                <a:latin typeface="+mj-lt"/>
                <a:cs typeface="Arial" charset="0"/>
              </a:rPr>
              <a:t>and</a:t>
            </a:r>
            <a:r>
              <a:rPr lang="en-US" sz="3200" dirty="0">
                <a:latin typeface="+mj-lt"/>
                <a:cs typeface="Arial" charset="0"/>
              </a:rPr>
              <a:t> complement form are </a:t>
            </a:r>
            <a:r>
              <a:rPr lang="en-US" sz="3200" b="1" i="1" dirty="0">
                <a:latin typeface="+mj-lt"/>
                <a:cs typeface="Arial" charset="0"/>
              </a:rPr>
              <a:t>not</a:t>
            </a:r>
            <a:r>
              <a:rPr lang="en-US" sz="3200" dirty="0">
                <a:latin typeface="+mj-lt"/>
                <a:cs typeface="Arial" charset="0"/>
              </a:rPr>
              <a:t> in the circle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2400" dirty="0">
              <a:latin typeface="+mj-lt"/>
              <a:cs typeface="Arial" charset="0"/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2400" dirty="0">
              <a:latin typeface="+mj-lt"/>
              <a:cs typeface="Arial" charset="0"/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2400" dirty="0">
              <a:latin typeface="+mj-lt"/>
              <a:cs typeface="Arial" charset="0"/>
            </a:endParaRPr>
          </a:p>
          <a:p>
            <a:pPr>
              <a:spcBef>
                <a:spcPct val="20000"/>
              </a:spcBef>
            </a:pPr>
            <a:endParaRPr lang="en-US" sz="2400" dirty="0">
              <a:latin typeface="+mj-lt"/>
              <a:cs typeface="Arial" charset="0"/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2400" dirty="0">
              <a:latin typeface="+mj-lt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1000" b="1" i="1" dirty="0">
              <a:latin typeface="+mj-lt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r>
              <a:rPr lang="en-US" sz="2400" b="1" i="1" dirty="0">
                <a:solidFill>
                  <a:srgbClr val="FF0000"/>
                </a:solidFill>
                <a:latin typeface="+mj-lt"/>
                <a:cs typeface="Arial" charset="0"/>
              </a:rPr>
              <a:t>                                    Y</a:t>
            </a:r>
            <a:r>
              <a:rPr lang="en-US" sz="2400" b="1" dirty="0">
                <a:solidFill>
                  <a:srgbClr val="FF0000"/>
                </a:solidFill>
                <a:latin typeface="+mj-lt"/>
                <a:cs typeface="Arial" charset="0"/>
              </a:rPr>
              <a:t> = </a:t>
            </a:r>
            <a:r>
              <a:rPr lang="en-US" sz="2400" b="1" i="1" dirty="0">
                <a:solidFill>
                  <a:srgbClr val="FF0000"/>
                </a:solidFill>
                <a:latin typeface="+mj-lt"/>
                <a:cs typeface="Arial" charset="0"/>
              </a:rPr>
              <a:t>AB                               </a:t>
            </a:r>
            <a:r>
              <a:rPr lang="en-US" sz="2400" b="1" i="1" dirty="0">
                <a:cs typeface="Arial" charset="0"/>
              </a:rPr>
              <a:t>Y</a:t>
            </a:r>
            <a:r>
              <a:rPr lang="en-US" sz="2400" b="1" dirty="0">
                <a:cs typeface="Arial" charset="0"/>
              </a:rPr>
              <a:t> =</a:t>
            </a:r>
            <a:r>
              <a:rPr lang="en-US" sz="2400" b="1" dirty="0">
                <a:solidFill>
                  <a:srgbClr val="00B050"/>
                </a:solidFill>
                <a:cs typeface="Arial" charset="0"/>
              </a:rPr>
              <a:t> </a:t>
            </a:r>
            <a:r>
              <a:rPr lang="en-US" sz="2400" b="1" i="1" dirty="0">
                <a:solidFill>
                  <a:srgbClr val="7030A0"/>
                </a:solidFill>
                <a:cs typeface="Arial" charset="0"/>
              </a:rPr>
              <a:t>ABC</a:t>
            </a:r>
            <a:r>
              <a:rPr lang="en-US" sz="2400" b="1" i="1" dirty="0">
                <a:cs typeface="Arial" charset="0"/>
              </a:rPr>
              <a:t>+</a:t>
            </a:r>
            <a:r>
              <a:rPr lang="en-US" sz="2400" b="1" i="1" dirty="0">
                <a:solidFill>
                  <a:srgbClr val="00B050"/>
                </a:solidFill>
                <a:cs typeface="Arial" charset="0"/>
              </a:rPr>
              <a:t>ABC</a:t>
            </a:r>
            <a:r>
              <a:rPr lang="en-US" sz="2400" b="1" i="1" dirty="0">
                <a:cs typeface="Arial" charset="0"/>
              </a:rPr>
              <a:t> = </a:t>
            </a:r>
            <a:r>
              <a:rPr lang="en-US" sz="2400" b="1" i="1" dirty="0">
                <a:solidFill>
                  <a:srgbClr val="FF0000"/>
                </a:solidFill>
                <a:cs typeface="Arial" charset="0"/>
              </a:rPr>
              <a:t>AB</a:t>
            </a:r>
            <a:r>
              <a:rPr lang="en-US" sz="2400" b="1" i="1" dirty="0">
                <a:solidFill>
                  <a:srgbClr val="00B050"/>
                </a:solidFill>
                <a:cs typeface="Arial" charset="0"/>
              </a:rPr>
              <a:t> </a:t>
            </a:r>
            <a:endParaRPr lang="en-US" sz="2400" b="1" i="1" dirty="0">
              <a:solidFill>
                <a:srgbClr val="00B050"/>
              </a:solidFill>
              <a:latin typeface="+mj-lt"/>
              <a:cs typeface="Arial" charset="0"/>
            </a:endParaRPr>
          </a:p>
        </p:txBody>
      </p:sp>
      <p:sp>
        <p:nvSpPr>
          <p:cNvPr id="35" name="Line 9"/>
          <p:cNvSpPr>
            <a:spLocks noChangeShapeType="1"/>
          </p:cNvSpPr>
          <p:nvPr>
            <p:custDataLst>
              <p:tags r:id="rId10"/>
            </p:custDataLst>
          </p:nvPr>
        </p:nvSpPr>
        <p:spPr bwMode="auto">
          <a:xfrm>
            <a:off x="3615690" y="5605459"/>
            <a:ext cx="1524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" name="Line 10"/>
          <p:cNvSpPr>
            <a:spLocks noChangeShapeType="1"/>
          </p:cNvSpPr>
          <p:nvPr>
            <p:custDataLst>
              <p:tags r:id="rId11"/>
            </p:custDataLst>
          </p:nvPr>
        </p:nvSpPr>
        <p:spPr bwMode="auto">
          <a:xfrm>
            <a:off x="3387090" y="5605459"/>
            <a:ext cx="1524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2895600" y="5562600"/>
            <a:ext cx="2876550" cy="4857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3E3A169-9C91-FC43-AE74-EFB9B3818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104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563360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3-Input K-Map</a:t>
            </a:r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6313218"/>
              </p:ext>
            </p:extLst>
          </p:nvPr>
        </p:nvGraphicFramePr>
        <p:xfrm>
          <a:off x="1447800" y="3200400"/>
          <a:ext cx="6172200" cy="26612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2970038" imgH="1367859" progId="Visio.Drawing.11">
                  <p:embed/>
                </p:oleObj>
              </mc:Choice>
              <mc:Fallback>
                <p:oleObj name="Visio" r:id="rId5" imgW="2970038" imgH="1367859" progId="Visio.Drawing.1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447800" y="3200400"/>
                        <a:ext cx="6172200" cy="266128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8"/>
          <p:cNvSpPr/>
          <p:nvPr/>
        </p:nvSpPr>
        <p:spPr>
          <a:xfrm>
            <a:off x="4965700" y="4985897"/>
            <a:ext cx="419100" cy="34810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914900" y="4343400"/>
            <a:ext cx="419100" cy="34810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5600700" y="4985898"/>
            <a:ext cx="419100" cy="3914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5549900" y="4343400"/>
            <a:ext cx="419100" cy="34810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6286500" y="4953000"/>
            <a:ext cx="419100" cy="42430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6286500" y="4343400"/>
            <a:ext cx="419100" cy="34810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7048500" y="4889500"/>
            <a:ext cx="419100" cy="4445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6997700" y="4330700"/>
            <a:ext cx="419100" cy="34810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E38586B-6E4E-0647-BA12-BF57C5EE8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105</a:t>
            </a:fld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2FCAADF-B102-2D4C-8DB5-8159E5EE0460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029200" y="5715000"/>
            <a:ext cx="2971800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20000"/>
              </a:spcBef>
            </a:pPr>
            <a:r>
              <a:rPr lang="en-US" sz="3000" dirty="0">
                <a:latin typeface="+mj-lt"/>
              </a:rPr>
              <a:t> </a:t>
            </a:r>
            <a:r>
              <a:rPr lang="en-US" sz="3000" i="1" dirty="0">
                <a:latin typeface="+mj-lt"/>
              </a:rPr>
              <a:t>Y</a:t>
            </a:r>
            <a:r>
              <a:rPr lang="en-US" sz="3000" dirty="0">
                <a:latin typeface="+mj-lt"/>
              </a:rPr>
              <a:t> = </a:t>
            </a:r>
            <a:r>
              <a:rPr lang="en-US" sz="3000" b="1" i="1" dirty="0">
                <a:solidFill>
                  <a:srgbClr val="7030A0"/>
                </a:solidFill>
                <a:latin typeface="+mj-lt"/>
              </a:rPr>
              <a:t>AB</a:t>
            </a:r>
            <a:r>
              <a:rPr lang="en-US" sz="3000" i="1" dirty="0">
                <a:latin typeface="+mj-lt"/>
              </a:rPr>
              <a:t> + </a:t>
            </a:r>
            <a:r>
              <a:rPr lang="en-US" sz="3000" b="1" i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BC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FAAFE79-E379-4F5E-A7D6-91913B83BE4F}"/>
              </a:ext>
            </a:extLst>
          </p:cNvPr>
          <p:cNvCxnSpPr>
            <a:cxnSpLocks/>
          </p:cNvCxnSpPr>
          <p:nvPr/>
        </p:nvCxnSpPr>
        <p:spPr>
          <a:xfrm>
            <a:off x="5791200" y="5811798"/>
            <a:ext cx="177800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BBEDCE08-7C95-4012-B611-887A1A96F7E4}"/>
              </a:ext>
            </a:extLst>
          </p:cNvPr>
          <p:cNvSpPr/>
          <p:nvPr/>
        </p:nvSpPr>
        <p:spPr>
          <a:xfrm>
            <a:off x="5638800" y="5638800"/>
            <a:ext cx="609600" cy="5539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046910C-2955-4779-8FF7-9728DE239C1C}"/>
              </a:ext>
            </a:extLst>
          </p:cNvPr>
          <p:cNvSpPr/>
          <p:nvPr/>
        </p:nvSpPr>
        <p:spPr>
          <a:xfrm>
            <a:off x="6248400" y="5659398"/>
            <a:ext cx="838200" cy="5539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AD4C72A-E104-459D-93E3-C6ACCABE6F3D}"/>
              </a:ext>
            </a:extLst>
          </p:cNvPr>
          <p:cNvSpPr/>
          <p:nvPr/>
        </p:nvSpPr>
        <p:spPr>
          <a:xfrm>
            <a:off x="5486400" y="4889499"/>
            <a:ext cx="1371600" cy="553999"/>
          </a:xfrm>
          <a:prstGeom prst="ellipse">
            <a:avLst/>
          </a:prstGeom>
          <a:noFill/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78EACF4-674B-4BB6-AAB5-C5C4F036CCB1}"/>
              </a:ext>
            </a:extLst>
          </p:cNvPr>
          <p:cNvSpPr/>
          <p:nvPr/>
        </p:nvSpPr>
        <p:spPr>
          <a:xfrm rot="16200000">
            <a:off x="5146676" y="4564875"/>
            <a:ext cx="1289050" cy="553999"/>
          </a:xfrm>
          <a:prstGeom prst="ellipse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graphicFrame>
        <p:nvGraphicFramePr>
          <p:cNvPr id="14" name="Object 13">
            <a:extLst>
              <a:ext uri="{FF2B5EF4-FFF2-40B4-BE49-F238E27FC236}">
                <a16:creationId xmlns:a16="http://schemas.microsoft.com/office/drawing/2014/main" id="{281EB2FC-BA0B-4BD0-BF92-EEE24E76416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1818434"/>
              </p:ext>
            </p:extLst>
          </p:nvPr>
        </p:nvGraphicFramePr>
        <p:xfrm>
          <a:off x="1447800" y="3200400"/>
          <a:ext cx="6172200" cy="26612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7" imgW="2970038" imgH="1367859" progId="Visio.Drawing.11">
                  <p:embed/>
                </p:oleObj>
              </mc:Choice>
              <mc:Fallback>
                <p:oleObj name="Visio" r:id="rId7" imgW="2970038" imgH="1367859" progId="Visio.Drawing.11">
                  <p:embed/>
                  <p:pic>
                    <p:nvPicPr>
                      <p:cNvPr id="2" name="Object 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447800" y="3200400"/>
                        <a:ext cx="6172200" cy="266128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14">
            <a:extLst>
              <a:ext uri="{FF2B5EF4-FFF2-40B4-BE49-F238E27FC236}">
                <a16:creationId xmlns:a16="http://schemas.microsoft.com/office/drawing/2014/main" id="{D4C21D0E-848D-4A1A-954D-711EFB1264A9}"/>
              </a:ext>
            </a:extLst>
          </p:cNvPr>
          <p:cNvSpPr/>
          <p:nvPr/>
        </p:nvSpPr>
        <p:spPr>
          <a:xfrm>
            <a:off x="4888618" y="4267200"/>
            <a:ext cx="419100" cy="457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A3F77B0-6E38-4FEC-94B8-14990BD3002A}"/>
              </a:ext>
            </a:extLst>
          </p:cNvPr>
          <p:cNvSpPr/>
          <p:nvPr/>
        </p:nvSpPr>
        <p:spPr>
          <a:xfrm>
            <a:off x="4914900" y="4953000"/>
            <a:ext cx="419100" cy="457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6FC661C-D0C1-421C-B3E1-A6A8080CB91E}"/>
              </a:ext>
            </a:extLst>
          </p:cNvPr>
          <p:cNvSpPr/>
          <p:nvPr/>
        </p:nvSpPr>
        <p:spPr>
          <a:xfrm>
            <a:off x="5599818" y="4267200"/>
            <a:ext cx="419100" cy="457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54569E6-2232-40F2-B4C9-0D493BBFE571}"/>
              </a:ext>
            </a:extLst>
          </p:cNvPr>
          <p:cNvSpPr/>
          <p:nvPr/>
        </p:nvSpPr>
        <p:spPr>
          <a:xfrm>
            <a:off x="5581650" y="4882004"/>
            <a:ext cx="419100" cy="457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B2CD155-61E5-4F7A-92E0-3D70A5CBE8E5}"/>
              </a:ext>
            </a:extLst>
          </p:cNvPr>
          <p:cNvSpPr/>
          <p:nvPr/>
        </p:nvSpPr>
        <p:spPr>
          <a:xfrm>
            <a:off x="6297048" y="4256901"/>
            <a:ext cx="419100" cy="457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19B8D75-7ABA-417F-B620-7A55A0F12171}"/>
              </a:ext>
            </a:extLst>
          </p:cNvPr>
          <p:cNvSpPr/>
          <p:nvPr/>
        </p:nvSpPr>
        <p:spPr>
          <a:xfrm>
            <a:off x="6238875" y="4931656"/>
            <a:ext cx="419100" cy="457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C617EDB-52D8-4130-9291-0768C56EB669}"/>
              </a:ext>
            </a:extLst>
          </p:cNvPr>
          <p:cNvSpPr/>
          <p:nvPr/>
        </p:nvSpPr>
        <p:spPr>
          <a:xfrm>
            <a:off x="6968243" y="4322802"/>
            <a:ext cx="419100" cy="457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6C0AEE5-FE63-4ABB-A523-1F686C6B0C82}"/>
              </a:ext>
            </a:extLst>
          </p:cNvPr>
          <p:cNvSpPr/>
          <p:nvPr/>
        </p:nvSpPr>
        <p:spPr>
          <a:xfrm>
            <a:off x="7012940" y="4931656"/>
            <a:ext cx="419100" cy="457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7">
            <a:extLst>
              <a:ext uri="{FF2B5EF4-FFF2-40B4-BE49-F238E27FC236}">
                <a16:creationId xmlns:a16="http://schemas.microsoft.com/office/drawing/2014/main" id="{E966DEB8-2BCC-42E4-9C39-715D29945A2E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381000" y="990600"/>
            <a:ext cx="8153400" cy="213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+mj-lt"/>
                <a:cs typeface="Arial" charset="0"/>
              </a:rPr>
              <a:t>Circle 1’s in adjacent squares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+mj-lt"/>
                <a:cs typeface="Arial" charset="0"/>
              </a:rPr>
              <a:t>In Boolean expression: include only literals whose true </a:t>
            </a:r>
            <a:r>
              <a:rPr lang="en-US" sz="3200" b="1" dirty="0">
                <a:latin typeface="+mj-lt"/>
                <a:cs typeface="Arial" charset="0"/>
              </a:rPr>
              <a:t>and</a:t>
            </a:r>
            <a:r>
              <a:rPr lang="en-US" sz="3200" dirty="0">
                <a:latin typeface="+mj-lt"/>
                <a:cs typeface="Arial" charset="0"/>
              </a:rPr>
              <a:t> complement form are </a:t>
            </a:r>
            <a:r>
              <a:rPr lang="en-US" sz="3200" b="1" i="1" dirty="0">
                <a:latin typeface="+mj-lt"/>
                <a:cs typeface="Arial" charset="0"/>
              </a:rPr>
              <a:t>not</a:t>
            </a:r>
            <a:r>
              <a:rPr lang="en-US" sz="3200" dirty="0">
                <a:latin typeface="+mj-lt"/>
                <a:cs typeface="Arial" charset="0"/>
              </a:rPr>
              <a:t> in the circle</a:t>
            </a:r>
          </a:p>
        </p:txBody>
      </p:sp>
    </p:spTree>
    <p:extLst>
      <p:ext uri="{BB962C8B-B14F-4D97-AF65-F5344CB8AC3E}">
        <p14:creationId xmlns:p14="http://schemas.microsoft.com/office/powerpoint/2010/main" val="95595417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8" grpId="0" animBg="1"/>
      <p:bldP spid="12" grpId="0" animBg="1"/>
      <p:bldP spid="13" grpId="0" animBg="1"/>
      <p:bldP spid="15" grpId="0" animBg="1"/>
      <p:bldP spid="16" grpId="0" animBg="1"/>
      <p:bldP spid="17" grpId="0" animBg="1"/>
      <p:bldP spid="35" grpId="0" animBg="1"/>
      <p:bldP spid="37" grpId="0" animBg="1"/>
      <p:bldP spid="39" grpId="0" animBg="1"/>
      <p:bldP spid="41" grpId="0" animBg="1"/>
      <p:bldP spid="43" grpId="0" animBg="1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1043" name="Rectangle 3"/>
          <p:cNvSpPr>
            <a:spLocks noGrp="1" noChangeArrowheads="1"/>
          </p:cNvSpPr>
          <p:nvPr>
            <p:ph idx="1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 b="1" dirty="0"/>
              <a:t>Complement</a:t>
            </a:r>
            <a:r>
              <a:rPr lang="en-US" sz="2800" dirty="0"/>
              <a:t>: variable with a bar over it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800" b="1" dirty="0">
                <a:solidFill>
                  <a:srgbClr val="0070C0"/>
                </a:solidFill>
              </a:rPr>
              <a:t>    </a:t>
            </a:r>
            <a:r>
              <a:rPr lang="en-US" sz="2800" b="1" i="1" dirty="0">
                <a:solidFill>
                  <a:srgbClr val="0070C0"/>
                </a:solidFill>
              </a:rPr>
              <a:t>A</a:t>
            </a:r>
            <a:r>
              <a:rPr lang="en-US" sz="2800" b="1" dirty="0">
                <a:solidFill>
                  <a:srgbClr val="0070C0"/>
                </a:solidFill>
              </a:rPr>
              <a:t>, </a:t>
            </a:r>
            <a:r>
              <a:rPr lang="en-US" sz="2800" b="1" i="1" dirty="0">
                <a:solidFill>
                  <a:srgbClr val="0070C0"/>
                </a:solidFill>
              </a:rPr>
              <a:t>B</a:t>
            </a:r>
            <a:r>
              <a:rPr lang="en-US" sz="2800" b="1" dirty="0">
                <a:solidFill>
                  <a:srgbClr val="0070C0"/>
                </a:solidFill>
              </a:rPr>
              <a:t>, </a:t>
            </a:r>
            <a:r>
              <a:rPr lang="en-US" sz="2800" b="1" i="1" dirty="0">
                <a:solidFill>
                  <a:srgbClr val="0070C0"/>
                </a:solidFill>
              </a:rPr>
              <a:t>C</a:t>
            </a:r>
          </a:p>
          <a:p>
            <a:pPr>
              <a:lnSpc>
                <a:spcPct val="90000"/>
              </a:lnSpc>
            </a:pPr>
            <a:r>
              <a:rPr lang="en-US" sz="2800" b="1" dirty="0"/>
              <a:t>Literal</a:t>
            </a:r>
            <a:r>
              <a:rPr lang="en-US" sz="2800" dirty="0"/>
              <a:t>: variable or its complement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800" b="1" dirty="0">
                <a:solidFill>
                  <a:srgbClr val="0070C0"/>
                </a:solidFill>
              </a:rPr>
              <a:t>    </a:t>
            </a:r>
            <a:r>
              <a:rPr lang="en-US" sz="2800" b="1" i="1" dirty="0">
                <a:solidFill>
                  <a:srgbClr val="0070C0"/>
                </a:solidFill>
              </a:rPr>
              <a:t>A</a:t>
            </a:r>
            <a:r>
              <a:rPr lang="en-US" sz="2800" b="1" dirty="0">
                <a:solidFill>
                  <a:srgbClr val="0070C0"/>
                </a:solidFill>
              </a:rPr>
              <a:t>, </a:t>
            </a:r>
            <a:r>
              <a:rPr lang="en-US" sz="2800" b="1" i="1" dirty="0">
                <a:solidFill>
                  <a:srgbClr val="0070C0"/>
                </a:solidFill>
              </a:rPr>
              <a:t>A</a:t>
            </a:r>
            <a:r>
              <a:rPr lang="en-US" sz="2800" b="1" dirty="0">
                <a:solidFill>
                  <a:srgbClr val="0070C0"/>
                </a:solidFill>
              </a:rPr>
              <a:t>, </a:t>
            </a:r>
            <a:r>
              <a:rPr lang="en-US" sz="2800" b="1" i="1" dirty="0">
                <a:solidFill>
                  <a:srgbClr val="0070C0"/>
                </a:solidFill>
              </a:rPr>
              <a:t>B</a:t>
            </a:r>
            <a:r>
              <a:rPr lang="en-US" sz="2800" b="1" dirty="0">
                <a:solidFill>
                  <a:srgbClr val="0070C0"/>
                </a:solidFill>
              </a:rPr>
              <a:t>, </a:t>
            </a:r>
            <a:r>
              <a:rPr lang="en-US" sz="2800" b="1" i="1" dirty="0">
                <a:solidFill>
                  <a:srgbClr val="0070C0"/>
                </a:solidFill>
              </a:rPr>
              <a:t>B</a:t>
            </a:r>
            <a:r>
              <a:rPr lang="en-US" sz="2800" b="1" dirty="0">
                <a:solidFill>
                  <a:srgbClr val="0070C0"/>
                </a:solidFill>
              </a:rPr>
              <a:t>, </a:t>
            </a:r>
            <a:r>
              <a:rPr lang="en-US" sz="2800" b="1" i="1" dirty="0">
                <a:solidFill>
                  <a:srgbClr val="0070C0"/>
                </a:solidFill>
              </a:rPr>
              <a:t>C</a:t>
            </a:r>
            <a:r>
              <a:rPr lang="en-US" sz="2800" b="1" dirty="0">
                <a:solidFill>
                  <a:srgbClr val="0070C0"/>
                </a:solidFill>
              </a:rPr>
              <a:t>, </a:t>
            </a:r>
            <a:r>
              <a:rPr lang="en-US" sz="2800" b="1" i="1" dirty="0">
                <a:solidFill>
                  <a:srgbClr val="0070C0"/>
                </a:solidFill>
              </a:rPr>
              <a:t>C</a:t>
            </a:r>
            <a:endParaRPr lang="en-US" sz="2800" b="1" dirty="0">
              <a:solidFill>
                <a:srgbClr val="0070C0"/>
              </a:solidFill>
            </a:endParaRPr>
          </a:p>
          <a:p>
            <a:pPr>
              <a:lnSpc>
                <a:spcPct val="90000"/>
              </a:lnSpc>
            </a:pPr>
            <a:r>
              <a:rPr lang="en-US" sz="2800" b="1" dirty="0" err="1"/>
              <a:t>Implicant</a:t>
            </a:r>
            <a:r>
              <a:rPr lang="en-US" sz="2800" dirty="0"/>
              <a:t>: product of literals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800" dirty="0"/>
              <a:t>    </a:t>
            </a:r>
            <a:r>
              <a:rPr lang="en-US" sz="2800" b="1" i="1" dirty="0">
                <a:solidFill>
                  <a:srgbClr val="0070C0"/>
                </a:solidFill>
              </a:rPr>
              <a:t>ABC</a:t>
            </a:r>
            <a:r>
              <a:rPr lang="en-US" sz="2800" b="1" dirty="0">
                <a:solidFill>
                  <a:srgbClr val="0070C0"/>
                </a:solidFill>
              </a:rPr>
              <a:t>, </a:t>
            </a:r>
            <a:r>
              <a:rPr lang="en-US" sz="2800" b="1" i="1" dirty="0">
                <a:solidFill>
                  <a:srgbClr val="0070C0"/>
                </a:solidFill>
              </a:rPr>
              <a:t>AC</a:t>
            </a:r>
            <a:r>
              <a:rPr lang="en-US" sz="2800" b="1" dirty="0">
                <a:solidFill>
                  <a:srgbClr val="0070C0"/>
                </a:solidFill>
              </a:rPr>
              <a:t>, </a:t>
            </a:r>
            <a:r>
              <a:rPr lang="en-US" sz="2800" b="1" i="1" dirty="0">
                <a:solidFill>
                  <a:srgbClr val="0070C0"/>
                </a:solidFill>
              </a:rPr>
              <a:t>BC</a:t>
            </a:r>
          </a:p>
          <a:p>
            <a:r>
              <a:rPr lang="en-US" sz="2800" b="1" dirty="0"/>
              <a:t>Prime </a:t>
            </a:r>
            <a:r>
              <a:rPr lang="en-US" sz="2800" b="1" dirty="0" err="1"/>
              <a:t>implicant</a:t>
            </a:r>
            <a:r>
              <a:rPr lang="en-US" sz="2800" b="1" dirty="0"/>
              <a:t>:</a:t>
            </a:r>
            <a:r>
              <a:rPr lang="en-US" sz="2800" dirty="0"/>
              <a:t> </a:t>
            </a:r>
            <a:r>
              <a:rPr lang="en-US" sz="2800" dirty="0" err="1"/>
              <a:t>implicant</a:t>
            </a:r>
            <a:r>
              <a:rPr lang="en-US" sz="2800" dirty="0"/>
              <a:t> corresponding to the </a:t>
            </a:r>
            <a:r>
              <a:rPr lang="en-US" sz="2800" b="1" dirty="0">
                <a:solidFill>
                  <a:srgbClr val="0070C0"/>
                </a:solidFill>
              </a:rPr>
              <a:t>largest circle </a:t>
            </a:r>
            <a:r>
              <a:rPr lang="en-US" sz="2800" dirty="0"/>
              <a:t>in a K-map</a:t>
            </a:r>
          </a:p>
        </p:txBody>
      </p:sp>
      <p:sp>
        <p:nvSpPr>
          <p:cNvPr id="1111044" name="Line 4"/>
          <p:cNvSpPr>
            <a:spLocks noChangeShapeType="1"/>
          </p:cNvSpPr>
          <p:nvPr>
            <p:custDataLst>
              <p:tags r:id="rId2"/>
            </p:custDataLst>
          </p:nvPr>
        </p:nvSpPr>
        <p:spPr bwMode="auto">
          <a:xfrm>
            <a:off x="1871433" y="1720850"/>
            <a:ext cx="152400" cy="0"/>
          </a:xfrm>
          <a:prstGeom prst="line">
            <a:avLst/>
          </a:prstGeom>
          <a:noFill/>
          <a:ln w="28575">
            <a:solidFill>
              <a:srgbClr val="0070C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11045" name="Line 5"/>
          <p:cNvSpPr>
            <a:spLocks noChangeShapeType="1"/>
          </p:cNvSpPr>
          <p:nvPr>
            <p:custDataLst>
              <p:tags r:id="rId3"/>
            </p:custDataLst>
          </p:nvPr>
        </p:nvSpPr>
        <p:spPr bwMode="auto">
          <a:xfrm>
            <a:off x="1098550" y="1720850"/>
            <a:ext cx="152400" cy="0"/>
          </a:xfrm>
          <a:prstGeom prst="line">
            <a:avLst/>
          </a:prstGeom>
          <a:noFill/>
          <a:ln w="28575">
            <a:solidFill>
              <a:srgbClr val="0070C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11046" name="Line 6"/>
          <p:cNvSpPr>
            <a:spLocks noChangeShapeType="1"/>
          </p:cNvSpPr>
          <p:nvPr>
            <p:custDataLst>
              <p:tags r:id="rId4"/>
            </p:custDataLst>
          </p:nvPr>
        </p:nvSpPr>
        <p:spPr bwMode="auto">
          <a:xfrm>
            <a:off x="1479550" y="1720850"/>
            <a:ext cx="152400" cy="0"/>
          </a:xfrm>
          <a:prstGeom prst="line">
            <a:avLst/>
          </a:prstGeom>
          <a:noFill/>
          <a:ln w="28575">
            <a:solidFill>
              <a:srgbClr val="0070C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11047" name="Line 7"/>
          <p:cNvSpPr>
            <a:spLocks noChangeShapeType="1"/>
          </p:cNvSpPr>
          <p:nvPr>
            <p:custDataLst>
              <p:tags r:id="rId5"/>
            </p:custDataLst>
          </p:nvPr>
        </p:nvSpPr>
        <p:spPr bwMode="auto">
          <a:xfrm>
            <a:off x="2986440" y="2667000"/>
            <a:ext cx="152400" cy="0"/>
          </a:xfrm>
          <a:prstGeom prst="line">
            <a:avLst/>
          </a:prstGeom>
          <a:noFill/>
          <a:ln w="28575">
            <a:solidFill>
              <a:srgbClr val="0070C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11048" name="Line 8"/>
          <p:cNvSpPr>
            <a:spLocks noChangeShapeType="1"/>
          </p:cNvSpPr>
          <p:nvPr>
            <p:custDataLst>
              <p:tags r:id="rId6"/>
            </p:custDataLst>
          </p:nvPr>
        </p:nvSpPr>
        <p:spPr bwMode="auto">
          <a:xfrm>
            <a:off x="1479550" y="2667000"/>
            <a:ext cx="152400" cy="0"/>
          </a:xfrm>
          <a:prstGeom prst="line">
            <a:avLst/>
          </a:prstGeom>
          <a:noFill/>
          <a:ln w="28575">
            <a:solidFill>
              <a:srgbClr val="0070C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11049" name="Line 9"/>
          <p:cNvSpPr>
            <a:spLocks noChangeShapeType="1"/>
          </p:cNvSpPr>
          <p:nvPr>
            <p:custDataLst>
              <p:tags r:id="rId7"/>
            </p:custDataLst>
          </p:nvPr>
        </p:nvSpPr>
        <p:spPr bwMode="auto">
          <a:xfrm>
            <a:off x="2241550" y="2667000"/>
            <a:ext cx="152400" cy="0"/>
          </a:xfrm>
          <a:prstGeom prst="line">
            <a:avLst/>
          </a:prstGeom>
          <a:noFill/>
          <a:ln w="28575">
            <a:solidFill>
              <a:srgbClr val="0070C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11050" name="Line 10"/>
          <p:cNvSpPr>
            <a:spLocks noChangeShapeType="1"/>
          </p:cNvSpPr>
          <p:nvPr>
            <p:custDataLst>
              <p:tags r:id="rId8"/>
            </p:custDataLst>
          </p:nvPr>
        </p:nvSpPr>
        <p:spPr bwMode="auto">
          <a:xfrm>
            <a:off x="1511300" y="3605215"/>
            <a:ext cx="152400" cy="0"/>
          </a:xfrm>
          <a:prstGeom prst="line">
            <a:avLst/>
          </a:prstGeom>
          <a:noFill/>
          <a:ln w="28575">
            <a:solidFill>
              <a:srgbClr val="0070C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11051" name="Line 11"/>
          <p:cNvSpPr>
            <a:spLocks noChangeShapeType="1"/>
          </p:cNvSpPr>
          <p:nvPr>
            <p:custDataLst>
              <p:tags r:id="rId9"/>
            </p:custDataLst>
          </p:nvPr>
        </p:nvSpPr>
        <p:spPr bwMode="auto">
          <a:xfrm>
            <a:off x="1892300" y="3605215"/>
            <a:ext cx="152400" cy="0"/>
          </a:xfrm>
          <a:prstGeom prst="line">
            <a:avLst/>
          </a:prstGeom>
          <a:noFill/>
          <a:ln w="28575">
            <a:solidFill>
              <a:srgbClr val="0070C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Some Definitions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038600"/>
            <a:ext cx="7924800" cy="914400"/>
          </a:xfrm>
          <a:prstGeom prst="rect">
            <a:avLst/>
          </a:prstGeom>
          <a:noFill/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20ABBAC-C5D1-3149-9BE6-4B332B8D5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106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928092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627" name="Rectangle 3"/>
          <p:cNvSpPr>
            <a:spLocks noGrp="1" noChangeArrowheads="1"/>
          </p:cNvSpPr>
          <p:nvPr>
            <p:ph idx="1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Every 1 must be circled </a:t>
            </a:r>
            <a:r>
              <a:rPr lang="en-US" dirty="0"/>
              <a:t>at least once</a:t>
            </a:r>
          </a:p>
          <a:p>
            <a:r>
              <a:rPr lang="en-US" dirty="0"/>
              <a:t>Each circle must span a </a:t>
            </a:r>
            <a:r>
              <a:rPr lang="en-US" b="1" dirty="0"/>
              <a:t>power of 2 </a:t>
            </a:r>
            <a:r>
              <a:rPr lang="en-US" dirty="0"/>
              <a:t>(i.e. 1, 2, 4) squares in each direction</a:t>
            </a:r>
          </a:p>
          <a:p>
            <a:r>
              <a:rPr lang="en-US" dirty="0"/>
              <a:t>Each circle must be as </a:t>
            </a:r>
            <a:r>
              <a:rPr lang="en-US" b="1" dirty="0"/>
              <a:t>large</a:t>
            </a:r>
            <a:r>
              <a:rPr lang="en-US" dirty="0"/>
              <a:t> as possible</a:t>
            </a:r>
          </a:p>
          <a:p>
            <a:r>
              <a:rPr lang="en-US" dirty="0"/>
              <a:t>A circle may </a:t>
            </a:r>
            <a:r>
              <a:rPr lang="en-US" b="1" dirty="0"/>
              <a:t>wrap around the edges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K-Map Rules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3B91580-26A2-4D42-8EDF-36B979293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107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189799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22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922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922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72132" name="Object 4"/>
          <p:cNvGraphicFramePr>
            <a:graphicFrameLocks noGrp="1" noChangeAspect="1"/>
          </p:cNvGraphicFramePr>
          <p:nvPr>
            <p:ph idx="1"/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46087398"/>
              </p:ext>
            </p:extLst>
          </p:nvPr>
        </p:nvGraphicFramePr>
        <p:xfrm>
          <a:off x="444500" y="1142999"/>
          <a:ext cx="2679700" cy="4752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1177731" imgH="2088988" progId="Visio.Drawing.11">
                  <p:embed/>
                </p:oleObj>
              </mc:Choice>
              <mc:Fallback>
                <p:oleObj name="Visio" r:id="rId5" imgW="1177731" imgH="2088988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4500" y="1142999"/>
                        <a:ext cx="2679700" cy="4752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2131" name="Object 3"/>
          <p:cNvGraphicFramePr>
            <a:graphicFrameLocks noGrp="1" noChangeAspect="1"/>
          </p:cNvGraphicFramePr>
          <p:nvPr>
            <p:ph sz="half" idx="4294967295"/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075400659"/>
              </p:ext>
            </p:extLst>
          </p:nvPr>
        </p:nvGraphicFramePr>
        <p:xfrm>
          <a:off x="4040188" y="1143000"/>
          <a:ext cx="4187825" cy="4810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7" imgW="1732176" imgH="1988404" progId="Visio.Drawing.11">
                  <p:embed/>
                </p:oleObj>
              </mc:Choice>
              <mc:Fallback>
                <p:oleObj name="Visio" r:id="rId7" imgW="1732176" imgH="1988404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40188" y="1143000"/>
                        <a:ext cx="4187825" cy="4810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4-Input K-Map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5092700" y="3004697"/>
            <a:ext cx="419100" cy="34810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5041900" y="2242696"/>
            <a:ext cx="419100" cy="34810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4996750" y="3886200"/>
            <a:ext cx="419100" cy="3914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5087750" y="4724400"/>
            <a:ext cx="419100" cy="34810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/>
          <p:cNvSpPr/>
          <p:nvPr/>
        </p:nvSpPr>
        <p:spPr>
          <a:xfrm>
            <a:off x="5905500" y="3004697"/>
            <a:ext cx="419100" cy="34810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/>
          <p:cNvSpPr/>
          <p:nvPr/>
        </p:nvSpPr>
        <p:spPr>
          <a:xfrm>
            <a:off x="5854700" y="2242696"/>
            <a:ext cx="419100" cy="34810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/>
          <p:cNvSpPr/>
          <p:nvPr/>
        </p:nvSpPr>
        <p:spPr>
          <a:xfrm>
            <a:off x="5809550" y="3886200"/>
            <a:ext cx="419100" cy="3914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/>
          <p:cNvSpPr/>
          <p:nvPr/>
        </p:nvSpPr>
        <p:spPr>
          <a:xfrm>
            <a:off x="5900550" y="4724400"/>
            <a:ext cx="419100" cy="34810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/>
          <p:cNvSpPr/>
          <p:nvPr/>
        </p:nvSpPr>
        <p:spPr>
          <a:xfrm>
            <a:off x="7581900" y="3037594"/>
            <a:ext cx="419100" cy="34810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/>
          <p:cNvSpPr/>
          <p:nvPr/>
        </p:nvSpPr>
        <p:spPr>
          <a:xfrm>
            <a:off x="7531100" y="2275593"/>
            <a:ext cx="419100" cy="34810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/>
          <p:cNvSpPr/>
          <p:nvPr/>
        </p:nvSpPr>
        <p:spPr>
          <a:xfrm>
            <a:off x="7485950" y="3919097"/>
            <a:ext cx="419100" cy="3914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/>
          <p:cNvSpPr/>
          <p:nvPr/>
        </p:nvSpPr>
        <p:spPr>
          <a:xfrm>
            <a:off x="7576950" y="4757297"/>
            <a:ext cx="419100" cy="34810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/>
          <p:cNvSpPr/>
          <p:nvPr/>
        </p:nvSpPr>
        <p:spPr>
          <a:xfrm>
            <a:off x="6756400" y="3031987"/>
            <a:ext cx="419100" cy="34810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/>
          <p:cNvSpPr/>
          <p:nvPr/>
        </p:nvSpPr>
        <p:spPr>
          <a:xfrm>
            <a:off x="6705600" y="2269986"/>
            <a:ext cx="419100" cy="34810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6660450" y="3913490"/>
            <a:ext cx="419100" cy="3914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/>
          <p:cNvSpPr/>
          <p:nvPr/>
        </p:nvSpPr>
        <p:spPr>
          <a:xfrm>
            <a:off x="6751450" y="4751690"/>
            <a:ext cx="419100" cy="34810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9C4465F-B53E-3B4F-B0BD-D33DFDA8D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108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879715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15" grpId="0" animBg="1"/>
      <p:bldP spid="16" grpId="0" animBg="1"/>
      <p:bldP spid="36" grpId="0" animBg="1"/>
      <p:bldP spid="38" grpId="0" animBg="1"/>
      <p:bldP spid="41" grpId="0" animBg="1"/>
      <p:bldP spid="42" grpId="0" animBg="1"/>
      <p:bldP spid="44" grpId="0" animBg="1"/>
      <p:bldP spid="46" grpId="0" animBg="1"/>
      <p:bldP spid="49" grpId="0" animBg="1"/>
      <p:bldP spid="50" grpId="0" animBg="1"/>
      <p:bldP spid="52" grpId="0" animBg="1"/>
      <p:bldP spid="54" grpId="0" animBg="1"/>
      <p:bldP spid="57" grpId="0" animBg="1"/>
      <p:bldP spid="58" grpId="0" animBg="1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72132" name="Object 4"/>
          <p:cNvGraphicFramePr>
            <a:graphicFrameLocks noGrp="1" noChangeAspect="1"/>
          </p:cNvGraphicFramePr>
          <p:nvPr>
            <p:ph idx="1"/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7144500"/>
              </p:ext>
            </p:extLst>
          </p:nvPr>
        </p:nvGraphicFramePr>
        <p:xfrm>
          <a:off x="444500" y="1142999"/>
          <a:ext cx="2679700" cy="4752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1177560" imgH="2089080" progId="Visio.Drawing.6">
                  <p:embed/>
                </p:oleObj>
              </mc:Choice>
              <mc:Fallback>
                <p:oleObj name="VISIO" r:id="rId5" imgW="1177560" imgH="208908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4500" y="1142999"/>
                        <a:ext cx="2679700" cy="4752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2131" name="Object 3"/>
          <p:cNvGraphicFramePr>
            <a:graphicFrameLocks noGrp="1" noChangeAspect="1"/>
          </p:cNvGraphicFramePr>
          <p:nvPr>
            <p:ph sz="half" idx="4294967295"/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73247214"/>
              </p:ext>
            </p:extLst>
          </p:nvPr>
        </p:nvGraphicFramePr>
        <p:xfrm>
          <a:off x="4040188" y="1143000"/>
          <a:ext cx="4187825" cy="4810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7" imgW="1732176" imgH="1988404" progId="Visio.Drawing.11">
                  <p:embed/>
                </p:oleObj>
              </mc:Choice>
              <mc:Fallback>
                <p:oleObj name="Visio" r:id="rId7" imgW="1732176" imgH="1988404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40188" y="1143000"/>
                        <a:ext cx="4187825" cy="4810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4-Input K-Map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5257800" y="5524500"/>
            <a:ext cx="2971800" cy="4953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30BF797-1BBA-234F-8CAF-A1F369133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109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049702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0" y="76200"/>
            <a:ext cx="9144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  <a:latin typeface="+mj-lt"/>
              </a:rPr>
              <a:t>Chapter 2: Combinational Logic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DAA03A6C-70A8-504F-B2A9-E24C66359451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0" y="2438400"/>
            <a:ext cx="9144000" cy="1600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en-US" sz="7200" b="1" dirty="0" err="1"/>
              <a:t>Karnaugh</a:t>
            </a:r>
            <a:r>
              <a:rPr lang="en-US" sz="7200" b="1" dirty="0"/>
              <a:t> Maps with Don’t Cares</a:t>
            </a:r>
            <a:endParaRPr lang="en-US" sz="7200" dirty="0"/>
          </a:p>
          <a:p>
            <a:pPr lvl="1" algn="ctr"/>
            <a:endParaRPr lang="en-US" sz="7200" dirty="0"/>
          </a:p>
          <a:p>
            <a:pPr algn="ctr">
              <a:buFontTx/>
              <a:buNone/>
            </a:pP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1323530968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627" name="Rectangle 3"/>
          <p:cNvSpPr>
            <a:spLocks noGrp="1" noChangeArrowheads="1"/>
          </p:cNvSpPr>
          <p:nvPr>
            <p:ph idx="1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Every 1 must be circled </a:t>
            </a:r>
            <a:r>
              <a:rPr lang="en-US" dirty="0"/>
              <a:t>at least once</a:t>
            </a:r>
          </a:p>
          <a:p>
            <a:r>
              <a:rPr lang="en-US" dirty="0"/>
              <a:t>Each circle must span a </a:t>
            </a:r>
            <a:r>
              <a:rPr lang="en-US" b="1" dirty="0"/>
              <a:t>power of 2 </a:t>
            </a:r>
            <a:r>
              <a:rPr lang="en-US" dirty="0"/>
              <a:t>(i.e. 1, 2, 4) squares in each direction</a:t>
            </a:r>
          </a:p>
          <a:p>
            <a:r>
              <a:rPr lang="en-US" dirty="0"/>
              <a:t>Each circle must be as </a:t>
            </a:r>
            <a:r>
              <a:rPr lang="en-US" b="1" dirty="0"/>
              <a:t>large</a:t>
            </a:r>
            <a:r>
              <a:rPr lang="en-US" dirty="0"/>
              <a:t> as possible</a:t>
            </a:r>
          </a:p>
          <a:p>
            <a:r>
              <a:rPr lang="en-US" dirty="0"/>
              <a:t>A circle may </a:t>
            </a:r>
            <a:r>
              <a:rPr lang="en-US" b="1" dirty="0"/>
              <a:t>wrap around the edges</a:t>
            </a:r>
          </a:p>
          <a:p>
            <a:r>
              <a:rPr lang="en-US" dirty="0"/>
              <a:t>Circle a </a:t>
            </a:r>
            <a:r>
              <a:rPr lang="en-US" b="1" dirty="0"/>
              <a:t>“don't care” </a:t>
            </a:r>
            <a:r>
              <a:rPr lang="en-US" dirty="0"/>
              <a:t>(X) </a:t>
            </a:r>
            <a:r>
              <a:rPr lang="en-US" b="1" dirty="0"/>
              <a:t>only if it helps</a:t>
            </a:r>
            <a:r>
              <a:rPr lang="en-US" dirty="0"/>
              <a:t> minimize the equation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K-Map Rules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5CD58A6-C551-6D44-92A5-073B7EE6F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111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3119053"/>
      </p:ext>
    </p:extLst>
  </p:cSld>
  <p:clrMapOvr>
    <a:masterClrMapping/>
  </p:clrMapOvr>
  <p:transition/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80331" name="Object 11"/>
          <p:cNvGraphicFramePr>
            <a:graphicFrameLocks noGrp="1" noChangeAspect="1"/>
          </p:cNvGraphicFramePr>
          <p:nvPr>
            <p:ph idx="1"/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03425364"/>
              </p:ext>
            </p:extLst>
          </p:nvPr>
        </p:nvGraphicFramePr>
        <p:xfrm>
          <a:off x="4421188" y="1143000"/>
          <a:ext cx="3806825" cy="437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1732176" imgH="1988404" progId="Visio.Drawing.11">
                  <p:embed/>
                </p:oleObj>
              </mc:Choice>
              <mc:Fallback>
                <p:oleObj name="Visio" r:id="rId5" imgW="1732176" imgH="1988404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1188" y="1143000"/>
                        <a:ext cx="3806825" cy="4371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0324" name="Object 4"/>
          <p:cNvGraphicFramePr>
            <a:graphicFrameLocks noGrp="1" noChangeAspect="1"/>
          </p:cNvGraphicFramePr>
          <p:nvPr>
            <p:ph sz="quarter" idx="4294967295"/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602458598"/>
              </p:ext>
            </p:extLst>
          </p:nvPr>
        </p:nvGraphicFramePr>
        <p:xfrm>
          <a:off x="762000" y="914400"/>
          <a:ext cx="2819400" cy="50021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7" imgW="1177731" imgH="2088988" progId="Visio.Drawing.11">
                  <p:embed/>
                </p:oleObj>
              </mc:Choice>
              <mc:Fallback>
                <p:oleObj name="Visio" r:id="rId7" imgW="1177731" imgH="2088988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914400"/>
                        <a:ext cx="2819400" cy="500216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K-Maps with Don’t Cares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277550" y="2819401"/>
            <a:ext cx="419100" cy="34810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5226750" y="2057400"/>
            <a:ext cx="419100" cy="34810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5295900" y="3581400"/>
            <a:ext cx="419100" cy="3914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5245100" y="4343400"/>
            <a:ext cx="419100" cy="34810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6090350" y="2819401"/>
            <a:ext cx="419100" cy="34810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6039550" y="2057400"/>
            <a:ext cx="419100" cy="34810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5994400" y="3700904"/>
            <a:ext cx="419100" cy="3914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6057900" y="4343400"/>
            <a:ext cx="419100" cy="34810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7620000" y="2852298"/>
            <a:ext cx="419100" cy="34810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7715950" y="2090297"/>
            <a:ext cx="419100" cy="34810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7670800" y="3587007"/>
            <a:ext cx="419100" cy="3914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7734300" y="4376297"/>
            <a:ext cx="419100" cy="34810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6941250" y="2846691"/>
            <a:ext cx="419100" cy="34810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6890450" y="2084690"/>
            <a:ext cx="419100" cy="34810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6845300" y="3581400"/>
            <a:ext cx="419100" cy="3914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/>
          <p:cNvSpPr/>
          <p:nvPr/>
        </p:nvSpPr>
        <p:spPr>
          <a:xfrm>
            <a:off x="6908800" y="4370690"/>
            <a:ext cx="419100" cy="34810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BFB7B82-134D-934B-B7C1-531C46310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112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139934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11" grpId="0" animBg="1"/>
      <p:bldP spid="12" grpId="0" animBg="1"/>
      <p:bldP spid="14" grpId="0" animBg="1"/>
      <p:bldP spid="16" grpId="0" animBg="1"/>
      <p:bldP spid="19" grpId="0" animBg="1"/>
      <p:bldP spid="20" grpId="0" animBg="1"/>
      <p:bldP spid="22" grpId="0" animBg="1"/>
      <p:bldP spid="24" grpId="0" animBg="1"/>
      <p:bldP spid="27" grpId="0" animBg="1"/>
      <p:bldP spid="28" grpId="0" animBg="1"/>
      <p:bldP spid="30" grpId="0" animBg="1"/>
      <p:bldP spid="32" grpId="0" animBg="1"/>
      <p:bldP spid="35" grpId="0" animBg="1"/>
      <p:bldP spid="36" grpId="0" animBg="1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80331" name="Object 11"/>
          <p:cNvGraphicFramePr>
            <a:graphicFrameLocks noGrp="1" noChangeAspect="1"/>
          </p:cNvGraphicFramePr>
          <p:nvPr>
            <p:ph idx="1"/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51458132"/>
              </p:ext>
            </p:extLst>
          </p:nvPr>
        </p:nvGraphicFramePr>
        <p:xfrm>
          <a:off x="4421188" y="1143000"/>
          <a:ext cx="3806825" cy="437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1732176" imgH="1988404" progId="Visio.Drawing.11">
                  <p:embed/>
                </p:oleObj>
              </mc:Choice>
              <mc:Fallback>
                <p:oleObj name="Visio" r:id="rId5" imgW="1732176" imgH="1988404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1188" y="1143000"/>
                        <a:ext cx="3806825" cy="4371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0324" name="Object 4"/>
          <p:cNvGraphicFramePr>
            <a:graphicFrameLocks noGrp="1" noChangeAspect="1"/>
          </p:cNvGraphicFramePr>
          <p:nvPr>
            <p:ph sz="quarter" idx="4294967295"/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935433082"/>
              </p:ext>
            </p:extLst>
          </p:nvPr>
        </p:nvGraphicFramePr>
        <p:xfrm>
          <a:off x="762000" y="914400"/>
          <a:ext cx="2819400" cy="50021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7" imgW="1177731" imgH="2088988" progId="Visio.Drawing.11">
                  <p:embed/>
                </p:oleObj>
              </mc:Choice>
              <mc:Fallback>
                <p:oleObj name="Visio" r:id="rId7" imgW="1177731" imgH="2088988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914400"/>
                        <a:ext cx="2819400" cy="500216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K-Maps with Don’t Cares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172200" y="5029200"/>
            <a:ext cx="1524000" cy="685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26F2CB0-6039-3246-A72C-7A0B59B55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113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124391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0" y="76200"/>
            <a:ext cx="9144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  <a:latin typeface="+mj-lt"/>
              </a:rPr>
              <a:t>Chapter 2: Combinational Logic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DAA03A6C-70A8-504F-B2A9-E24C66359451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0" y="2438400"/>
            <a:ext cx="9144000" cy="1600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en-US" sz="7000" b="1" dirty="0"/>
              <a:t>Combinational Building Blocks: Multiplexers</a:t>
            </a:r>
            <a:endParaRPr lang="en-US" sz="7000" dirty="0"/>
          </a:p>
          <a:p>
            <a:pPr lvl="1" algn="ctr"/>
            <a:endParaRPr lang="en-US" sz="7000" dirty="0"/>
          </a:p>
          <a:p>
            <a:pPr algn="ctr">
              <a:buFontTx/>
              <a:buNone/>
            </a:pPr>
            <a:endParaRPr lang="en-US" sz="7000" dirty="0"/>
          </a:p>
        </p:txBody>
      </p:sp>
    </p:spTree>
    <p:extLst>
      <p:ext uri="{BB962C8B-B14F-4D97-AF65-F5344CB8AC3E}">
        <p14:creationId xmlns:p14="http://schemas.microsoft.com/office/powerpoint/2010/main" val="832777142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083" name="Rectangle 3"/>
          <p:cNvSpPr>
            <a:spLocks noGrp="1" noChangeArrowheads="1"/>
          </p:cNvSpPr>
          <p:nvPr>
            <p:ph idx="1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dirty="0"/>
              <a:t>Selects between one of </a:t>
            </a:r>
            <a:r>
              <a:rPr lang="en-US" i="1" dirty="0"/>
              <a:t>N</a:t>
            </a:r>
            <a:r>
              <a:rPr lang="en-US" dirty="0"/>
              <a:t> inputs to connect to output</a:t>
            </a:r>
          </a:p>
          <a:p>
            <a:r>
              <a:rPr lang="en-US" b="1" dirty="0"/>
              <a:t>Select</a:t>
            </a:r>
            <a:r>
              <a:rPr lang="en-US" dirty="0"/>
              <a:t> input is </a:t>
            </a:r>
            <a:r>
              <a:rPr lang="en-US" b="1" dirty="0"/>
              <a:t>log</a:t>
            </a:r>
            <a:r>
              <a:rPr lang="en-US" b="1" baseline="-25000" dirty="0"/>
              <a:t>2</a:t>
            </a:r>
            <a:r>
              <a:rPr lang="en-US" b="1" i="1" dirty="0"/>
              <a:t>N</a:t>
            </a:r>
            <a:r>
              <a:rPr lang="en-US" b="1" dirty="0"/>
              <a:t> bits</a:t>
            </a:r>
            <a:r>
              <a:rPr lang="en-US" dirty="0"/>
              <a:t> – control input</a:t>
            </a:r>
          </a:p>
          <a:p>
            <a:r>
              <a:rPr lang="en-US" sz="2400" b="1" dirty="0"/>
              <a:t>Example:</a:t>
            </a:r>
            <a:r>
              <a:rPr lang="en-US" sz="2400" dirty="0"/>
              <a:t>                     </a:t>
            </a:r>
            <a:r>
              <a:rPr lang="en-US" sz="2400" b="1" dirty="0">
                <a:solidFill>
                  <a:srgbClr val="0070C0"/>
                </a:solidFill>
              </a:rPr>
              <a:t>2:1 Mux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Multiplexer (Mux)</a:t>
            </a:r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0614048"/>
              </p:ext>
            </p:extLst>
          </p:nvPr>
        </p:nvGraphicFramePr>
        <p:xfrm>
          <a:off x="2895600" y="3150263"/>
          <a:ext cx="2362200" cy="3021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1517400" imgH="1942200" progId="Visio.Drawing.6">
                  <p:embed/>
                </p:oleObj>
              </mc:Choice>
              <mc:Fallback>
                <p:oleObj name="VISIO" r:id="rId4" imgW="1517400" imgH="1942200" progId="Visio.Drawing.6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895600" y="3150263"/>
                        <a:ext cx="2362200" cy="30219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969F644-8AEF-0C44-85D4-D8016E666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115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4892575"/>
      </p:ext>
    </p:extLst>
  </p:cSld>
  <p:clrMapOvr>
    <a:masterClrMapping/>
  </p:clrMapOvr>
  <p:transition/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92614" name="Object 6"/>
          <p:cNvGraphicFramePr>
            <a:graphicFrameLocks noGrp="1" noChangeAspect="1"/>
          </p:cNvGraphicFramePr>
          <p:nvPr>
            <p:ph idx="1"/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15466231"/>
              </p:ext>
            </p:extLst>
          </p:nvPr>
        </p:nvGraphicFramePr>
        <p:xfrm>
          <a:off x="1066800" y="1828800"/>
          <a:ext cx="2743200" cy="45049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6" imgW="1774890" imgH="2914858" progId="Visio.Drawing.11">
                  <p:embed/>
                </p:oleObj>
              </mc:Choice>
              <mc:Fallback>
                <p:oleObj name="Visio" r:id="rId6" imgW="1774890" imgH="2914858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1828800"/>
                        <a:ext cx="2743200" cy="450493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92611" name="Rectangle 3"/>
          <p:cNvSpPr>
            <a:spLocks noGrp="1" noChangeArrowheads="1"/>
          </p:cNvSpPr>
          <p:nvPr>
            <p:ph type="body" sz="half" idx="4294967295"/>
            <p:custDataLst>
              <p:tags r:id="rId2"/>
            </p:custDataLst>
          </p:nvPr>
        </p:nvSpPr>
        <p:spPr>
          <a:xfrm>
            <a:off x="609600" y="858838"/>
            <a:ext cx="3810000" cy="4953000"/>
          </a:xfrm>
        </p:spPr>
        <p:txBody>
          <a:bodyPr/>
          <a:lstStyle/>
          <a:p>
            <a:r>
              <a:rPr lang="en-US" b="1" dirty="0"/>
              <a:t>Logic gates</a:t>
            </a:r>
          </a:p>
          <a:p>
            <a:pPr lvl="1"/>
            <a:r>
              <a:rPr lang="en-US" sz="2000" dirty="0"/>
              <a:t>Sum-of-products form</a:t>
            </a:r>
          </a:p>
        </p:txBody>
      </p:sp>
      <p:sp>
        <p:nvSpPr>
          <p:cNvPr id="1092616" name="Rectangle 8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4352144" y="838200"/>
            <a:ext cx="38100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b="1" dirty="0" err="1">
                <a:latin typeface="+mj-lt"/>
                <a:cs typeface="Arial" charset="0"/>
              </a:rPr>
              <a:t>Tristates</a:t>
            </a:r>
            <a:endParaRPr lang="en-US" sz="3200" b="1" dirty="0">
              <a:latin typeface="+mj-lt"/>
              <a:cs typeface="Arial" charset="0"/>
            </a:endParaRP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000" dirty="0">
                <a:latin typeface="+mj-lt"/>
                <a:cs typeface="Arial" charset="0"/>
              </a:rPr>
              <a:t>Two </a:t>
            </a:r>
            <a:r>
              <a:rPr lang="en-US" sz="2000" dirty="0" err="1">
                <a:latin typeface="+mj-lt"/>
                <a:cs typeface="Arial" charset="0"/>
              </a:rPr>
              <a:t>tristates</a:t>
            </a:r>
            <a:endParaRPr lang="en-US" sz="2000" dirty="0">
              <a:latin typeface="+mj-lt"/>
              <a:cs typeface="Arial" charset="0"/>
            </a:endParaRP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000" dirty="0">
                <a:latin typeface="+mj-lt"/>
                <a:cs typeface="Arial" charset="0"/>
              </a:rPr>
              <a:t>Turn on exactly one to select the appropriate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2:1 Multiplexer Implementations</a:t>
            </a:r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5527114"/>
              </p:ext>
            </p:extLst>
          </p:nvPr>
        </p:nvGraphicFramePr>
        <p:xfrm>
          <a:off x="5444642" y="3276600"/>
          <a:ext cx="2022958" cy="2282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8" imgW="803262" imgH="906503" progId="Visio.Drawing.11">
                  <p:embed/>
                </p:oleObj>
              </mc:Choice>
              <mc:Fallback>
                <p:oleObj name="Visio" r:id="rId8" imgW="803262" imgH="906503" progId="Visio.Drawing.1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444642" y="3276600"/>
                        <a:ext cx="2022958" cy="22828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Slide Number Placeholder 1">
            <a:extLst>
              <a:ext uri="{FF2B5EF4-FFF2-40B4-BE49-F238E27FC236}">
                <a16:creationId xmlns:a16="http://schemas.microsoft.com/office/drawing/2014/main" id="{83864184-0BAA-874B-8DB9-7C9BB3BBE939}"/>
              </a:ext>
            </a:extLst>
          </p:cNvPr>
          <p:cNvSpPr txBox="1">
            <a:spLocks/>
          </p:cNvSpPr>
          <p:nvPr/>
        </p:nvSpPr>
        <p:spPr>
          <a:xfrm>
            <a:off x="6927850" y="6477000"/>
            <a:ext cx="1739900" cy="3524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49FDE98-FD47-6140-A9A6-6873DAAB1D3D}" type="slidenum">
              <a:rPr lang="en-US" smtClean="0"/>
              <a:pPr/>
              <a:t>116</a:t>
            </a:fld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11BF0D5-78D2-C54C-9088-7B7C75E05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116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950146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4:1 Multiplexer Implementations</a:t>
            </a:r>
          </a:p>
        </p:txBody>
      </p:sp>
      <p:sp>
        <p:nvSpPr>
          <p:cNvPr id="12" name="Slide Number Placeholder 1">
            <a:extLst>
              <a:ext uri="{FF2B5EF4-FFF2-40B4-BE49-F238E27FC236}">
                <a16:creationId xmlns:a16="http://schemas.microsoft.com/office/drawing/2014/main" id="{83864184-0BAA-874B-8DB9-7C9BB3BBE939}"/>
              </a:ext>
            </a:extLst>
          </p:cNvPr>
          <p:cNvSpPr txBox="1">
            <a:spLocks/>
          </p:cNvSpPr>
          <p:nvPr/>
        </p:nvSpPr>
        <p:spPr>
          <a:xfrm>
            <a:off x="6927850" y="6477000"/>
            <a:ext cx="1739900" cy="3524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49FDE98-FD47-6140-A9A6-6873DAAB1D3D}" type="slidenum">
              <a:rPr lang="en-US" smtClean="0"/>
              <a:pPr/>
              <a:t>117</a:t>
            </a:fld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11BF0D5-78D2-C54C-9088-7B7C75E05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117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B55C842-EB3E-D543-BEB6-34911638C5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1548111"/>
            <a:ext cx="8191146" cy="470028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DE6F0AA-37D1-7D40-9FF6-447D5EEF86A3}"/>
              </a:ext>
            </a:extLst>
          </p:cNvPr>
          <p:cNvSpPr txBox="1"/>
          <p:nvPr/>
        </p:nvSpPr>
        <p:spPr>
          <a:xfrm>
            <a:off x="685800" y="970417"/>
            <a:ext cx="21490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2-Level Logic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0DFF5D8-EBB4-E448-A18F-60524379DCFF}"/>
              </a:ext>
            </a:extLst>
          </p:cNvPr>
          <p:cNvSpPr txBox="1"/>
          <p:nvPr/>
        </p:nvSpPr>
        <p:spPr>
          <a:xfrm>
            <a:off x="3733800" y="966447"/>
            <a:ext cx="21490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/>
              <a:t>Tristates</a:t>
            </a:r>
            <a:endParaRPr lang="en-US" sz="24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63D947-A08B-9147-8CCE-B75C9E9C7B4C}"/>
              </a:ext>
            </a:extLst>
          </p:cNvPr>
          <p:cNvSpPr txBox="1"/>
          <p:nvPr/>
        </p:nvSpPr>
        <p:spPr>
          <a:xfrm>
            <a:off x="6095999" y="2871176"/>
            <a:ext cx="21490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Hierarchical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63D3A52-E6DD-3B48-8B65-405657B2E9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9658" y="1088901"/>
            <a:ext cx="1420042" cy="1698978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27193E1-A817-314E-9082-E2E46F513E46}"/>
              </a:ext>
            </a:extLst>
          </p:cNvPr>
          <p:cNvSpPr txBox="1"/>
          <p:nvPr/>
        </p:nvSpPr>
        <p:spPr>
          <a:xfrm>
            <a:off x="6627005" y="813965"/>
            <a:ext cx="27056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4:1 Mux Symbol</a:t>
            </a:r>
          </a:p>
        </p:txBody>
      </p:sp>
    </p:spTree>
    <p:extLst>
      <p:ext uri="{BB962C8B-B14F-4D97-AF65-F5344CB8AC3E}">
        <p14:creationId xmlns:p14="http://schemas.microsoft.com/office/powerpoint/2010/main" val="589372105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898" name="Rectangle 10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914400" y="1143000"/>
            <a:ext cx="76962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20000"/>
              </a:spcBef>
            </a:pPr>
            <a:r>
              <a:rPr lang="en-US" sz="3200" dirty="0">
                <a:latin typeface="+mj-lt"/>
                <a:cs typeface="Arial" charset="0"/>
              </a:rPr>
              <a:t>Using mux as a </a:t>
            </a:r>
            <a:r>
              <a:rPr lang="en-US" sz="3200" b="1" dirty="0">
                <a:latin typeface="+mj-lt"/>
                <a:cs typeface="Arial" charset="0"/>
              </a:rPr>
              <a:t>lookup table</a:t>
            </a:r>
            <a:endParaRPr lang="en-US" sz="3200" b="1" dirty="0">
              <a:solidFill>
                <a:schemeClr val="accent2"/>
              </a:solidFill>
              <a:latin typeface="+mj-lt"/>
              <a:cs typeface="Arial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Logic using Multiplexers</a:t>
            </a: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0896979"/>
              </p:ext>
            </p:extLst>
          </p:nvPr>
        </p:nvGraphicFramePr>
        <p:xfrm>
          <a:off x="2133600" y="1905000"/>
          <a:ext cx="4876800" cy="3084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1601133" imgH="969680" progId="Visio.Drawing.11">
                  <p:embed/>
                </p:oleObj>
              </mc:Choice>
              <mc:Fallback>
                <p:oleObj name="Visio" r:id="rId4" imgW="1601133" imgH="969680" progId="Visio.Drawing.1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33600" y="1905000"/>
                        <a:ext cx="4876800" cy="30845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" name="Straight Connector 2"/>
          <p:cNvCxnSpPr/>
          <p:nvPr/>
        </p:nvCxnSpPr>
        <p:spPr>
          <a:xfrm>
            <a:off x="3276600" y="4572000"/>
            <a:ext cx="228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E42EC29-D6FC-4642-BB65-2E2951A14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118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1798470"/>
      </p:ext>
    </p:extLst>
  </p:cSld>
  <p:clrMapOvr>
    <a:masterClrMapping/>
  </p:clrMapOvr>
  <p:transition/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0" y="76200"/>
            <a:ext cx="9144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  <a:latin typeface="+mj-lt"/>
              </a:rPr>
              <a:t>Chapter 2: Combinational Logic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DAA03A6C-70A8-504F-B2A9-E24C66359451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0" y="2438400"/>
            <a:ext cx="9144000" cy="1600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en-US" sz="7000" b="1" dirty="0"/>
              <a:t>Combinational Building Blocks: Decoders</a:t>
            </a:r>
            <a:endParaRPr lang="en-US" sz="7000" dirty="0"/>
          </a:p>
          <a:p>
            <a:pPr lvl="1" algn="ctr"/>
            <a:endParaRPr lang="en-US" sz="7000" dirty="0"/>
          </a:p>
          <a:p>
            <a:pPr algn="ctr">
              <a:buFontTx/>
              <a:buNone/>
            </a:pPr>
            <a:endParaRPr lang="en-US" sz="7000" dirty="0"/>
          </a:p>
        </p:txBody>
      </p:sp>
    </p:spTree>
    <p:extLst>
      <p:ext uri="{BB962C8B-B14F-4D97-AF65-F5344CB8AC3E}">
        <p14:creationId xmlns:p14="http://schemas.microsoft.com/office/powerpoint/2010/main" val="235168171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35941" name="Object 5"/>
          <p:cNvGraphicFramePr>
            <a:graphicFrameLocks noGrp="1" noChangeAspect="1"/>
          </p:cNvGraphicFramePr>
          <p:nvPr>
            <p:ph idx="1"/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89304210"/>
              </p:ext>
            </p:extLst>
          </p:nvPr>
        </p:nvGraphicFramePr>
        <p:xfrm>
          <a:off x="2667000" y="2129771"/>
          <a:ext cx="3522555" cy="41948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1421985" imgH="1693718" progId="Visio.Drawing.11">
                  <p:embed/>
                </p:oleObj>
              </mc:Choice>
              <mc:Fallback>
                <p:oleObj name="Visio" r:id="rId5" imgW="1421985" imgH="1693718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2129771"/>
                        <a:ext cx="3522555" cy="419482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35940" name="Rectangle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381000" y="914400"/>
            <a:ext cx="84582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i="1" dirty="0">
                <a:latin typeface="+mj-lt"/>
                <a:cs typeface="Arial" charset="0"/>
              </a:rPr>
              <a:t>N</a:t>
            </a:r>
            <a:r>
              <a:rPr lang="en-US" sz="3200" dirty="0">
                <a:latin typeface="+mj-lt"/>
                <a:cs typeface="Arial" charset="0"/>
              </a:rPr>
              <a:t> inputs, 2</a:t>
            </a:r>
            <a:r>
              <a:rPr lang="en-US" sz="3200" i="1" baseline="30000" dirty="0">
                <a:latin typeface="+mj-lt"/>
                <a:cs typeface="Arial" charset="0"/>
              </a:rPr>
              <a:t>N</a:t>
            </a:r>
            <a:r>
              <a:rPr lang="en-US" sz="3200" dirty="0">
                <a:latin typeface="+mj-lt"/>
                <a:cs typeface="Arial" charset="0"/>
              </a:rPr>
              <a:t> outputs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b="1" dirty="0">
                <a:latin typeface="+mj-lt"/>
                <a:cs typeface="Arial" charset="0"/>
              </a:rPr>
              <a:t>One-hot outputs: </a:t>
            </a:r>
            <a:r>
              <a:rPr lang="en-US" sz="3200" dirty="0">
                <a:latin typeface="+mj-lt"/>
                <a:cs typeface="Arial" charset="0"/>
              </a:rPr>
              <a:t>only one output </a:t>
            </a:r>
            <a:r>
              <a:rPr lang="en-US" sz="3200" b="1" dirty="0">
                <a:solidFill>
                  <a:srgbClr val="FF0000"/>
                </a:solidFill>
                <a:latin typeface="+mj-lt"/>
                <a:cs typeface="Arial" charset="0"/>
              </a:rPr>
              <a:t>HIGH</a:t>
            </a:r>
            <a:r>
              <a:rPr lang="en-US" sz="3200" dirty="0">
                <a:latin typeface="+mj-lt"/>
                <a:cs typeface="Arial" charset="0"/>
              </a:rPr>
              <a:t> at once</a:t>
            </a:r>
            <a:endParaRPr lang="en-US" sz="3200" dirty="0">
              <a:solidFill>
                <a:schemeClr val="accent2"/>
              </a:solidFill>
              <a:latin typeface="+mj-lt"/>
              <a:cs typeface="Arial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Decoders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95CE3CF-36FE-F140-88BB-D99A052E5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120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3242605"/>
      </p:ext>
    </p:extLst>
  </p:cSld>
  <p:clrMapOvr>
    <a:masterClrMapping/>
  </p:clrMapOvr>
  <p:transition/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96708" name="Object 4"/>
          <p:cNvGraphicFramePr>
            <a:graphicFrameLocks noGrp="1" noChangeAspect="1"/>
          </p:cNvGraphicFramePr>
          <p:nvPr>
            <p:ph idx="1"/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9004256"/>
              </p:ext>
            </p:extLst>
          </p:nvPr>
        </p:nvGraphicFramePr>
        <p:xfrm>
          <a:off x="1828800" y="1018974"/>
          <a:ext cx="4724399" cy="50770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1872000" imgH="2011680" progId="Visio.Drawing.6">
                  <p:embed/>
                </p:oleObj>
              </mc:Choice>
              <mc:Fallback>
                <p:oleObj name="VISIO" r:id="rId4" imgW="1872000" imgH="201168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1018974"/>
                        <a:ext cx="4724399" cy="507702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Decoder Implementation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6E4085-1802-BD4C-A04E-4E7CF2F3F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121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4574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96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44133" name="Object 5"/>
          <p:cNvGraphicFramePr>
            <a:graphicFrameLocks noGrp="1" noChangeAspect="1"/>
          </p:cNvGraphicFramePr>
          <p:nvPr>
            <p:ph idx="1"/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61503493"/>
              </p:ext>
            </p:extLst>
          </p:nvPr>
        </p:nvGraphicFramePr>
        <p:xfrm>
          <a:off x="2133600" y="1905000"/>
          <a:ext cx="4395241" cy="411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1443240" imgH="1350720" progId="Visio.Drawing.6">
                  <p:embed/>
                </p:oleObj>
              </mc:Choice>
              <mc:Fallback>
                <p:oleObj name="VISIO" r:id="rId5" imgW="1443240" imgH="135072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1905000"/>
                        <a:ext cx="4395241" cy="4114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44130" name="Rectangle 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914400" y="1219200"/>
            <a:ext cx="76962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20000"/>
              </a:spcBef>
            </a:pPr>
            <a:r>
              <a:rPr lang="en-US" sz="3200" dirty="0">
                <a:latin typeface="+mj-lt"/>
                <a:cs typeface="Arial" charset="0"/>
              </a:rPr>
              <a:t>OR the </a:t>
            </a:r>
            <a:r>
              <a:rPr lang="en-US" sz="3200" dirty="0" err="1">
                <a:latin typeface="+mj-lt"/>
                <a:cs typeface="Arial" charset="0"/>
              </a:rPr>
              <a:t>minterms</a:t>
            </a:r>
            <a:r>
              <a:rPr lang="en-US" sz="3200" dirty="0">
                <a:latin typeface="+mj-lt"/>
                <a:cs typeface="Arial" charset="0"/>
              </a:rPr>
              <a:t>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Logic Using Decoders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6D5394D-9EDE-914D-9935-7E33FD047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122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4165341"/>
      </p:ext>
    </p:extLst>
  </p:cSld>
  <p:clrMapOvr>
    <a:masterClrMapping/>
  </p:clrMapOvr>
  <p:transition/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0" y="76200"/>
            <a:ext cx="9144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  <a:latin typeface="+mj-lt"/>
              </a:rPr>
              <a:t>Chapter 2: Combinational Logic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DAA03A6C-70A8-504F-B2A9-E24C66359451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0" y="2438400"/>
            <a:ext cx="9144000" cy="1600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en-US" sz="7000" b="1" dirty="0"/>
              <a:t>Timing</a:t>
            </a:r>
            <a:endParaRPr lang="en-US" sz="7000" dirty="0"/>
          </a:p>
          <a:p>
            <a:pPr lvl="1" algn="ctr"/>
            <a:endParaRPr lang="en-US" sz="7000" dirty="0"/>
          </a:p>
          <a:p>
            <a:pPr algn="ctr">
              <a:buFontTx/>
              <a:buNone/>
            </a:pPr>
            <a:endParaRPr lang="en-US" sz="7000" dirty="0"/>
          </a:p>
        </p:txBody>
      </p:sp>
    </p:spTree>
    <p:extLst>
      <p:ext uri="{BB962C8B-B14F-4D97-AF65-F5344CB8AC3E}">
        <p14:creationId xmlns:p14="http://schemas.microsoft.com/office/powerpoint/2010/main" val="503353637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46185" name="Object 9"/>
          <p:cNvGraphicFramePr>
            <a:graphicFrameLocks noGrp="1" noChangeAspect="1"/>
          </p:cNvGraphicFramePr>
          <p:nvPr>
            <p:ph idx="1"/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27029795"/>
              </p:ext>
            </p:extLst>
          </p:nvPr>
        </p:nvGraphicFramePr>
        <p:xfrm>
          <a:off x="2895600" y="2743200"/>
          <a:ext cx="3657600" cy="33798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1735560" imgH="1603080" progId="Visio.Drawing.6">
                  <p:embed/>
                </p:oleObj>
              </mc:Choice>
              <mc:Fallback>
                <p:oleObj name="VISIO" r:id="rId5" imgW="1735560" imgH="160308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2743200"/>
                        <a:ext cx="3657600" cy="337985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46178" name="Rectangle 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33400" y="990600"/>
            <a:ext cx="86106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b="1" dirty="0">
                <a:solidFill>
                  <a:srgbClr val="0070C0"/>
                </a:solidFill>
                <a:latin typeface="+mj-lt"/>
                <a:cs typeface="Arial" charset="0"/>
              </a:rPr>
              <a:t>Delay:</a:t>
            </a:r>
            <a:r>
              <a:rPr lang="en-US" sz="3200" dirty="0">
                <a:solidFill>
                  <a:srgbClr val="0070C0"/>
                </a:solidFill>
                <a:latin typeface="+mj-lt"/>
                <a:cs typeface="Arial" charset="0"/>
              </a:rPr>
              <a:t> </a:t>
            </a:r>
            <a:r>
              <a:rPr lang="en-US" sz="3200" dirty="0">
                <a:latin typeface="+mj-lt"/>
                <a:cs typeface="Arial" charset="0"/>
              </a:rPr>
              <a:t>time between input change and output changing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+mj-lt"/>
                <a:cs typeface="Arial" charset="0"/>
              </a:rPr>
              <a:t>How to build fast circuits?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Timing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12694A5-3AB1-F84F-A6CE-E38F268B8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124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4774415"/>
      </p:ext>
    </p:extLst>
  </p:cSld>
  <p:clrMapOvr>
    <a:masterClrMapping/>
  </p:clrMapOvr>
  <p:transition/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49258" name="Object 10"/>
          <p:cNvGraphicFramePr>
            <a:graphicFrameLocks noGrp="1" noChangeAspect="1"/>
          </p:cNvGraphicFramePr>
          <p:nvPr>
            <p:ph idx="1"/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19399849"/>
              </p:ext>
            </p:extLst>
          </p:nvPr>
        </p:nvGraphicFramePr>
        <p:xfrm>
          <a:off x="3200400" y="2961129"/>
          <a:ext cx="3810000" cy="35158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1768320" imgH="1631880" progId="Visio.Drawing.6">
                  <p:embed/>
                </p:oleObj>
              </mc:Choice>
              <mc:Fallback>
                <p:oleObj name="VISIO" r:id="rId5" imgW="1768320" imgH="163188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2961129"/>
                        <a:ext cx="3810000" cy="351587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49254" name="Rectangle 6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33400" y="990600"/>
            <a:ext cx="79248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b="1" dirty="0">
                <a:solidFill>
                  <a:srgbClr val="0070C0"/>
                </a:solidFill>
                <a:latin typeface="+mj-lt"/>
                <a:cs typeface="Arial" charset="0"/>
              </a:rPr>
              <a:t>Propagation delay:</a:t>
            </a:r>
            <a:r>
              <a:rPr lang="en-US" sz="3200" dirty="0">
                <a:solidFill>
                  <a:schemeClr val="accent1"/>
                </a:solidFill>
                <a:latin typeface="+mj-lt"/>
                <a:cs typeface="Arial" charset="0"/>
              </a:rPr>
              <a:t> </a:t>
            </a:r>
            <a:r>
              <a:rPr lang="en-US" sz="3200" i="1" dirty="0" err="1">
                <a:latin typeface="+mj-lt"/>
                <a:cs typeface="Arial" charset="0"/>
              </a:rPr>
              <a:t>t</a:t>
            </a:r>
            <a:r>
              <a:rPr lang="en-US" sz="3200" i="1" baseline="-25000" dirty="0" err="1">
                <a:latin typeface="+mj-lt"/>
                <a:cs typeface="Arial" charset="0"/>
              </a:rPr>
              <a:t>pd</a:t>
            </a:r>
            <a:r>
              <a:rPr lang="en-US" sz="3200" dirty="0">
                <a:latin typeface="+mj-lt"/>
                <a:cs typeface="Arial" charset="0"/>
              </a:rPr>
              <a:t> = </a:t>
            </a:r>
            <a:r>
              <a:rPr lang="en-US" sz="3200" b="1" dirty="0">
                <a:latin typeface="+mj-lt"/>
                <a:cs typeface="Arial" charset="0"/>
              </a:rPr>
              <a:t>max</a:t>
            </a:r>
            <a:r>
              <a:rPr lang="en-US" sz="3200" dirty="0">
                <a:latin typeface="+mj-lt"/>
                <a:cs typeface="Arial" charset="0"/>
              </a:rPr>
              <a:t> delay from input to output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b="1" dirty="0">
                <a:solidFill>
                  <a:schemeClr val="bg1">
                    <a:lumMod val="50000"/>
                  </a:schemeClr>
                </a:solidFill>
                <a:latin typeface="+mj-lt"/>
                <a:cs typeface="Arial" charset="0"/>
              </a:rPr>
              <a:t>Contamination delay:</a:t>
            </a:r>
            <a:r>
              <a:rPr lang="en-US" sz="3200" dirty="0">
                <a:latin typeface="+mj-lt"/>
                <a:cs typeface="Arial" charset="0"/>
              </a:rPr>
              <a:t> </a:t>
            </a:r>
            <a:r>
              <a:rPr lang="en-US" sz="3200" i="1" dirty="0" err="1">
                <a:latin typeface="+mj-lt"/>
                <a:cs typeface="Arial" charset="0"/>
              </a:rPr>
              <a:t>t</a:t>
            </a:r>
            <a:r>
              <a:rPr lang="en-US" sz="3200" i="1" baseline="-25000" dirty="0" err="1">
                <a:latin typeface="+mj-lt"/>
                <a:cs typeface="Arial" charset="0"/>
              </a:rPr>
              <a:t>cd</a:t>
            </a:r>
            <a:r>
              <a:rPr lang="en-US" sz="3200" dirty="0">
                <a:latin typeface="+mj-lt"/>
                <a:cs typeface="Arial" charset="0"/>
              </a:rPr>
              <a:t> = </a:t>
            </a:r>
            <a:r>
              <a:rPr lang="en-US" sz="3200" b="1" dirty="0">
                <a:latin typeface="+mj-lt"/>
                <a:cs typeface="Arial" charset="0"/>
              </a:rPr>
              <a:t>min</a:t>
            </a:r>
            <a:r>
              <a:rPr lang="en-US" sz="3200" dirty="0">
                <a:latin typeface="+mj-lt"/>
                <a:cs typeface="Arial" charset="0"/>
              </a:rPr>
              <a:t> delay from input to output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8759"/>
            <a:ext cx="8458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Propagation &amp; Contamination Delay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F205CC7-0F13-5C4A-AB24-C6A9174F0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125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869141"/>
      </p:ext>
    </p:extLst>
  </p:cSld>
  <p:clrMapOvr>
    <a:masterClrMapping/>
  </p:clrMapOvr>
  <p:transition/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298" name="Rectangle 2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951303" name="Rectangle 7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762000" y="1066800"/>
            <a:ext cx="76962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b="1" dirty="0">
                <a:latin typeface="+mj-lt"/>
                <a:cs typeface="Arial" charset="0"/>
              </a:rPr>
              <a:t>Delay is caused by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600" dirty="0">
                <a:latin typeface="+mj-lt"/>
                <a:cs typeface="Arial" charset="0"/>
              </a:rPr>
              <a:t>Capacitance and resistance in a circuit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600" dirty="0">
                <a:latin typeface="+mj-lt"/>
                <a:cs typeface="Arial" charset="0"/>
              </a:rPr>
              <a:t>Speed of light limitation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b="1" dirty="0">
                <a:latin typeface="+mj-lt"/>
                <a:cs typeface="Arial" charset="0"/>
              </a:rPr>
              <a:t>Reasons why </a:t>
            </a:r>
            <a:r>
              <a:rPr lang="en-US" sz="3200" b="1" i="1" dirty="0" err="1">
                <a:latin typeface="+mj-lt"/>
                <a:cs typeface="Arial" charset="0"/>
              </a:rPr>
              <a:t>t</a:t>
            </a:r>
            <a:r>
              <a:rPr lang="en-US" sz="3200" b="1" i="1" baseline="-25000" dirty="0" err="1">
                <a:latin typeface="+mj-lt"/>
                <a:cs typeface="Arial" charset="0"/>
              </a:rPr>
              <a:t>pd</a:t>
            </a:r>
            <a:r>
              <a:rPr lang="en-US" sz="3200" b="1" dirty="0">
                <a:latin typeface="+mj-lt"/>
                <a:cs typeface="Arial" charset="0"/>
              </a:rPr>
              <a:t> and </a:t>
            </a:r>
            <a:r>
              <a:rPr lang="en-US" sz="3200" b="1" i="1" dirty="0" err="1">
                <a:latin typeface="+mj-lt"/>
                <a:cs typeface="Arial" charset="0"/>
              </a:rPr>
              <a:t>t</a:t>
            </a:r>
            <a:r>
              <a:rPr lang="en-US" sz="3200" b="1" i="1" baseline="-25000" dirty="0" err="1">
                <a:latin typeface="+mj-lt"/>
                <a:cs typeface="Arial" charset="0"/>
              </a:rPr>
              <a:t>cd</a:t>
            </a:r>
            <a:r>
              <a:rPr lang="en-US" sz="3200" b="1" dirty="0">
                <a:latin typeface="+mj-lt"/>
                <a:cs typeface="Arial" charset="0"/>
              </a:rPr>
              <a:t> may be different: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600" dirty="0">
                <a:latin typeface="+mj-lt"/>
                <a:cs typeface="Arial" charset="0"/>
              </a:rPr>
              <a:t>Different rising and falling delays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600" dirty="0">
                <a:latin typeface="+mj-lt"/>
                <a:cs typeface="Arial" charset="0"/>
              </a:rPr>
              <a:t>Multiple inputs and outputs, some of which are faster than others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600" dirty="0">
                <a:latin typeface="+mj-lt"/>
                <a:cs typeface="Arial" charset="0"/>
              </a:rPr>
              <a:t>Circuits slow down when hot and speed up when cold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8759"/>
            <a:ext cx="8458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Propagation &amp; Contamination Delay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309C295-4CE5-2446-A0AB-4404A22DD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126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106470"/>
      </p:ext>
    </p:extLst>
  </p:cSld>
  <p:clrMapOvr>
    <a:masterClrMapping/>
  </p:clrMapOvr>
  <p:transition/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37990" name="Object 6"/>
          <p:cNvGraphicFramePr>
            <a:graphicFrameLocks noGrp="1" noChangeAspect="1"/>
          </p:cNvGraphicFramePr>
          <p:nvPr>
            <p:ph idx="1"/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38356298"/>
              </p:ext>
            </p:extLst>
          </p:nvPr>
        </p:nvGraphicFramePr>
        <p:xfrm>
          <a:off x="1828800" y="1085427"/>
          <a:ext cx="5791200" cy="34103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6" imgW="2000160" imgH="1178640" progId="Visio.Drawing.6">
                  <p:embed/>
                </p:oleObj>
              </mc:Choice>
              <mc:Fallback>
                <p:oleObj name="VISIO" r:id="rId6" imgW="2000160" imgH="117864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1085427"/>
                        <a:ext cx="5791200" cy="341037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37988" name="Rectangle 4" hidden="1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858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937992" name="Rectangle 8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609600" y="990600"/>
            <a:ext cx="83058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2400" dirty="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2400" dirty="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2400" dirty="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2400" dirty="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2400" dirty="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2400" dirty="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2400" dirty="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2400" dirty="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r>
              <a:rPr lang="en-US" sz="2400" dirty="0">
                <a:solidFill>
                  <a:schemeClr val="accent2"/>
                </a:solidFill>
                <a:latin typeface="Times New Roman" pitchFamily="18" charset="0"/>
                <a:cs typeface="Arial" charset="0"/>
              </a:rPr>
              <a:t>	</a:t>
            </a:r>
            <a:r>
              <a:rPr lang="en-US" sz="2400" b="1" dirty="0">
                <a:solidFill>
                  <a:srgbClr val="0070C0"/>
                </a:solidFill>
                <a:latin typeface="+mj-lt"/>
                <a:cs typeface="Arial" charset="0"/>
              </a:rPr>
              <a:t>Critical (Long) Path: </a:t>
            </a:r>
            <a:r>
              <a:rPr lang="en-US" sz="2400" i="1" dirty="0" err="1">
                <a:latin typeface="+mj-lt"/>
                <a:cs typeface="Arial" charset="0"/>
              </a:rPr>
              <a:t>t</a:t>
            </a:r>
            <a:r>
              <a:rPr lang="en-US" sz="2400" i="1" baseline="-25000" dirty="0" err="1">
                <a:latin typeface="+mj-lt"/>
                <a:cs typeface="Arial" charset="0"/>
              </a:rPr>
              <a:t>pd</a:t>
            </a:r>
            <a:r>
              <a:rPr lang="en-US" sz="2400" dirty="0">
                <a:latin typeface="+mj-lt"/>
                <a:cs typeface="Arial" charset="0"/>
              </a:rPr>
              <a:t> = 2</a:t>
            </a:r>
            <a:r>
              <a:rPr lang="en-US" sz="2400" i="1" dirty="0">
                <a:latin typeface="+mj-lt"/>
                <a:cs typeface="Arial" charset="0"/>
              </a:rPr>
              <a:t>t</a:t>
            </a:r>
            <a:r>
              <a:rPr lang="en-US" sz="2400" i="1" baseline="-25000" dirty="0">
                <a:latin typeface="+mj-lt"/>
                <a:cs typeface="Arial" charset="0"/>
              </a:rPr>
              <a:t>pd</a:t>
            </a:r>
            <a:r>
              <a:rPr lang="en-US" sz="2400" baseline="-25000" dirty="0">
                <a:latin typeface="+mj-lt"/>
                <a:cs typeface="Arial" charset="0"/>
              </a:rPr>
              <a:t>_AND</a:t>
            </a:r>
            <a:r>
              <a:rPr lang="en-US" sz="2400" dirty="0">
                <a:latin typeface="+mj-lt"/>
                <a:cs typeface="Arial" charset="0"/>
              </a:rPr>
              <a:t> + </a:t>
            </a:r>
            <a:r>
              <a:rPr lang="en-US" sz="2400" i="1" dirty="0" err="1">
                <a:latin typeface="+mj-lt"/>
                <a:cs typeface="Arial" charset="0"/>
              </a:rPr>
              <a:t>t</a:t>
            </a:r>
            <a:r>
              <a:rPr lang="en-US" sz="2400" i="1" baseline="-25000" dirty="0" err="1">
                <a:latin typeface="+mj-lt"/>
                <a:cs typeface="Arial" charset="0"/>
              </a:rPr>
              <a:t>pd</a:t>
            </a:r>
            <a:r>
              <a:rPr lang="en-US" sz="2400" baseline="-25000" dirty="0" err="1">
                <a:latin typeface="+mj-lt"/>
                <a:cs typeface="Arial" charset="0"/>
              </a:rPr>
              <a:t>_OR</a:t>
            </a:r>
            <a:r>
              <a:rPr lang="en-US" sz="2400" b="1" dirty="0">
                <a:solidFill>
                  <a:srgbClr val="0070C0"/>
                </a:solidFill>
                <a:latin typeface="+mj-lt"/>
                <a:cs typeface="Arial" charset="0"/>
              </a:rPr>
              <a:t>      </a:t>
            </a:r>
            <a:r>
              <a:rPr lang="en-US" sz="2400" b="1" dirty="0">
                <a:solidFill>
                  <a:srgbClr val="FF0000"/>
                </a:solidFill>
                <a:cs typeface="Arial" charset="0"/>
              </a:rPr>
              <a:t>(max delay)</a:t>
            </a:r>
            <a:endParaRPr lang="en-US" sz="2400" baseline="-25000" dirty="0">
              <a:solidFill>
                <a:srgbClr val="FF0000"/>
              </a:solidFill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r>
              <a:rPr lang="en-US" sz="2400" b="1" dirty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cs typeface="Arial" charset="0"/>
              </a:rPr>
              <a:t>                  </a:t>
            </a:r>
            <a:r>
              <a:rPr lang="en-US" sz="2400" b="1" dirty="0">
                <a:solidFill>
                  <a:schemeClr val="bg1">
                    <a:lumMod val="50000"/>
                  </a:schemeClr>
                </a:solidFill>
                <a:latin typeface="+mj-lt"/>
                <a:cs typeface="Arial" charset="0"/>
              </a:rPr>
              <a:t>Short Path:  </a:t>
            </a:r>
            <a:r>
              <a:rPr lang="en-US" sz="2400" i="1" dirty="0" err="1">
                <a:latin typeface="+mj-lt"/>
                <a:cs typeface="Arial" charset="0"/>
              </a:rPr>
              <a:t>t</a:t>
            </a:r>
            <a:r>
              <a:rPr lang="en-US" sz="2400" i="1" baseline="-25000" dirty="0" err="1">
                <a:latin typeface="+mj-lt"/>
                <a:cs typeface="Arial" charset="0"/>
              </a:rPr>
              <a:t>cd</a:t>
            </a:r>
            <a:r>
              <a:rPr lang="en-US" sz="2400" dirty="0">
                <a:latin typeface="+mj-lt"/>
                <a:cs typeface="Arial" charset="0"/>
              </a:rPr>
              <a:t> = </a:t>
            </a:r>
            <a:r>
              <a:rPr lang="en-US" sz="2400" i="1" dirty="0" err="1">
                <a:latin typeface="+mj-lt"/>
                <a:cs typeface="Arial" charset="0"/>
              </a:rPr>
              <a:t>t</a:t>
            </a:r>
            <a:r>
              <a:rPr lang="en-US" sz="2400" i="1" baseline="-25000" dirty="0" err="1">
                <a:latin typeface="+mj-lt"/>
                <a:cs typeface="Arial" charset="0"/>
              </a:rPr>
              <a:t>cd</a:t>
            </a:r>
            <a:r>
              <a:rPr lang="en-US" sz="2400" baseline="-25000" dirty="0" err="1">
                <a:latin typeface="+mj-lt"/>
                <a:cs typeface="Arial" charset="0"/>
              </a:rPr>
              <a:t>_AND</a:t>
            </a:r>
            <a:r>
              <a:rPr lang="en-US" sz="2400" b="1" dirty="0">
                <a:solidFill>
                  <a:srgbClr val="0070C0"/>
                </a:solidFill>
                <a:latin typeface="+mj-lt"/>
                <a:cs typeface="Arial" charset="0"/>
              </a:rPr>
              <a:t>                       </a:t>
            </a:r>
            <a:r>
              <a:rPr lang="en-US" sz="2400" b="1" dirty="0">
                <a:solidFill>
                  <a:srgbClr val="FF0000"/>
                </a:solidFill>
                <a:cs typeface="Arial" charset="0"/>
              </a:rPr>
              <a:t>(min delay)</a:t>
            </a:r>
            <a:endParaRPr lang="en-US" sz="2400" baseline="-25000" dirty="0">
              <a:solidFill>
                <a:srgbClr val="FF0000"/>
              </a:solidFill>
              <a:latin typeface="Times New Roman" pitchFamily="18" charset="0"/>
              <a:cs typeface="Arial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Critical (Long) &amp; Short Paths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8B50903-F4E4-4740-A0BB-FC21E51A4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127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3003610"/>
      </p:ext>
    </p:extLst>
  </p:cSld>
  <p:clrMapOvr>
    <a:masterClrMapping/>
  </p:clrMapOvr>
  <p:transition/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010" name="Rectangle 2" hidden="1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939016" name="Rectangle 8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466512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20000"/>
              </a:spcBef>
            </a:pPr>
            <a:r>
              <a:rPr lang="en-US" sz="3200" dirty="0">
                <a:latin typeface="+mj-lt"/>
                <a:cs typeface="Arial" charset="0"/>
              </a:rPr>
              <a:t>When a single input change causes an output to change multiple times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Glitches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21EA2F3-26B0-AF4A-804A-C06F56F13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128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7503849"/>
      </p:ext>
    </p:extLst>
  </p:cSld>
  <p:clrMapOvr>
    <a:masterClrMapping/>
  </p:clrMapOvr>
  <p:transition/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40038" name="Object 6"/>
          <p:cNvGraphicFramePr>
            <a:graphicFrameLocks noGrp="1" noChangeAspect="1"/>
          </p:cNvGraphicFramePr>
          <p:nvPr>
            <p:ph idx="1"/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97057017"/>
              </p:ext>
            </p:extLst>
          </p:nvPr>
        </p:nvGraphicFramePr>
        <p:xfrm>
          <a:off x="762000" y="1905001"/>
          <a:ext cx="4430711" cy="42534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6" imgW="2143080" imgH="2057400" progId="Visio.Drawing.6">
                  <p:embed/>
                </p:oleObj>
              </mc:Choice>
              <mc:Fallback>
                <p:oleObj name="VISIO" r:id="rId6" imgW="2143080" imgH="205740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1905001"/>
                        <a:ext cx="4430711" cy="425348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40034" name="Rectangle 2" hidden="1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940041" name="Rectangle 9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457200" y="1219200"/>
            <a:ext cx="76962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20000"/>
              </a:spcBef>
            </a:pPr>
            <a:r>
              <a:rPr lang="en-US" sz="3200" dirty="0">
                <a:latin typeface="+mj-lt"/>
                <a:cs typeface="Arial" charset="0"/>
              </a:rPr>
              <a:t>What happens when A = 0, C = 1, B falls?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76200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Glitch Example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FF0E267-A03E-8943-B74D-EBFCE5B06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129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3604069"/>
      </p:ext>
    </p:extLst>
  </p:cSld>
  <p:clrMapOvr>
    <a:masterClrMapping/>
  </p:clrMapOvr>
  <p:transition/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53347" name="Object 3"/>
          <p:cNvGraphicFramePr>
            <a:graphicFrameLocks noGrp="1" noChangeAspect="1"/>
          </p:cNvGraphicFramePr>
          <p:nvPr>
            <p:ph idx="1"/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20420405"/>
              </p:ext>
            </p:extLst>
          </p:nvPr>
        </p:nvGraphicFramePr>
        <p:xfrm>
          <a:off x="2266950" y="990600"/>
          <a:ext cx="4743450" cy="49640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2629080" imgH="2750400" progId="Visio.Drawing.6">
                  <p:embed/>
                </p:oleObj>
              </mc:Choice>
              <mc:Fallback>
                <p:oleObj name="VISIO" r:id="rId4" imgW="2629080" imgH="275040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6950" y="990600"/>
                        <a:ext cx="4743450" cy="496400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Glitch Example (cont.)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649BEEC-59E2-0645-B37A-411F8878D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130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981393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41065" name="Object 9"/>
          <p:cNvGraphicFramePr>
            <a:graphicFrameLocks noGrp="1" noChangeAspect="1"/>
          </p:cNvGraphicFramePr>
          <p:nvPr>
            <p:ph idx="1"/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38756204"/>
              </p:ext>
            </p:extLst>
          </p:nvPr>
        </p:nvGraphicFramePr>
        <p:xfrm>
          <a:off x="1915735" y="3733800"/>
          <a:ext cx="5323265" cy="236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6" imgW="2286000" imgH="1015200" progId="Visio.Drawing.6">
                  <p:embed/>
                </p:oleObj>
              </mc:Choice>
              <mc:Fallback>
                <p:oleObj name="VISIO" r:id="rId6" imgW="2286000" imgH="101520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5735" y="3733800"/>
                        <a:ext cx="5323265" cy="2362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1063" name="Object 7"/>
          <p:cNvGraphicFramePr>
            <a:graphicFrameLocks noGrp="1" noChangeAspect="1"/>
          </p:cNvGraphicFramePr>
          <p:nvPr>
            <p:ph sz="quarter" idx="4294967295"/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142392562"/>
              </p:ext>
            </p:extLst>
          </p:nvPr>
        </p:nvGraphicFramePr>
        <p:xfrm>
          <a:off x="2438400" y="962320"/>
          <a:ext cx="3581400" cy="26952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8" imgW="1746000" imgH="1314360" progId="Visio.Drawing.6">
                  <p:embed/>
                </p:oleObj>
              </mc:Choice>
              <mc:Fallback>
                <p:oleObj name="VISIO" r:id="rId8" imgW="1746000" imgH="131436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962320"/>
                        <a:ext cx="3581400" cy="26952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41058" name="Rectangle 2" hidden="1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Fixing the Glitch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233035-3064-C84D-8EC0-612A449F5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131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5389607"/>
      </p:ext>
    </p:extLst>
  </p:cSld>
  <p:clrMapOvr>
    <a:masterClrMapping/>
  </p:clrMapOvr>
  <p:transition/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394" name="Rectangle 2" hidden="1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955399" name="Text Box 7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304800" y="1371600"/>
            <a:ext cx="8382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/>
          </a:p>
        </p:txBody>
      </p:sp>
      <p:sp>
        <p:nvSpPr>
          <p:cNvPr id="955400" name="Rectangle 8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457200" y="1219200"/>
            <a:ext cx="76962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+mj-lt"/>
                <a:cs typeface="Arial" charset="0"/>
              </a:rPr>
              <a:t>Because of </a:t>
            </a:r>
            <a:r>
              <a:rPr lang="en-US" sz="3200" b="1" dirty="0">
                <a:solidFill>
                  <a:srgbClr val="0070C0"/>
                </a:solidFill>
                <a:latin typeface="+mj-lt"/>
                <a:cs typeface="Arial" charset="0"/>
              </a:rPr>
              <a:t>synchronous design</a:t>
            </a:r>
            <a:r>
              <a:rPr lang="en-US" sz="3200" dirty="0">
                <a:solidFill>
                  <a:srgbClr val="0070C0"/>
                </a:solidFill>
                <a:latin typeface="+mj-lt"/>
                <a:cs typeface="Arial" charset="0"/>
              </a:rPr>
              <a:t> </a:t>
            </a:r>
            <a:r>
              <a:rPr lang="en-US" sz="3200" dirty="0">
                <a:latin typeface="+mj-lt"/>
                <a:cs typeface="Arial" charset="0"/>
              </a:rPr>
              <a:t>conventions (see Chapter 3), </a:t>
            </a:r>
            <a:r>
              <a:rPr lang="en-US" sz="3200" dirty="0">
                <a:cs typeface="Arial" charset="0"/>
              </a:rPr>
              <a:t>glitches don’t cause problems.</a:t>
            </a:r>
            <a:endParaRPr lang="en-US" sz="3200" dirty="0">
              <a:latin typeface="+mj-lt"/>
              <a:cs typeface="Arial" charset="0"/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+mj-lt"/>
                <a:cs typeface="Arial" charset="0"/>
              </a:rPr>
              <a:t>It’s important to </a:t>
            </a:r>
            <a:r>
              <a:rPr lang="en-US" sz="3200" b="1" dirty="0">
                <a:solidFill>
                  <a:srgbClr val="0070C0"/>
                </a:solidFill>
                <a:latin typeface="+mj-lt"/>
                <a:cs typeface="Arial" charset="0"/>
              </a:rPr>
              <a:t>recognize</a:t>
            </a:r>
            <a:r>
              <a:rPr lang="en-US" sz="3200" dirty="0">
                <a:solidFill>
                  <a:srgbClr val="0070C0"/>
                </a:solidFill>
                <a:latin typeface="+mj-lt"/>
                <a:cs typeface="Arial" charset="0"/>
              </a:rPr>
              <a:t> </a:t>
            </a:r>
            <a:r>
              <a:rPr lang="en-US" sz="3200" dirty="0">
                <a:latin typeface="+mj-lt"/>
                <a:cs typeface="Arial" charset="0"/>
              </a:rPr>
              <a:t>a glitch: in simulations or on oscilloscope.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+mj-lt"/>
                <a:cs typeface="Arial" charset="0"/>
              </a:rPr>
              <a:t>We </a:t>
            </a:r>
            <a:r>
              <a:rPr lang="en-US" sz="3200" b="1" dirty="0">
                <a:solidFill>
                  <a:srgbClr val="0070C0"/>
                </a:solidFill>
                <a:latin typeface="+mj-lt"/>
                <a:cs typeface="Arial" charset="0"/>
              </a:rPr>
              <a:t>can’t get rid of all glitches</a:t>
            </a:r>
            <a:r>
              <a:rPr lang="en-US" sz="3200" dirty="0">
                <a:latin typeface="+mj-lt"/>
                <a:cs typeface="Arial" charset="0"/>
              </a:rPr>
              <a:t> – simultaneous transitions on multiple inputs can also cause glitches.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Why Understand Glitches?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01E2D32-22E6-EB42-ACE1-7C4224D15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132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6049338"/>
      </p:ext>
    </p:extLst>
  </p:cSld>
  <p:clrMapOvr>
    <a:masterClrMapping/>
  </p:clrMapOvr>
  <p:transition/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9" name="Rectangle 3"/>
          <p:cNvSpPr>
            <a:spLocks noGrp="1" noChangeArrowheads="1"/>
          </p:cNvSpPr>
          <p:nvPr>
            <p:ph type="body" idx="4294967295"/>
            <p:custDataLst>
              <p:tags r:id="rId1"/>
            </p:custDataLst>
          </p:nvPr>
        </p:nvSpPr>
        <p:spPr>
          <a:xfrm>
            <a:off x="457200" y="990600"/>
            <a:ext cx="8229600" cy="5257800"/>
          </a:xfrm>
        </p:spPr>
        <p:txBody>
          <a:bodyPr>
            <a:noAutofit/>
          </a:bodyPr>
          <a:lstStyle/>
          <a:p>
            <a:pPr marL="0" indent="0" eaLnBrk="1" hangingPunct="1">
              <a:buNone/>
            </a:pPr>
            <a:r>
              <a:rPr lang="en-US" sz="2400" b="1" dirty="0">
                <a:solidFill>
                  <a:srgbClr val="0070C0"/>
                </a:solidFill>
              </a:rPr>
              <a:t>Digital Design and Computer Architecture Lecture Notes </a:t>
            </a:r>
          </a:p>
          <a:p>
            <a:pPr marL="0" indent="0" eaLnBrk="1" hangingPunct="1">
              <a:buNone/>
            </a:pPr>
            <a:r>
              <a:rPr lang="en-US" sz="2400" b="1">
                <a:solidFill>
                  <a:srgbClr val="0070C0"/>
                </a:solidFill>
              </a:rPr>
              <a:t>© 2021 </a:t>
            </a:r>
            <a:r>
              <a:rPr lang="en-US" sz="2400" b="1" dirty="0">
                <a:solidFill>
                  <a:srgbClr val="0070C0"/>
                </a:solidFill>
              </a:rPr>
              <a:t>Sarah Harris and David Harris</a:t>
            </a:r>
          </a:p>
          <a:p>
            <a:pPr marL="0" indent="0" eaLnBrk="1" hangingPunct="1">
              <a:buNone/>
            </a:pPr>
            <a:br>
              <a:rPr lang="en-US" sz="2400" b="1" dirty="0">
                <a:solidFill>
                  <a:srgbClr val="0070C0"/>
                </a:solidFill>
              </a:rPr>
            </a:br>
            <a:r>
              <a:rPr lang="en-US" sz="2400" b="1" dirty="0">
                <a:solidFill>
                  <a:srgbClr val="0070C0"/>
                </a:solidFill>
              </a:rPr>
              <a:t>These notes may be used and modified for educational and/or non-commercial purposes so long as the source is attributed.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About these Notes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3245F26-DAF5-DC49-B18F-4CD146919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133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523399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Instructor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Instructor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Instructor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Instructor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Instructor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Instructor"/>
</p:tagLst>
</file>

<file path=ppt/tags/tag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Instructor"/>
</p:tagLst>
</file>

<file path=ppt/tags/tag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Instructor"/>
</p:tagLst>
</file>

<file path=ppt/tags/tag3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Instructor"/>
</p:tagLst>
</file>

<file path=ppt/tags/tag4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Instructor"/>
</p:tagLst>
</file>

<file path=ppt/tags/tag4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31260</TotalTime>
  <Words>6750</Words>
  <Application>Microsoft Office PowerPoint</Application>
  <PresentationFormat>On-screen Show (4:3)</PresentationFormat>
  <Paragraphs>1268</Paragraphs>
  <Slides>133</Slides>
  <Notes>133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133</vt:i4>
      </vt:variant>
    </vt:vector>
  </HeadingPairs>
  <TitlesOfParts>
    <vt:vector size="143" baseType="lpstr">
      <vt:lpstr>Arial</vt:lpstr>
      <vt:lpstr>Arial Black</vt:lpstr>
      <vt:lpstr>Calibri</vt:lpstr>
      <vt:lpstr>Cambria Math</vt:lpstr>
      <vt:lpstr>Courier New</vt:lpstr>
      <vt:lpstr>Times New Roman</vt:lpstr>
      <vt:lpstr>Wingdings</vt:lpstr>
      <vt:lpstr>Office Theme</vt:lpstr>
      <vt:lpstr>VISIO</vt:lpstr>
      <vt:lpstr>Visio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Sum-of-Products Form</vt:lpstr>
      <vt:lpstr>Sum-of-Products Form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Harvey Mudd College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DDCArv Ch2</dc:title>
  <dc:creator>sharris</dc:creator>
  <cp:lastModifiedBy>Sarah Harris</cp:lastModifiedBy>
  <cp:revision>352</cp:revision>
  <cp:lastPrinted>2020-08-24T06:03:44Z</cp:lastPrinted>
  <dcterms:created xsi:type="dcterms:W3CDTF">2012-08-07T04:56:47Z</dcterms:created>
  <dcterms:modified xsi:type="dcterms:W3CDTF">2023-07-29T03:38:19Z</dcterms:modified>
</cp:coreProperties>
</file>