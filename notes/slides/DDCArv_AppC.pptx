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ppt/tags/tag28.xml" ContentType="application/vnd.openxmlformats-officedocument.presentationml.tags+xml"/>
  <Override PartName="/ppt/notesSlides/notesSlide27.xml" ContentType="application/vnd.openxmlformats-officedocument.presentationml.notesSlide+xml"/>
  <Override PartName="/ppt/tags/tag29.xml" ContentType="application/vnd.openxmlformats-officedocument.presentationml.tags+xml"/>
  <Override PartName="/ppt/notesSlides/notesSlide28.xml" ContentType="application/vnd.openxmlformats-officedocument.presentationml.notesSlide+xml"/>
  <Override PartName="/ppt/tags/tag30.xml" ContentType="application/vnd.openxmlformats-officedocument.presentationml.tags+xml"/>
  <Override PartName="/ppt/notesSlides/notesSlide29.xml" ContentType="application/vnd.openxmlformats-officedocument.presentationml.notesSlide+xml"/>
  <Override PartName="/ppt/tags/tag31.xml" ContentType="application/vnd.openxmlformats-officedocument.presentationml.tags+xml"/>
  <Override PartName="/ppt/notesSlides/notesSlide30.xml" ContentType="application/vnd.openxmlformats-officedocument.presentationml.notesSlide+xml"/>
  <Override PartName="/ppt/tags/tag32.xml" ContentType="application/vnd.openxmlformats-officedocument.presentationml.tags+xml"/>
  <Override PartName="/ppt/notesSlides/notesSlide31.xml" ContentType="application/vnd.openxmlformats-officedocument.presentationml.notesSlide+xml"/>
  <Override PartName="/ppt/tags/tag33.xml" ContentType="application/vnd.openxmlformats-officedocument.presentationml.tags+xml"/>
  <Override PartName="/ppt/notesSlides/notesSlide32.xml" ContentType="application/vnd.openxmlformats-officedocument.presentationml.notesSlide+xml"/>
  <Override PartName="/ppt/tags/tag34.xml" ContentType="application/vnd.openxmlformats-officedocument.presentationml.tags+xml"/>
  <Override PartName="/ppt/notesSlides/notesSlide33.xml" ContentType="application/vnd.openxmlformats-officedocument.presentationml.notesSlide+xml"/>
  <Override PartName="/ppt/tags/tag35.xml" ContentType="application/vnd.openxmlformats-officedocument.presentationml.tags+xml"/>
  <Override PartName="/ppt/notesSlides/notesSlide34.xml" ContentType="application/vnd.openxmlformats-officedocument.presentationml.notesSlide+xml"/>
  <Override PartName="/ppt/tags/tag36.xml" ContentType="application/vnd.openxmlformats-officedocument.presentationml.tags+xml"/>
  <Override PartName="/ppt/notesSlides/notesSlide35.xml" ContentType="application/vnd.openxmlformats-officedocument.presentationml.notesSlide+xml"/>
  <Override PartName="/ppt/tags/tag37.xml" ContentType="application/vnd.openxmlformats-officedocument.presentationml.tags+xml"/>
  <Override PartName="/ppt/notesSlides/notesSlide36.xml" ContentType="application/vnd.openxmlformats-officedocument.presentationml.notesSlide+xml"/>
  <Override PartName="/ppt/tags/tag38.xml" ContentType="application/vnd.openxmlformats-officedocument.presentationml.tags+xml"/>
  <Override PartName="/ppt/notesSlides/notesSlide37.xml" ContentType="application/vnd.openxmlformats-officedocument.presentationml.notesSlide+xml"/>
  <Override PartName="/ppt/tags/tag39.xml" ContentType="application/vnd.openxmlformats-officedocument.presentationml.tags+xml"/>
  <Override PartName="/ppt/notesSlides/notesSlide38.xml" ContentType="application/vnd.openxmlformats-officedocument.presentationml.notesSlide+xml"/>
  <Override PartName="/ppt/tags/tag40.xml" ContentType="application/vnd.openxmlformats-officedocument.presentationml.tags+xml"/>
  <Override PartName="/ppt/notesSlides/notesSlide39.xml" ContentType="application/vnd.openxmlformats-officedocument.presentationml.notesSlide+xml"/>
  <Override PartName="/ppt/tags/tag41.xml" ContentType="application/vnd.openxmlformats-officedocument.presentationml.tags+xml"/>
  <Override PartName="/ppt/notesSlides/notesSlide40.xml" ContentType="application/vnd.openxmlformats-officedocument.presentationml.notesSlide+xml"/>
  <Override PartName="/ppt/tags/tag42.xml" ContentType="application/vnd.openxmlformats-officedocument.presentationml.tags+xml"/>
  <Override PartName="/ppt/notesSlides/notesSlide41.xml" ContentType="application/vnd.openxmlformats-officedocument.presentationml.notesSlide+xml"/>
  <Override PartName="/ppt/tags/tag43.xml" ContentType="application/vnd.openxmlformats-officedocument.presentationml.tags+xml"/>
  <Override PartName="/ppt/notesSlides/notesSlide42.xml" ContentType="application/vnd.openxmlformats-officedocument.presentationml.notesSlide+xml"/>
  <Override PartName="/ppt/tags/tag44.xml" ContentType="application/vnd.openxmlformats-officedocument.presentationml.tags+xml"/>
  <Override PartName="/ppt/notesSlides/notesSlide43.xml" ContentType="application/vnd.openxmlformats-officedocument.presentationml.notesSlide+xml"/>
  <Override PartName="/ppt/tags/tag45.xml" ContentType="application/vnd.openxmlformats-officedocument.presentationml.tags+xml"/>
  <Override PartName="/ppt/notesSlides/notesSlide44.xml" ContentType="application/vnd.openxmlformats-officedocument.presentationml.notesSlide+xml"/>
  <Override PartName="/ppt/tags/tag46.xml" ContentType="application/vnd.openxmlformats-officedocument.presentationml.tags+xml"/>
  <Override PartName="/ppt/notesSlides/notesSlide45.xml" ContentType="application/vnd.openxmlformats-officedocument.presentationml.notesSlide+xml"/>
  <Override PartName="/ppt/tags/tag47.xml" ContentType="application/vnd.openxmlformats-officedocument.presentationml.tags+xml"/>
  <Override PartName="/ppt/notesSlides/notesSlide46.xml" ContentType="application/vnd.openxmlformats-officedocument.presentationml.notesSlide+xml"/>
  <Override PartName="/ppt/tags/tag48.xml" ContentType="application/vnd.openxmlformats-officedocument.presentationml.tags+xml"/>
  <Override PartName="/ppt/notesSlides/notesSlide47.xml" ContentType="application/vnd.openxmlformats-officedocument.presentationml.notesSlide+xml"/>
  <Override PartName="/ppt/tags/tag49.xml" ContentType="application/vnd.openxmlformats-officedocument.presentationml.tags+xml"/>
  <Override PartName="/ppt/notesSlides/notesSlide48.xml" ContentType="application/vnd.openxmlformats-officedocument.presentationml.notesSlide+xml"/>
  <Override PartName="/ppt/tags/tag50.xml" ContentType="application/vnd.openxmlformats-officedocument.presentationml.tags+xml"/>
  <Override PartName="/ppt/notesSlides/notesSlide49.xml" ContentType="application/vnd.openxmlformats-officedocument.presentationml.notesSlide+xml"/>
  <Override PartName="/ppt/tags/tag51.xml" ContentType="application/vnd.openxmlformats-officedocument.presentationml.tags+xml"/>
  <Override PartName="/ppt/notesSlides/notesSlide50.xml" ContentType="application/vnd.openxmlformats-officedocument.presentationml.notesSlide+xml"/>
  <Override PartName="/ppt/tags/tag52.xml" ContentType="application/vnd.openxmlformats-officedocument.presentationml.tags+xml"/>
  <Override PartName="/ppt/notesSlides/notesSlide51.xml" ContentType="application/vnd.openxmlformats-officedocument.presentationml.notesSlide+xml"/>
  <Override PartName="/ppt/tags/tag53.xml" ContentType="application/vnd.openxmlformats-officedocument.presentationml.tags+xml"/>
  <Override PartName="/ppt/notesSlides/notesSlide52.xml" ContentType="application/vnd.openxmlformats-officedocument.presentationml.notesSlide+xml"/>
  <Override PartName="/ppt/tags/tag54.xml" ContentType="application/vnd.openxmlformats-officedocument.presentationml.tags+xml"/>
  <Override PartName="/ppt/notesSlides/notesSlide53.xml" ContentType="application/vnd.openxmlformats-officedocument.presentationml.notesSlide+xml"/>
  <Override PartName="/ppt/tags/tag55.xml" ContentType="application/vnd.openxmlformats-officedocument.presentationml.tags+xml"/>
  <Override PartName="/ppt/notesSlides/notesSlide54.xml" ContentType="application/vnd.openxmlformats-officedocument.presentationml.notesSlide+xml"/>
  <Override PartName="/ppt/tags/tag56.xml" ContentType="application/vnd.openxmlformats-officedocument.presentationml.tags+xml"/>
  <Override PartName="/ppt/notesSlides/notesSlide55.xml" ContentType="application/vnd.openxmlformats-officedocument.presentationml.notesSlide+xml"/>
  <Override PartName="/ppt/tags/tag57.xml" ContentType="application/vnd.openxmlformats-officedocument.presentationml.tags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tags/tag58.xml" ContentType="application/vnd.openxmlformats-officedocument.presentationml.tags+xml"/>
  <Override PartName="/ppt/notesSlides/notesSlide74.xml" ContentType="application/vnd.openxmlformats-officedocument.presentationml.notesSlide+xml"/>
  <Override PartName="/ppt/tags/tag59.xml" ContentType="application/vnd.openxmlformats-officedocument.presentationml.tags+xml"/>
  <Override PartName="/ppt/notesSlides/notesSlide75.xml" ContentType="application/vnd.openxmlformats-officedocument.presentationml.notesSlide+xml"/>
  <Override PartName="/ppt/tags/tag60.xml" ContentType="application/vnd.openxmlformats-officedocument.presentationml.tags+xml"/>
  <Override PartName="/ppt/notesSlides/notesSlide76.xml" ContentType="application/vnd.openxmlformats-officedocument.presentationml.notesSlide+xml"/>
  <Override PartName="/ppt/tags/tag61.xml" ContentType="application/vnd.openxmlformats-officedocument.presentationml.tags+xml"/>
  <Override PartName="/ppt/notesSlides/notesSlide77.xml" ContentType="application/vnd.openxmlformats-officedocument.presentationml.notesSlide+xml"/>
  <Override PartName="/ppt/tags/tag62.xml" ContentType="application/vnd.openxmlformats-officedocument.presentationml.tags+xml"/>
  <Override PartName="/ppt/notesSlides/notesSlide78.xml" ContentType="application/vnd.openxmlformats-officedocument.presentationml.notesSlide+xml"/>
  <Override PartName="/ppt/tags/tag63.xml" ContentType="application/vnd.openxmlformats-officedocument.presentationml.tags+xml"/>
  <Override PartName="/ppt/notesSlides/notesSlide79.xml" ContentType="application/vnd.openxmlformats-officedocument.presentationml.notesSlide+xml"/>
  <Override PartName="/ppt/tags/tag64.xml" ContentType="application/vnd.openxmlformats-officedocument.presentationml.tags+xml"/>
  <Override PartName="/ppt/notesSlides/notesSlide80.xml" ContentType="application/vnd.openxmlformats-officedocument.presentationml.notesSlide+xml"/>
  <Override PartName="/ppt/tags/tag65.xml" ContentType="application/vnd.openxmlformats-officedocument.presentationml.tags+xml"/>
  <Override PartName="/ppt/notesSlides/notesSlide81.xml" ContentType="application/vnd.openxmlformats-officedocument.presentationml.notesSlide+xml"/>
  <Override PartName="/ppt/tags/tag66.xml" ContentType="application/vnd.openxmlformats-officedocument.presentationml.tags+xml"/>
  <Override PartName="/ppt/notesSlides/notesSlide82.xml" ContentType="application/vnd.openxmlformats-officedocument.presentationml.notesSlide+xml"/>
  <Override PartName="/ppt/tags/tag67.xml" ContentType="application/vnd.openxmlformats-officedocument.presentationml.tags+xml"/>
  <Override PartName="/ppt/notesSlides/notesSlide83.xml" ContentType="application/vnd.openxmlformats-officedocument.presentationml.notesSlide+xml"/>
  <Override PartName="/ppt/tags/tag68.xml" ContentType="application/vnd.openxmlformats-officedocument.presentationml.tags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6"/>
  </p:notesMasterIdLst>
  <p:handoutMasterIdLst>
    <p:handoutMasterId r:id="rId87"/>
  </p:handoutMasterIdLst>
  <p:sldIdLst>
    <p:sldId id="386" r:id="rId2"/>
    <p:sldId id="257" r:id="rId3"/>
    <p:sldId id="385" r:id="rId4"/>
    <p:sldId id="387" r:id="rId5"/>
    <p:sldId id="1239" r:id="rId6"/>
    <p:sldId id="388" r:id="rId7"/>
    <p:sldId id="1240" r:id="rId8"/>
    <p:sldId id="389" r:id="rId9"/>
    <p:sldId id="390" r:id="rId10"/>
    <p:sldId id="391" r:id="rId11"/>
    <p:sldId id="392" r:id="rId12"/>
    <p:sldId id="1254" r:id="rId13"/>
    <p:sldId id="393" r:id="rId14"/>
    <p:sldId id="1241" r:id="rId15"/>
    <p:sldId id="394" r:id="rId16"/>
    <p:sldId id="395" r:id="rId17"/>
    <p:sldId id="396" r:id="rId18"/>
    <p:sldId id="397" r:id="rId19"/>
    <p:sldId id="398" r:id="rId20"/>
    <p:sldId id="1243" r:id="rId21"/>
    <p:sldId id="399" r:id="rId22"/>
    <p:sldId id="400" r:id="rId23"/>
    <p:sldId id="401" r:id="rId24"/>
    <p:sldId id="402" r:id="rId25"/>
    <p:sldId id="403" r:id="rId26"/>
    <p:sldId id="1255" r:id="rId27"/>
    <p:sldId id="1244" r:id="rId28"/>
    <p:sldId id="404" r:id="rId29"/>
    <p:sldId id="409" r:id="rId30"/>
    <p:sldId id="414" r:id="rId31"/>
    <p:sldId id="410" r:id="rId32"/>
    <p:sldId id="411" r:id="rId33"/>
    <p:sldId id="1245" r:id="rId34"/>
    <p:sldId id="405" r:id="rId35"/>
    <p:sldId id="412" r:id="rId36"/>
    <p:sldId id="413" r:id="rId37"/>
    <p:sldId id="415" r:id="rId38"/>
    <p:sldId id="1246" r:id="rId39"/>
    <p:sldId id="406" r:id="rId40"/>
    <p:sldId id="416" r:id="rId41"/>
    <p:sldId id="407" r:id="rId42"/>
    <p:sldId id="408" r:id="rId43"/>
    <p:sldId id="417" r:id="rId44"/>
    <p:sldId id="1247" r:id="rId45"/>
    <p:sldId id="420" r:id="rId46"/>
    <p:sldId id="421" r:id="rId47"/>
    <p:sldId id="423" r:id="rId48"/>
    <p:sldId id="424" r:id="rId49"/>
    <p:sldId id="1248" r:id="rId50"/>
    <p:sldId id="422" r:id="rId51"/>
    <p:sldId id="441" r:id="rId52"/>
    <p:sldId id="442" r:id="rId53"/>
    <p:sldId id="443" r:id="rId54"/>
    <p:sldId id="1249" r:id="rId55"/>
    <p:sldId id="444" r:id="rId56"/>
    <p:sldId id="445" r:id="rId57"/>
    <p:sldId id="446" r:id="rId58"/>
    <p:sldId id="458" r:id="rId59"/>
    <p:sldId id="459" r:id="rId60"/>
    <p:sldId id="460" r:id="rId61"/>
    <p:sldId id="447" r:id="rId62"/>
    <p:sldId id="448" r:id="rId63"/>
    <p:sldId id="449" r:id="rId64"/>
    <p:sldId id="450" r:id="rId65"/>
    <p:sldId id="451" r:id="rId66"/>
    <p:sldId id="452" r:id="rId67"/>
    <p:sldId id="453" r:id="rId68"/>
    <p:sldId id="454" r:id="rId69"/>
    <p:sldId id="455" r:id="rId70"/>
    <p:sldId id="456" r:id="rId71"/>
    <p:sldId id="457" r:id="rId72"/>
    <p:sldId id="461" r:id="rId73"/>
    <p:sldId id="467" r:id="rId74"/>
    <p:sldId id="434" r:id="rId75"/>
    <p:sldId id="1256" r:id="rId76"/>
    <p:sldId id="435" r:id="rId77"/>
    <p:sldId id="440" r:id="rId78"/>
    <p:sldId id="468" r:id="rId79"/>
    <p:sldId id="1251" r:id="rId80"/>
    <p:sldId id="439" r:id="rId81"/>
    <p:sldId id="438" r:id="rId82"/>
    <p:sldId id="469" r:id="rId83"/>
    <p:sldId id="470" r:id="rId84"/>
    <p:sldId id="757" r:id="rId8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2A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45" autoAdjust="0"/>
    <p:restoredTop sz="90877" autoAdjust="0"/>
  </p:normalViewPr>
  <p:slideViewPr>
    <p:cSldViewPr>
      <p:cViewPr varScale="1">
        <p:scale>
          <a:sx n="81" d="100"/>
          <a:sy n="81" d="100"/>
        </p:scale>
        <p:origin x="1142" y="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92" d="100"/>
          <a:sy n="192" d="100"/>
        </p:scale>
        <p:origin x="152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358DC7-2DB0-F743-B206-666BD2CB356D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B4F19-52D0-CA4D-A6ED-ADA89533F6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36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BD5E47-F045-4C01-A154-66E3997AD169}" type="datetimeFigureOut">
              <a:rPr lang="en-US" smtClean="0"/>
              <a:t>7/28/2023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EC52C-64D1-4EF5-AC14-14AF6A3FC3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810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906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13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6581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1933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045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7607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629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753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541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6920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02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135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1973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1765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5498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5544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3471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904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8609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9319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7697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933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0523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700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051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142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5817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401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148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853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600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524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3704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769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697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9207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920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1766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1210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289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031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084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324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462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45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930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46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670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47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3323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48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4512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52589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50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7824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51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9732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52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1142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53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3350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55877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55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3669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56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4889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57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4113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58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737708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59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09286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60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850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61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193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62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103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63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99080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64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7517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65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3856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66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5771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67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51116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68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7013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69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0393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70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8795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71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0787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72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3095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73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5740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74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9877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3911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76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3311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77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968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78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383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EC52C-64D1-4EF5-AC14-14AF6A3FC30C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3052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80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9286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81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34830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82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0561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E107E65D-A422-4C30-B3F0-AE1AD199FA59}" type="slidenum">
              <a:rPr lang="en-US" sz="1200">
                <a:latin typeface="Times New Roman" pitchFamily="18" charset="0"/>
              </a:rPr>
              <a:pPr eaLnBrk="1" hangingPunct="1"/>
              <a:t>83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14029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9316B91-6EC7-44FA-904A-DEB4C956EB6A}" type="slidenum">
              <a:rPr lang="en-US" sz="1200">
                <a:latin typeface="Times New Roman" pitchFamily="18" charset="0"/>
              </a:rPr>
              <a:pPr eaLnBrk="1" hangingPunct="1"/>
              <a:t>84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225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3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B95755-7905-5D42-BBB8-DA95748EB582}"/>
              </a:ext>
            </a:extLst>
          </p:cNvPr>
          <p:cNvSpPr/>
          <p:nvPr userDrawn="1"/>
        </p:nvSpPr>
        <p:spPr>
          <a:xfrm>
            <a:off x="154744" y="126608"/>
            <a:ext cx="8820443" cy="6594867"/>
          </a:xfrm>
          <a:prstGeom prst="roundRect">
            <a:avLst/>
          </a:prstGeom>
          <a:solidFill>
            <a:srgbClr val="EEAA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139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97B5FEFB-3CBA-0746-B65C-AC24D8B74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ACCF0AD-1768-4647-8DA0-B0101BAFB7A9}"/>
              </a:ext>
            </a:extLst>
          </p:cNvPr>
          <p:cNvSpPr/>
          <p:nvPr userDrawn="1"/>
        </p:nvSpPr>
        <p:spPr>
          <a:xfrm>
            <a:off x="166255" y="6356354"/>
            <a:ext cx="8811489" cy="337610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943E0AD-46FE-A640-B37A-D239E4671D92}"/>
              </a:ext>
            </a:extLst>
          </p:cNvPr>
          <p:cNvSpPr/>
          <p:nvPr userDrawn="1"/>
        </p:nvSpPr>
        <p:spPr>
          <a:xfrm>
            <a:off x="166255" y="148248"/>
            <a:ext cx="8811490" cy="689952"/>
          </a:xfrm>
          <a:prstGeom prst="roundRect">
            <a:avLst/>
          </a:prstGeom>
          <a:solidFill>
            <a:srgbClr val="EEA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7E3C682F-29F2-4FB8-9CC4-2ADC3CAD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7650" y="6324600"/>
            <a:ext cx="749300" cy="352425"/>
          </a:xfrm>
          <a:prstGeom prst="rect">
            <a:avLst/>
          </a:prstGeom>
        </p:spPr>
        <p:txBody>
          <a:bodyPr/>
          <a:lstStyle/>
          <a:p>
            <a:fld id="{E49FDE98-FD47-6140-A9A6-6873DAAB1D3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AA4915-1EEF-4637-B83B-E99CB39AA1C3}"/>
              </a:ext>
            </a:extLst>
          </p:cNvPr>
          <p:cNvSpPr txBox="1"/>
          <p:nvPr userDrawn="1"/>
        </p:nvSpPr>
        <p:spPr>
          <a:xfrm>
            <a:off x="609600" y="6369051"/>
            <a:ext cx="405764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Digital Design &amp; Computer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7677C7-83A2-407B-B998-7EB1394E6E78}"/>
              </a:ext>
            </a:extLst>
          </p:cNvPr>
          <p:cNvSpPr txBox="1"/>
          <p:nvPr userDrawn="1"/>
        </p:nvSpPr>
        <p:spPr>
          <a:xfrm>
            <a:off x="4495800" y="6369050"/>
            <a:ext cx="269124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350" b="1" i="0" dirty="0">
                <a:latin typeface="Arial Black" panose="020B0604020202020204" pitchFamily="34" charset="0"/>
                <a:cs typeface="Arial Black" panose="020B0604020202020204" pitchFamily="34" charset="0"/>
              </a:rPr>
              <a:t>Digital Building Blocks</a:t>
            </a:r>
          </a:p>
        </p:txBody>
      </p:sp>
    </p:spTree>
    <p:extLst>
      <p:ext uri="{BB962C8B-B14F-4D97-AF65-F5344CB8AC3E}">
        <p14:creationId xmlns:p14="http://schemas.microsoft.com/office/powerpoint/2010/main" val="20443080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928846"/>
            <a:ext cx="9144000" cy="929154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9144000" cy="919089"/>
          </a:xfrm>
          <a:prstGeom prst="rect">
            <a:avLst/>
          </a:prstGeom>
          <a:solidFill>
            <a:srgbClr val="231F20"/>
          </a:solidFill>
          <a:ln>
            <a:solidFill>
              <a:srgbClr val="231F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72064"/>
            <a:ext cx="990600" cy="88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5943600"/>
            <a:ext cx="773569" cy="864310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6477000" y="6248400"/>
            <a:ext cx="1981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aseline="0" dirty="0">
                <a:solidFill>
                  <a:schemeClr val="bg1"/>
                </a:solidFill>
              </a:rPr>
              <a:t>Lecture 12 &lt;</a:t>
            </a:r>
            <a:fld id="{D1B2EFE9-D440-4A3B-858C-5FEDF5DD0E10}" type="slidenum">
              <a:rPr lang="en-US" sz="1400" smtClean="0">
                <a:solidFill>
                  <a:schemeClr val="bg1"/>
                </a:solidFill>
              </a:rPr>
              <a:pPr/>
              <a:t>‹#›</a:t>
            </a:fld>
            <a:r>
              <a:rPr lang="en-US" sz="1400" dirty="0">
                <a:solidFill>
                  <a:schemeClr val="bg1"/>
                </a:solidFill>
              </a:rPr>
              <a:t>&gt; 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6248400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Digital Design and Computer Architecture:</a:t>
            </a:r>
            <a:r>
              <a:rPr lang="en-US" sz="1400" baseline="0" dirty="0">
                <a:solidFill>
                  <a:schemeClr val="bg1"/>
                </a:solidFill>
              </a:rPr>
              <a:t> ARM® Edition © 2019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264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DC021-F9C9-314B-AC84-EE91F0EEED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891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3500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hyperlink" Target="mailto:David_Harris@hmc.edu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hyperlink" Target="mailto:David_Harris@hmc.edu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Relationship Id="rId4" Type="http://schemas.openxmlformats.org/officeDocument/2006/relationships/image" Target="../media/image7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7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4" Type="http://schemas.openxmlformats.org/officeDocument/2006/relationships/image" Target="../media/image9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4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9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2895600"/>
            <a:ext cx="83058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Appendix C: 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6800" b="1" dirty="0"/>
              <a:t>C Programming</a:t>
            </a:r>
            <a:endParaRPr lang="en-US" sz="6800" dirty="0"/>
          </a:p>
          <a:p>
            <a:pPr lvl="1" algn="ctr"/>
            <a:endParaRPr lang="en-US" sz="7200" dirty="0"/>
          </a:p>
          <a:p>
            <a:pPr algn="ctr">
              <a:buFontTx/>
              <a:buNone/>
            </a:pPr>
            <a:endParaRPr lang="en-US" sz="72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E215E08-E5D1-4141-B204-0B80382DDC32}"/>
              </a:ext>
            </a:extLst>
          </p:cNvPr>
          <p:cNvSpPr/>
          <p:nvPr/>
        </p:nvSpPr>
        <p:spPr>
          <a:xfrm>
            <a:off x="1219200" y="457200"/>
            <a:ext cx="6705600" cy="2286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E0841AF-DE14-1141-8434-E0942E0D455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>
          <a:xfrm>
            <a:off x="457200" y="381000"/>
            <a:ext cx="83058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4800" b="1" dirty="0">
                <a:solidFill>
                  <a:schemeClr val="bg1"/>
                </a:solidFill>
              </a:rPr>
              <a:t>Digital Design &amp;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4800" b="1" dirty="0">
                <a:solidFill>
                  <a:schemeClr val="bg1"/>
                </a:solidFill>
              </a:rPr>
              <a:t>Computer Architecture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Sarah Harris &amp; David Harris</a:t>
            </a:r>
          </a:p>
        </p:txBody>
      </p:sp>
    </p:spTree>
    <p:extLst>
      <p:ext uri="{BB962C8B-B14F-4D97-AF65-F5344CB8AC3E}">
        <p14:creationId xmlns:p14="http://schemas.microsoft.com/office/powerpoint/2010/main" val="84145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Appendix C :: Topics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77705" y="1295400"/>
            <a:ext cx="6337495" cy="4876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 Basics</a:t>
            </a:r>
          </a:p>
          <a:p>
            <a:r>
              <a:rPr lang="en-US" dirty="0"/>
              <a:t>Functions</a:t>
            </a:r>
          </a:p>
          <a:p>
            <a:r>
              <a:rPr lang="en-US" dirty="0"/>
              <a:t>Operators</a:t>
            </a:r>
          </a:p>
          <a:p>
            <a:r>
              <a:rPr lang="en-US" dirty="0"/>
              <a:t>Control Flow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Arrays &amp; Strings</a:t>
            </a:r>
          </a:p>
          <a:p>
            <a:r>
              <a:rPr lang="en-US" dirty="0"/>
              <a:t>Structures</a:t>
            </a:r>
          </a:p>
          <a:p>
            <a:r>
              <a:rPr lang="en-US" dirty="0"/>
              <a:t>Memory</a:t>
            </a:r>
          </a:p>
          <a:p>
            <a:r>
              <a:rPr lang="en-US" dirty="0"/>
              <a:t>Pointers</a:t>
            </a:r>
          </a:p>
          <a:p>
            <a:r>
              <a:rPr lang="en-US" dirty="0"/>
              <a:t>Dynamic Memory Allocation</a:t>
            </a:r>
          </a:p>
          <a:p>
            <a:endParaRPr lang="en-US" dirty="0"/>
          </a:p>
          <a:p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106C12-173A-4C40-8FA5-A43995836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1296649"/>
            <a:ext cx="1600200" cy="429360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62714-D77D-584A-AEB3-65A0C2B4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718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Overview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77705" y="1295400"/>
            <a:ext cx="7785295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 programming language developed at Bell Labs around 1973</a:t>
            </a:r>
          </a:p>
          <a:p>
            <a:r>
              <a:rPr lang="en-US" dirty="0"/>
              <a:t>Capable of controlling a computer to do nearly anything, including directly interacting with the hardware</a:t>
            </a:r>
          </a:p>
          <a:p>
            <a:r>
              <a:rPr lang="en-US" dirty="0"/>
              <a:t>Suitable for generating high performance code</a:t>
            </a:r>
          </a:p>
          <a:p>
            <a:r>
              <a:rPr lang="en-US" dirty="0"/>
              <a:t>Relatively easy to use</a:t>
            </a:r>
          </a:p>
          <a:p>
            <a:r>
              <a:rPr lang="en-US" dirty="0"/>
              <a:t>Available from supercomputers to microcontrollers</a:t>
            </a:r>
          </a:p>
          <a:p>
            <a:r>
              <a:rPr lang="en-US" dirty="0"/>
              <a:t>Closely related to other important languages including C++, C#, Objective C, Java, Arduino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FBB107-6850-5749-B800-01E993C14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265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 is Libertarian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77705" y="1295400"/>
            <a:ext cx="778529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Lets you do just about anything</a:t>
            </a:r>
          </a:p>
          <a:p>
            <a:r>
              <a:rPr lang="en-US" dirty="0"/>
              <a:t>Interacts directly with the hardware</a:t>
            </a:r>
          </a:p>
          <a:p>
            <a:r>
              <a:rPr lang="en-US" dirty="0"/>
              <a:t>Does NOT protect you from your own stupidity</a:t>
            </a:r>
          </a:p>
          <a:p>
            <a:r>
              <a:rPr lang="en-US" dirty="0"/>
              <a:t>Assumes YOU know the size of arrays and variables</a:t>
            </a:r>
          </a:p>
          <a:p>
            <a:r>
              <a:rPr lang="en-US" dirty="0"/>
              <a:t>Unless sandboxed, can write ANYWHERE in memory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F65437-F7BE-1749-BC91-B73DFC935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937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77705" y="1295400"/>
            <a:ext cx="740429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factorial.c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David_Harris@hmc.edu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22 October 2019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 fact(int n)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if (n &lt;= 1) return 1;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else return n*fact(n-1);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 {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int result;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result = fact(4);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GB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F389AF-5799-F943-9259-0781A3A44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074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Steps to C Programming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977705" y="1295400"/>
            <a:ext cx="778529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Write code</a:t>
            </a:r>
          </a:p>
          <a:p>
            <a:r>
              <a:rPr lang="en-US" dirty="0"/>
              <a:t>Compile code</a:t>
            </a:r>
          </a:p>
          <a:p>
            <a:r>
              <a:rPr lang="en-US" dirty="0"/>
              <a:t>Execute code</a:t>
            </a:r>
          </a:p>
          <a:p>
            <a:r>
              <a:rPr lang="en-US" dirty="0"/>
              <a:t>Debug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1F327A-5C42-224F-99D8-E8A1025C0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902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Appendix C: C Programming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 Basics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40706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Comments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Single-line comments begin with “//” and continue to the end of the line.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x += 2; //This is a single-line comment.</a:t>
            </a:r>
          </a:p>
          <a:p>
            <a:endParaRPr lang="en-US" dirty="0"/>
          </a:p>
          <a:p>
            <a:r>
              <a:rPr lang="en-US" dirty="0"/>
              <a:t>Multi-line comments begin with “/*” end with “*/”.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/* You can hide or disable a section of code such as this block with a multi-line comment 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	x = bob ? x : y;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	y -= 5;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*/</a:t>
            </a:r>
          </a:p>
          <a:p>
            <a:r>
              <a:rPr lang="en-US" dirty="0">
                <a:latin typeface="Calibri" panose="020F0502020204030204" pitchFamily="34" charset="0"/>
                <a:ea typeface="Andale Mono" charset="0"/>
                <a:cs typeface="Calibri" panose="020F0502020204030204" pitchFamily="34" charset="0"/>
              </a:rPr>
              <a:t>Always start code with the file name, your name, email, and date.  This gives you copyright ownership &amp; helps the next programmer track you down.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128AD0-604E-0E4F-A223-9F71A83B5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634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Constants, Defines, or Macros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Constants are named using the </a:t>
            </a: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#define</a:t>
            </a:r>
            <a:r>
              <a:rPr lang="en-US" dirty="0"/>
              <a:t> directive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#define MAXGUESSES 5 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#define PI 3.14159</a:t>
            </a:r>
          </a:p>
          <a:p>
            <a:r>
              <a:rPr lang="en-US" dirty="0"/>
              <a:t>The # indicates that this line in the program will be handled by the preprocessor.</a:t>
            </a:r>
          </a:p>
          <a:p>
            <a:r>
              <a:rPr lang="en-US" dirty="0"/>
              <a:t>Before compilation, the preprocessor replaces each occurrence of the identifier MAXGUESSES in the program with 5.</a:t>
            </a:r>
          </a:p>
          <a:p>
            <a:r>
              <a:rPr lang="en-US" dirty="0"/>
              <a:t>By convention, </a:t>
            </a: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#define </a:t>
            </a:r>
            <a:r>
              <a:rPr lang="en-US" dirty="0"/>
              <a:t>lines are located at the top of the file and identifiers are written in all capital letters.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70624F-11FC-BE41-B23D-68A8CCA87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601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Global and Local Variables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Global variables are declared outside of any function </a:t>
            </a:r>
          </a:p>
          <a:p>
            <a:pPr lvl="1"/>
            <a:r>
              <a:rPr lang="en-US" dirty="0"/>
              <a:t>Accessible from all functions</a:t>
            </a:r>
          </a:p>
          <a:p>
            <a:pPr lvl="1"/>
            <a:r>
              <a:rPr lang="en-US" dirty="0"/>
              <a:t>Often lead to hard-to-debug code</a:t>
            </a:r>
          </a:p>
          <a:p>
            <a:pPr lvl="1"/>
            <a:r>
              <a:rPr lang="en-US" dirty="0"/>
              <a:t>Should be avoided, especially in large programs</a:t>
            </a:r>
          </a:p>
          <a:p>
            <a:r>
              <a:rPr lang="en-US" dirty="0"/>
              <a:t>Local variables are declared inside a function</a:t>
            </a:r>
          </a:p>
          <a:p>
            <a:pPr lvl="1"/>
            <a:r>
              <a:rPr lang="en-US" dirty="0"/>
              <a:t>Only accessible in that function</a:t>
            </a:r>
          </a:p>
          <a:p>
            <a:pPr lvl="1"/>
            <a:r>
              <a:rPr lang="en-US" dirty="0"/>
              <a:t>Should be your preferred choice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880701-E220-C64D-B24C-21CEAEBE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285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Primitive Data Types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8F8A0F-71B8-D94C-9239-0419068F412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41232"/>
            <a:ext cx="8458201" cy="467376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359951-0652-7646-8DD9-3C2289F39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199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Integer Sizes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Integer sizes in C may vary with the machine</a:t>
            </a:r>
          </a:p>
          <a:p>
            <a:pPr lvl="1"/>
            <a:r>
              <a:rPr lang="en-US" dirty="0"/>
              <a:t>int may be 16 or 32 bits</a:t>
            </a:r>
          </a:p>
          <a:p>
            <a:pPr lvl="1"/>
            <a:r>
              <a:rPr lang="en-US" dirty="0"/>
              <a:t>long may be 32 or 64 bits</a:t>
            </a:r>
          </a:p>
          <a:p>
            <a:pPr lvl="1"/>
            <a:r>
              <a:rPr lang="en-US" dirty="0"/>
              <a:t>Best to use sized types if size truly matters</a:t>
            </a:r>
          </a:p>
          <a:p>
            <a:pPr lvl="1"/>
            <a:r>
              <a:rPr lang="en-US" dirty="0"/>
              <a:t>But their names are a bit cumbersome</a:t>
            </a:r>
          </a:p>
          <a:p>
            <a:pPr lvl="1"/>
            <a:r>
              <a:rPr lang="en-US" dirty="0"/>
              <a:t>#include &lt;stdint.h&gt;</a:t>
            </a:r>
          </a:p>
          <a:p>
            <a:r>
              <a:rPr lang="en-US" dirty="0"/>
              <a:t>Signed: 		int16_t, int32_t, int64_t</a:t>
            </a:r>
          </a:p>
          <a:p>
            <a:r>
              <a:rPr lang="en-US" dirty="0"/>
              <a:t>Unsigned: 	uint16_t, uint32_t, uint64_t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880701-E220-C64D-B24C-21CEAEBE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602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989F00-861D-F141-8DA5-625D500376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711" y="914399"/>
            <a:ext cx="6511837" cy="52879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ASCII Table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D4A070-27BF-F04B-8902-C6835B8D62E5}"/>
              </a:ext>
            </a:extLst>
          </p:cNvPr>
          <p:cNvSpPr/>
          <p:nvPr/>
        </p:nvSpPr>
        <p:spPr>
          <a:xfrm>
            <a:off x="5105400" y="541020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https://commons.wikimedia.org/wiki/File:ASCII-Table.svg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42B88-108C-DD49-BD66-D501F5BA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940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Appendix C: C Programming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Functions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796169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724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function may take some inputs and may return at most one output</a:t>
            </a:r>
          </a:p>
          <a:p>
            <a:r>
              <a:rPr lang="en-US" dirty="0"/>
              <a:t>The type of the inputs is declared in the function declaration</a:t>
            </a:r>
          </a:p>
          <a:p>
            <a:r>
              <a:rPr lang="en-US" dirty="0"/>
              <a:t>Functions pass variables by </a:t>
            </a:r>
            <a:r>
              <a:rPr lang="en-US" i="1" dirty="0"/>
              <a:t>value</a:t>
            </a:r>
            <a:r>
              <a:rPr lang="en-US" dirty="0"/>
              <a:t> not </a:t>
            </a:r>
            <a:r>
              <a:rPr lang="en-US" i="1" dirty="0"/>
              <a:t>reference</a:t>
            </a:r>
            <a:endParaRPr lang="en-US" dirty="0"/>
          </a:p>
          <a:p>
            <a:r>
              <a:rPr lang="en-US" dirty="0"/>
              <a:t>Curly braces {} enclose the body of the function, which may contain zero or more statements</a:t>
            </a:r>
          </a:p>
          <a:p>
            <a:r>
              <a:rPr lang="en-US" dirty="0"/>
              <a:t>The type of returned value is declared in the function declaration</a:t>
            </a:r>
          </a:p>
          <a:p>
            <a:r>
              <a:rPr lang="en-US" dirty="0"/>
              <a:t>The return statement indicates the value that the function should return to its caller</a:t>
            </a:r>
          </a:p>
          <a:p>
            <a:r>
              <a:rPr lang="en-US" dirty="0"/>
              <a:t>A function must be either declared BEFORE it is used or a function prototype declared BEFORE it is used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287BDE-BC89-EE41-A779-FA7448013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125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// Return the sum of the three input variables</a:t>
            </a:r>
          </a:p>
          <a:p>
            <a:pPr marL="0" indent="0">
              <a:buNone/>
            </a:pPr>
            <a:endParaRPr lang="en-US" sz="2000" dirty="0">
              <a:latin typeface="Andale Mono" charset="0"/>
              <a:ea typeface="Andale Mono" charset="0"/>
              <a:cs typeface="Andale Mono" charset="0"/>
            </a:endParaRPr>
          </a:p>
          <a:p>
            <a:pPr marL="0" indent="0">
              <a:buNone/>
            </a:pP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int sum3(int a, int b, int c) { </a:t>
            </a:r>
          </a:p>
          <a:p>
            <a:pPr marL="0" indent="0">
              <a:buNone/>
            </a:pP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 int result = a + b + c; </a:t>
            </a:r>
          </a:p>
          <a:p>
            <a:pPr marL="0" indent="0">
              <a:buNone/>
            </a:pP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 return result;</a:t>
            </a:r>
          </a:p>
          <a:p>
            <a:pPr marL="0" indent="0">
              <a:buNone/>
            </a:pP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}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228FBA-4231-9F42-ACBE-9E1B641E8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356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Function Prototypes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sum3example.c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David_Harris@hmc.edu</a:t>
            </a: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22 October 2019</a:t>
            </a: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////////////////////////////////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Prototypes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////////////////////////////////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int sum3(int, int, int); // needed because sum3 is called before declared</a:t>
            </a: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////////////////////////////////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main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////////////////////////////////</a:t>
            </a: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 {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int answer;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 answer = sum3(6, 7, 8);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////////////////////////////////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other functions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 prototype not needed if these were moved before main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////////////////////////////////</a:t>
            </a:r>
          </a:p>
          <a:p>
            <a:pPr marL="0" indent="0">
              <a:buNone/>
            </a:pPr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int sum3(int a, int b, int c) {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  int result = a + b + c; 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  return result;</a:t>
            </a:r>
          </a:p>
          <a:p>
            <a:pPr marL="0" indent="0">
              <a:buNone/>
            </a:pPr>
            <a:r>
              <a:rPr lang="en-US" sz="10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A04C31-DE11-CC44-807A-6CA018355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743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853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+mj-lt"/>
              </a:rPr>
              <a:t>Prototypes are Sometimes Unavoidable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724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Prototypes needed for f1 and/or f2 because they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can’t both be declared before each other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f1(int);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f2(int);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f1(int n) {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f2(n-1) + 1;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f2(int n) {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f1(n-1)*2;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 {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int answer;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answer = f1(5);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C0783E-D2E3-114B-9259-5226C29DD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732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Includes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function prototypes for the standard libraries are included at the top of a file with the </a:t>
            </a: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#include </a:t>
            </a:r>
            <a:r>
              <a:rPr lang="en-US" dirty="0"/>
              <a:t>directive:</a:t>
            </a:r>
          </a:p>
          <a:p>
            <a:pPr marL="457200" lvl="1" indent="0">
              <a:buNone/>
            </a:pPr>
            <a:r>
              <a:rPr lang="en-US" dirty="0"/>
              <a:t>   </a:t>
            </a: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#include &lt;stdio.h&gt; 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   #include &lt;</a:t>
            </a:r>
            <a:r>
              <a:rPr lang="en-US" dirty="0" err="1">
                <a:latin typeface="Andale Mono" charset="0"/>
                <a:ea typeface="Andale Mono" charset="0"/>
                <a:cs typeface="Andale Mono" charset="0"/>
              </a:rPr>
              <a:t>math.h</a:t>
            </a: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&gt; </a:t>
            </a:r>
          </a:p>
          <a:p>
            <a:endParaRPr lang="en-US" dirty="0"/>
          </a:p>
          <a:p>
            <a:r>
              <a:rPr lang="en-US" dirty="0"/>
              <a:t>Your own function prototypes (or anything else you want to include) is done with quotes instead of brackets for relative or absolute path:</a:t>
            </a:r>
          </a:p>
          <a:p>
            <a:pPr marL="457200" lvl="1" indent="0">
              <a:buNone/>
            </a:pPr>
            <a:r>
              <a:rPr lang="en-US" dirty="0"/>
              <a:t>e.g., </a:t>
            </a: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#include "other/</a:t>
            </a:r>
            <a:r>
              <a:rPr lang="en-US" dirty="0" err="1">
                <a:latin typeface="Andale Mono" charset="0"/>
                <a:ea typeface="Andale Mono" charset="0"/>
                <a:cs typeface="Andale Mono" charset="0"/>
              </a:rPr>
              <a:t>myFuncs.h</a:t>
            </a: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"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D5CC8-E5C3-8841-8C92-9D02AD346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10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Appendix C: C Programming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Operators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683841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Boolean (True/False) in C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A variable or expression is considered FALSE if its value is 0</a:t>
            </a:r>
          </a:p>
          <a:p>
            <a:r>
              <a:rPr lang="en-US" sz="2800" dirty="0"/>
              <a:t>A variable is considered TRUE if it has any other value</a:t>
            </a:r>
          </a:p>
          <a:p>
            <a:pPr lvl="1"/>
            <a:r>
              <a:rPr lang="en-US" sz="2400" dirty="0"/>
              <a:t>1, 42, and -1 are all TRUE for C</a:t>
            </a:r>
          </a:p>
          <a:p>
            <a:r>
              <a:rPr lang="en-US" sz="2800" dirty="0"/>
              <a:t>Logical operators assign FALSE as 0 and TRUE as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2B19A-6C7B-A64B-92E2-E52FAE5E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3148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Operators and Precedence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1110B-9D0E-304D-994D-B77B65F2B353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258" b="50536"/>
          <a:stretch/>
        </p:blipFill>
        <p:spPr bwMode="auto">
          <a:xfrm>
            <a:off x="43125" y="1070854"/>
            <a:ext cx="9133952" cy="475050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117C52-D96E-F34D-99D5-90F62F064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89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Operators Continued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CA157C-447F-2E48-B5AC-FF350DED5F4D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" t="49464"/>
          <a:stretch/>
        </p:blipFill>
        <p:spPr bwMode="auto">
          <a:xfrm>
            <a:off x="48300" y="1124474"/>
            <a:ext cx="9123601" cy="486781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30512F-9EC2-4743-881D-C52ABB2E6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3957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Operators Continued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1B1B8F-F3B7-4C4C-B110-1BF0C360D9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1" t="13583" r="7089" b="64439"/>
          <a:stretch/>
        </p:blipFill>
        <p:spPr>
          <a:xfrm>
            <a:off x="-228600" y="1066800"/>
            <a:ext cx="9372600" cy="318795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8EC39E-740F-5A49-9031-656DB539E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019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Operators Continued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A9A7A8-6F3F-E643-8EA0-D1D3333F092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6" t="35561" r="7689" b="35574"/>
          <a:stretch/>
        </p:blipFill>
        <p:spPr>
          <a:xfrm>
            <a:off x="304800" y="1143000"/>
            <a:ext cx="8774210" cy="40386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0815FC-395C-004B-B6A6-B42D8687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020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a = 42;</a:t>
            </a:r>
          </a:p>
          <a:p>
            <a:pPr marL="0" indent="0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b = 0x15; 		// hexadecimal; = 21 in decimal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char c = 0b00001010; 	// binary; = 10 in decimal</a:t>
            </a:r>
          </a:p>
          <a:p>
            <a:pPr marL="0" indent="0">
              <a:buNone/>
            </a:pP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char d = !c; 			// 0, because c was nonzero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char e = ~c; 			// 0b11110101 bitwise NOT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char f = e | c; 		// 0b11111111 bitwise OR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char g = c &lt;&lt; 2; 		// 0b00101000 shift left by 2</a:t>
            </a:r>
          </a:p>
          <a:p>
            <a:pPr marL="0" indent="0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h = (a &gt; b); 		// 1 because a is greater than b</a:t>
            </a:r>
          </a:p>
          <a:p>
            <a:pPr marL="0" indent="0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(a &gt; b)&amp;&amp;(c != e);	// 1 because both are TRUE</a:t>
            </a:r>
          </a:p>
          <a:p>
            <a:pPr marL="0" indent="0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j = (a &gt; b) ? a : b; 	// 42 because a &gt; b</a:t>
            </a:r>
          </a:p>
          <a:p>
            <a:pPr marL="0" indent="0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k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(a); 		// 4 on most computers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g &amp;= c; 			// 0b00001000 bitwise 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02B19A-6C7B-A64B-92E2-E52FAE5EB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511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Appendix C: C Programming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Control Flow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810244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Control Flow Statements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62BE63-ADBB-BE44-8834-1193B87EE2FD}"/>
              </a:ext>
            </a:extLst>
          </p:cNvPr>
          <p:cNvSpPr/>
          <p:nvPr/>
        </p:nvSpPr>
        <p:spPr>
          <a:xfrm>
            <a:off x="457200" y="914400"/>
            <a:ext cx="8299555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if</a:t>
            </a:r>
          </a:p>
          <a:p>
            <a:pPr lvl="1"/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if (expression)</a:t>
            </a:r>
          </a:p>
          <a:p>
            <a:pPr lvl="1"/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statement; </a:t>
            </a:r>
          </a:p>
          <a:p>
            <a:endParaRPr lang="en-US" sz="2000" dirty="0"/>
          </a:p>
          <a:p>
            <a:r>
              <a:rPr lang="en-US" sz="2000" dirty="0"/>
              <a:t>if/else</a:t>
            </a:r>
          </a:p>
          <a:p>
            <a:pPr lvl="1"/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if (expression)</a:t>
            </a:r>
          </a:p>
          <a:p>
            <a:pPr lvl="1"/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statement1; </a:t>
            </a:r>
          </a:p>
          <a:p>
            <a:pPr lvl="1"/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else</a:t>
            </a:r>
          </a:p>
          <a:p>
            <a:pPr lvl="1"/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statement2;</a:t>
            </a:r>
          </a:p>
          <a:p>
            <a:pPr lvl="1"/>
            <a:endParaRPr lang="en-US" sz="1600" dirty="0">
              <a:latin typeface="Andale Mono" charset="0"/>
              <a:ea typeface="Andale Mono" charset="0"/>
              <a:cs typeface="Andale Mono" charset="0"/>
            </a:endParaRPr>
          </a:p>
          <a:p>
            <a:r>
              <a:rPr lang="en-US" sz="2000" dirty="0"/>
              <a:t>switch/case</a:t>
            </a:r>
            <a:endParaRPr lang="en-US" sz="1400" dirty="0"/>
          </a:p>
          <a:p>
            <a:pPr lvl="1"/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switch (variable) {</a:t>
            </a:r>
            <a:br>
              <a:rPr lang="en-US" sz="1600" dirty="0">
                <a:latin typeface="Andale Mono" charset="0"/>
                <a:ea typeface="Andale Mono" charset="0"/>
                <a:cs typeface="Andale Mono" charset="0"/>
              </a:rPr>
            </a:b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case (expression1): statement1; break;</a:t>
            </a:r>
          </a:p>
          <a:p>
            <a:pPr lvl="1"/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case (expression2): statement2; break;</a:t>
            </a:r>
          </a:p>
          <a:p>
            <a:pPr lvl="1"/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case (expression3): statement3; break;</a:t>
            </a:r>
          </a:p>
          <a:p>
            <a:pPr lvl="1"/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default: statement4;</a:t>
            </a:r>
          </a:p>
          <a:p>
            <a:pPr lvl="1"/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} </a:t>
            </a:r>
          </a:p>
          <a:p>
            <a:endParaRPr lang="en-US" sz="1400" dirty="0"/>
          </a:p>
          <a:p>
            <a:r>
              <a:rPr lang="en-US" sz="2000" dirty="0"/>
              <a:t>Don’t forget “break” or “default”</a:t>
            </a:r>
            <a:endParaRPr lang="en-US" sz="1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4454F-E74B-F749-9BA8-F8D7D2E3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008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If 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62BE63-ADBB-BE44-8834-1193B87EE2FD}"/>
              </a:ext>
            </a:extLst>
          </p:cNvPr>
          <p:cNvSpPr/>
          <p:nvPr/>
        </p:nvSpPr>
        <p:spPr>
          <a:xfrm>
            <a:off x="457200" y="1095345"/>
            <a:ext cx="82995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(n &lt;= 1) return 1;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FE08E6-F290-9E41-9923-4683B6CCE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324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Compound Statements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62BE63-ADBB-BE44-8834-1193B87EE2FD}"/>
              </a:ext>
            </a:extLst>
          </p:cNvPr>
          <p:cNvSpPr/>
          <p:nvPr/>
        </p:nvSpPr>
        <p:spPr>
          <a:xfrm>
            <a:off x="457200" y="1095345"/>
            <a:ext cx="8299555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When a statement has more than one line, enclose it in {}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(answer == 42) {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ultimateQuestion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hitchhikersGuide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1;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77339-FF2A-7144-AE10-BC164F70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7514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If/else 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62BE63-ADBB-BE44-8834-1193B87EE2FD}"/>
              </a:ext>
            </a:extLst>
          </p:cNvPr>
          <p:cNvSpPr/>
          <p:nvPr/>
        </p:nvSpPr>
        <p:spPr>
          <a:xfrm>
            <a:off x="457200" y="1095345"/>
            <a:ext cx="829955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(n &lt;= 1) return 1;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else        return fact(n-1);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B4EE5C-DA31-3D4C-BE57-20F96E64D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3772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Switch/case 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62BE63-ADBB-BE44-8834-1193B87EE2FD}"/>
              </a:ext>
            </a:extLst>
          </p:cNvPr>
          <p:cNvSpPr/>
          <p:nvPr/>
        </p:nvSpPr>
        <p:spPr>
          <a:xfrm>
            <a:off x="457200" y="1095345"/>
            <a:ext cx="829955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16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switch (state) {</a:t>
            </a:r>
            <a:br>
              <a:rPr lang="en-US" sz="16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</a:br>
            <a:r>
              <a:rPr lang="en-US" sz="16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  case (0): if (ta) state = 0; else state = 1; break;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  case (1): state = 2; break;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  case (2): if (</a:t>
            </a:r>
            <a:r>
              <a:rPr lang="en-US" sz="1600" dirty="0" err="1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tb</a:t>
            </a:r>
            <a:r>
              <a:rPr lang="en-US" sz="16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) state = 2; else state = 3; break;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  case (3): state = 0; break;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  default:  state = 0;</a:t>
            </a:r>
          </a:p>
          <a:p>
            <a:pPr lvl="1"/>
            <a:r>
              <a:rPr lang="en-US" sz="1600" dirty="0">
                <a:latin typeface="Courier New" panose="02070309020205020404" pitchFamily="49" charset="0"/>
                <a:ea typeface="Andale Mono" charset="0"/>
                <a:cs typeface="Courier New" panose="02070309020205020404" pitchFamily="49" charset="0"/>
              </a:rPr>
              <a:t>}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BB89B1-1B8F-FE47-A5E7-24182F888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943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Appendix C: C Programming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Loops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7276465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Loops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809891-678F-3C4E-9C76-BFA2625BD561}"/>
              </a:ext>
            </a:extLst>
          </p:cNvPr>
          <p:cNvSpPr/>
          <p:nvPr/>
        </p:nvSpPr>
        <p:spPr>
          <a:xfrm>
            <a:off x="457200" y="1143000"/>
            <a:ext cx="76962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while</a:t>
            </a:r>
          </a:p>
          <a:p>
            <a:pPr lvl="1"/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while (condition)</a:t>
            </a:r>
          </a:p>
          <a:p>
            <a:pPr lvl="1"/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  statement;</a:t>
            </a:r>
          </a:p>
          <a:p>
            <a:endParaRPr lang="en-US" dirty="0"/>
          </a:p>
          <a:p>
            <a:r>
              <a:rPr lang="en-US" dirty="0"/>
              <a:t>do/while</a:t>
            </a:r>
          </a:p>
          <a:p>
            <a:pPr lvl="1"/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do {</a:t>
            </a:r>
          </a:p>
          <a:p>
            <a:pPr lvl="1"/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  statement;</a:t>
            </a:r>
          </a:p>
          <a:p>
            <a:pPr lvl="1"/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} while (condition); </a:t>
            </a:r>
          </a:p>
          <a:p>
            <a:pPr lvl="1"/>
            <a:endParaRPr lang="en-US" dirty="0">
              <a:latin typeface="Andale Mono" charset="0"/>
              <a:ea typeface="Andale Mono" charset="0"/>
              <a:cs typeface="Andale Mono" charset="0"/>
            </a:endParaRPr>
          </a:p>
          <a:p>
            <a:r>
              <a:rPr lang="en-US" dirty="0"/>
              <a:t>for</a:t>
            </a:r>
          </a:p>
          <a:p>
            <a:pPr lvl="1"/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for (initialization; condition; loop operation)</a:t>
            </a:r>
          </a:p>
          <a:p>
            <a:pPr lvl="1"/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  statement;</a:t>
            </a:r>
          </a:p>
          <a:p>
            <a:pPr lvl="1"/>
            <a:endParaRPr lang="en-US" dirty="0">
              <a:latin typeface="Andale Mono" charset="0"/>
              <a:ea typeface="Andale Mono" charset="0"/>
              <a:cs typeface="Andale Mono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60B2AD-66F4-B842-90CB-86B0A77C9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184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While 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62BE63-ADBB-BE44-8834-1193B87EE2FD}"/>
              </a:ext>
            </a:extLst>
          </p:cNvPr>
          <p:cNvSpPr/>
          <p:nvPr/>
        </p:nvSpPr>
        <p:spPr>
          <a:xfrm>
            <a:off x="457200" y="1095345"/>
            <a:ext cx="8299555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fact(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result = 1;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while (n &gt; 1) {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result * n; // or write result *= n;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n = n – 1;           // or write n--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result;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 Alternative while loop is shorter but less clear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fact(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result = 1;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while (n &gt; 1) result *= n--;  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result;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5092AD-41F0-9A49-A6B8-40520DF6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54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Do/while 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62BE63-ADBB-BE44-8834-1193B87EE2FD}"/>
              </a:ext>
            </a:extLst>
          </p:cNvPr>
          <p:cNvSpPr/>
          <p:nvPr/>
        </p:nvSpPr>
        <p:spPr>
          <a:xfrm>
            <a:off x="457200" y="1095345"/>
            <a:ext cx="829955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fact(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result = 1;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do {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*= n;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} while (n-- &gt; 1);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result;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Do always executes the statement at least once.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Longer and not preferred for this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90D09A-F0CB-7847-800F-9ACF98C9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671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For 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62BE63-ADBB-BE44-8834-1193B87EE2FD}"/>
              </a:ext>
            </a:extLst>
          </p:cNvPr>
          <p:cNvSpPr/>
          <p:nvPr/>
        </p:nvSpPr>
        <p:spPr>
          <a:xfrm>
            <a:off x="457200" y="999848"/>
            <a:ext cx="829955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fact(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result = 1;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for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&lt;= n;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*= i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result;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First do initialization (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= 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Then check condition (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&lt;=n)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If satisfied, do body (result *= 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Then do loop operation (</a:t>
            </a:r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++)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Then repeat from checking condition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C549B-EC12-6344-8A55-F99B8082C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9713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Appendix C: C Programming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Arrays &amp; Strings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1074063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Types: Arrays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Array contains multiple elements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float accel[3];</a:t>
            </a:r>
          </a:p>
          <a:p>
            <a:r>
              <a:rPr lang="en-US" dirty="0"/>
              <a:t>The elements are numbered from 0 to N−1, where N is the length of the array</a:t>
            </a:r>
          </a:p>
          <a:p>
            <a:r>
              <a:rPr lang="en-US" dirty="0"/>
              <a:t>Initialize your arrays. </a:t>
            </a:r>
          </a:p>
          <a:p>
            <a:pPr lvl="1"/>
            <a:r>
              <a:rPr lang="en-US" dirty="0"/>
              <a:t>An uninitialized array can contain anything</a:t>
            </a:r>
          </a:p>
          <a:p>
            <a:r>
              <a:rPr lang="en-US" dirty="0"/>
              <a:t>Arrays can be multidimensional</a:t>
            </a:r>
          </a:p>
          <a:p>
            <a:pPr marL="45720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#define NUMSTUDENTS 120</a:t>
            </a:r>
          </a:p>
          <a:p>
            <a:pPr marL="45720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#define NUMLABS 11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grades[NUMSTUDENTS][NUMLABS];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A4D4B0-0E3E-FB42-84F7-8E1ED0E19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3690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Array 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double mag(double v[3]) {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return sqrt(v[0]*v[0] + v[1]*v[1] + v[2]*v[2]);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CA09F4-18EC-6044-8536-A9872FC1C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1870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Data Types: Strings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72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A string is an array of characters</a:t>
            </a:r>
          </a:p>
          <a:p>
            <a:r>
              <a:rPr lang="en-US" sz="2800" dirty="0"/>
              <a:t>Last entry is zero to indicate end (”NULL terminated”)</a:t>
            </a:r>
            <a:endParaRPr lang="en-US" sz="2400" dirty="0"/>
          </a:p>
          <a:p>
            <a:pPr marL="457200" lvl="1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char name[20] = "BOB";</a:t>
            </a:r>
            <a:endParaRPr lang="en-US" sz="2800" dirty="0"/>
          </a:p>
          <a:p>
            <a:pPr marL="514350" indent="-457200"/>
            <a:r>
              <a:rPr lang="en-US" sz="2800" dirty="0"/>
              <a:t>Stored as:</a:t>
            </a:r>
          </a:p>
          <a:p>
            <a:pPr marL="57150" indent="0">
              <a:buNone/>
            </a:pPr>
            <a:r>
              <a:rPr lang="en-US" sz="2800" dirty="0"/>
              <a:t>	</a:t>
            </a:r>
            <a:r>
              <a:rPr lang="en-US" sz="2400" dirty="0"/>
              <a:t>name[0] = 66; // ASCII value for B</a:t>
            </a:r>
          </a:p>
          <a:p>
            <a:pPr marL="57150" indent="0">
              <a:buNone/>
            </a:pPr>
            <a:r>
              <a:rPr lang="en-US" sz="2400" dirty="0"/>
              <a:t>	name[1] = 79; // ASCII value for O</a:t>
            </a:r>
          </a:p>
          <a:p>
            <a:pPr marL="57150" indent="0">
              <a:buNone/>
            </a:pPr>
            <a:r>
              <a:rPr lang="en-US" sz="2400" dirty="0"/>
              <a:t>	name[2] = 66; // ASCII value for B</a:t>
            </a:r>
          </a:p>
          <a:p>
            <a:pPr marL="57150" indent="0">
              <a:buNone/>
            </a:pPr>
            <a:r>
              <a:rPr lang="en-US" sz="2400" dirty="0"/>
              <a:t>	name[3] = 0;   // NULL termination</a:t>
            </a:r>
          </a:p>
          <a:p>
            <a:pPr marL="57150" indent="0">
              <a:buNone/>
            </a:pPr>
            <a:r>
              <a:rPr lang="en-US" sz="2400" dirty="0"/>
              <a:t>	other entries are junk, ignored</a:t>
            </a:r>
          </a:p>
          <a:p>
            <a:pPr marL="57150" indent="0">
              <a:buNone/>
            </a:pP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BC5B90-C0C5-864A-B4B9-2450AECD4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085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Examples: String Handling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#define MAXLEN 80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(char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[])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=0;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while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&amp;&amp;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 MAXLEN)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return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(char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[], char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[])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do {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} while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++] &amp;&amp;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 MAXLEN);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7BBAF-2352-4340-A077-14F8FDB0F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690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Examples: Using Strings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152400" y="1295400"/>
            <a:ext cx="8991599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#define MAXLEN 80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main(void) {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char name[80];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char c;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strcpy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(name, "BOB"); // copy BOB into name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(name);  //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3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c = name[1];         // c = 'O' (79)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66D2E1-A091-B146-AC32-6B670E3A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8246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Appendix C: C Programming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Structures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7332179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Structures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Store a collection of related information</a:t>
            </a:r>
          </a:p>
          <a:p>
            <a:r>
              <a:rPr lang="en-US" dirty="0"/>
              <a:t>General format: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struct name {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  type1 element1;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  type2 element2;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  ... </a:t>
            </a:r>
          </a:p>
          <a:p>
            <a:pPr marL="457200" lvl="1" indent="0">
              <a:buNone/>
            </a:pP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}; </a:t>
            </a:r>
          </a:p>
          <a:p>
            <a:endParaRPr lang="en-US" dirty="0"/>
          </a:p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B0ABE8-2ABC-2F4F-B822-ED573E23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2562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Structures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7C320D9-63DC-094F-B2F4-6710C70490A0}"/>
              </a:ext>
            </a:extLst>
          </p:cNvPr>
          <p:cNvSpPr/>
          <p:nvPr/>
        </p:nvSpPr>
        <p:spPr>
          <a:xfrm>
            <a:off x="533400" y="1066800"/>
            <a:ext cx="78486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struct contact {</a:t>
            </a:r>
            <a:br>
              <a:rPr lang="en-US" sz="2800" dirty="0">
                <a:latin typeface="Andale Mono" charset="0"/>
                <a:ea typeface="Andale Mono" charset="0"/>
                <a:cs typeface="Andale Mono" charset="0"/>
              </a:rPr>
            </a:br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  char name[30];</a:t>
            </a:r>
            <a:br>
              <a:rPr lang="en-US" sz="2800" dirty="0">
                <a:latin typeface="Andale Mono" charset="0"/>
                <a:ea typeface="Andale Mono" charset="0"/>
                <a:cs typeface="Andale Mono" charset="0"/>
              </a:rPr>
            </a:br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  </a:t>
            </a:r>
            <a:r>
              <a:rPr lang="en-US" sz="28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 age;</a:t>
            </a:r>
            <a:br>
              <a:rPr lang="en-US" sz="2800" dirty="0">
                <a:latin typeface="Andale Mono" charset="0"/>
                <a:ea typeface="Andale Mono" charset="0"/>
                <a:cs typeface="Andale Mono" charset="0"/>
              </a:rPr>
            </a:br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  float height; // in meters</a:t>
            </a:r>
          </a:p>
          <a:p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};</a:t>
            </a:r>
          </a:p>
          <a:p>
            <a:endParaRPr lang="en-US" sz="2800" dirty="0">
              <a:latin typeface="Andale Mono" charset="0"/>
              <a:ea typeface="Andale Mono" charset="0"/>
              <a:cs typeface="Andale Mono" charset="0"/>
            </a:endParaRPr>
          </a:p>
          <a:p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struct contact c1;</a:t>
            </a:r>
          </a:p>
          <a:p>
            <a:r>
              <a:rPr lang="en-US" sz="2800" dirty="0" err="1">
                <a:latin typeface="Andale Mono" charset="0"/>
                <a:ea typeface="Andale Mono" charset="0"/>
                <a:cs typeface="Andale Mono" charset="0"/>
              </a:rPr>
              <a:t>strcpy</a:t>
            </a:r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(c1.name, "Ben </a:t>
            </a:r>
            <a:r>
              <a:rPr lang="en-US" sz="2800" dirty="0" err="1">
                <a:latin typeface="Andale Mono" charset="0"/>
                <a:ea typeface="Andale Mono" charset="0"/>
                <a:cs typeface="Andale Mono" charset="0"/>
              </a:rPr>
              <a:t>Bitdiddle</a:t>
            </a:r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”);</a:t>
            </a:r>
          </a:p>
          <a:p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c1.age = 20;</a:t>
            </a:r>
          </a:p>
          <a:p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c1.height = 1.82;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1F9437-8BF5-7949-8996-8CC25151F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0814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Typedef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If you’re using lots of the same structure, you can shorten your typing by using </a:t>
            </a:r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typedef</a:t>
            </a:r>
            <a:r>
              <a:rPr lang="en-US" sz="2800" dirty="0"/>
              <a:t>.</a:t>
            </a:r>
          </a:p>
          <a:p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typedef </a:t>
            </a:r>
            <a:r>
              <a:rPr lang="en-US" i="1" dirty="0">
                <a:latin typeface="Andale Mono" charset="0"/>
                <a:ea typeface="Andale Mono" charset="0"/>
                <a:cs typeface="Andale Mono" charset="0"/>
              </a:rPr>
              <a:t>type</a:t>
            </a: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en-US" i="1" dirty="0">
                <a:latin typeface="Andale Mono" charset="0"/>
                <a:ea typeface="Andale Mono" charset="0"/>
                <a:cs typeface="Andale Mono" charset="0"/>
              </a:rPr>
              <a:t>name</a:t>
            </a:r>
            <a:r>
              <a:rPr lang="en-US" dirty="0">
                <a:latin typeface="Andale Mono" charset="0"/>
                <a:ea typeface="Andale Mono" charset="0"/>
                <a:cs typeface="Andale Mono" charset="0"/>
              </a:rPr>
              <a:t>;</a:t>
            </a:r>
          </a:p>
          <a:p>
            <a:pPr marL="0" indent="0">
              <a:buNone/>
            </a:pPr>
            <a:endParaRPr lang="en-US" sz="2800" dirty="0">
              <a:latin typeface="Andale Mono" charset="0"/>
              <a:ea typeface="Andale Mono" charset="0"/>
              <a:cs typeface="Andale Mono" charset="0"/>
            </a:endParaRPr>
          </a:p>
          <a:p>
            <a:pPr marL="0" indent="0">
              <a:buNone/>
            </a:pP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typedef struct contact { </a:t>
            </a:r>
          </a:p>
          <a:p>
            <a:pPr marL="0" indent="0">
              <a:buNone/>
            </a:pP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char name[30];</a:t>
            </a:r>
          </a:p>
          <a:p>
            <a:pPr marL="0" indent="0">
              <a:buNone/>
            </a:pP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age;</a:t>
            </a:r>
          </a:p>
          <a:p>
            <a:pPr marL="0" indent="0">
              <a:buNone/>
            </a:pP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float height; // in meters </a:t>
            </a:r>
          </a:p>
          <a:p>
            <a:pPr marL="0" indent="0">
              <a:buNone/>
            </a:pP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} contact; // defines contact as shorthand for "struct contact”</a:t>
            </a:r>
          </a:p>
          <a:p>
            <a:pPr marL="0" indent="0">
              <a:buNone/>
            </a:pPr>
            <a:endParaRPr lang="en-US" sz="1600" dirty="0">
              <a:latin typeface="Andale Mono" charset="0"/>
              <a:ea typeface="Andale Mono" charset="0"/>
              <a:cs typeface="Andale Mono" charset="0"/>
            </a:endParaRPr>
          </a:p>
          <a:p>
            <a:pPr marL="0" indent="0">
              <a:buNone/>
            </a:pP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contact c1; // now we can declare the variable as type contact 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F74A47-7BA3-8440-8906-E8E8CC73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1098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Structure Examples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CC9A9-91D2-784D-994C-346D942F4FF9}"/>
              </a:ext>
            </a:extLst>
          </p:cNvPr>
          <p:cNvSpPr txBox="1"/>
          <p:nvPr/>
        </p:nvSpPr>
        <p:spPr>
          <a:xfrm>
            <a:off x="217437" y="1219200"/>
            <a:ext cx="3570208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Andale Mono" charset="0"/>
                <a:ea typeface="Andale Mono" charset="0"/>
                <a:cs typeface="Andale Mono" charset="0"/>
              </a:rPr>
              <a:t>typedef</a:t>
            </a: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en-US" sz="2000" dirty="0" err="1">
                <a:latin typeface="Andale Mono" charset="0"/>
                <a:ea typeface="Andale Mono" charset="0"/>
                <a:cs typeface="Andale Mono" charset="0"/>
              </a:rPr>
              <a:t>struct</a:t>
            </a: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point {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 </a:t>
            </a:r>
            <a:r>
              <a:rPr lang="en-US" sz="20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x;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 </a:t>
            </a:r>
            <a:r>
              <a:rPr lang="en-US" sz="20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y;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} point;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 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point p1;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p1.x = 42; p1.y = 9;</a:t>
            </a:r>
          </a:p>
          <a:p>
            <a:endParaRPr lang="en-US" sz="2000" dirty="0">
              <a:latin typeface="Andale Mono" charset="0"/>
              <a:ea typeface="Andale Mono" charset="0"/>
              <a:cs typeface="Andale Mono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90392E-68BF-1745-A665-1AD14525109C}"/>
              </a:ext>
            </a:extLst>
          </p:cNvPr>
          <p:cNvSpPr txBox="1"/>
          <p:nvPr/>
        </p:nvSpPr>
        <p:spPr>
          <a:xfrm>
            <a:off x="4267200" y="1219200"/>
            <a:ext cx="4339650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>
                <a:latin typeface="Andale Mono" charset="0"/>
                <a:ea typeface="Andale Mono" charset="0"/>
                <a:cs typeface="Andale Mono" charset="0"/>
              </a:rPr>
              <a:t>typedef</a:t>
            </a: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en-US" sz="2000" dirty="0" err="1">
                <a:latin typeface="Andale Mono" charset="0"/>
                <a:ea typeface="Andale Mono" charset="0"/>
                <a:cs typeface="Andale Mono" charset="0"/>
              </a:rPr>
              <a:t>struct</a:t>
            </a: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en-US" sz="2000" dirty="0" err="1">
                <a:latin typeface="Andale Mono" charset="0"/>
                <a:ea typeface="Andale Mono" charset="0"/>
                <a:cs typeface="Andale Mono" charset="0"/>
              </a:rPr>
              <a:t>rect</a:t>
            </a: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{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 point </a:t>
            </a:r>
            <a:r>
              <a:rPr lang="en-US" sz="2000" dirty="0" err="1">
                <a:latin typeface="Andale Mono" charset="0"/>
                <a:ea typeface="Andale Mono" charset="0"/>
                <a:cs typeface="Andale Mono" charset="0"/>
              </a:rPr>
              <a:t>ll</a:t>
            </a: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;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 point </a:t>
            </a:r>
            <a:r>
              <a:rPr lang="en-US" sz="2000" dirty="0" err="1">
                <a:latin typeface="Andale Mono" charset="0"/>
                <a:ea typeface="Andale Mono" charset="0"/>
                <a:cs typeface="Andale Mono" charset="0"/>
              </a:rPr>
              <a:t>ur</a:t>
            </a: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;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 </a:t>
            </a:r>
            <a:r>
              <a:rPr lang="en-US" sz="20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color;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} </a:t>
            </a:r>
            <a:r>
              <a:rPr lang="en-US" sz="2000" dirty="0" err="1">
                <a:latin typeface="Andale Mono" charset="0"/>
                <a:ea typeface="Andale Mono" charset="0"/>
                <a:cs typeface="Andale Mono" charset="0"/>
              </a:rPr>
              <a:t>rect</a:t>
            </a: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;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 </a:t>
            </a:r>
          </a:p>
          <a:p>
            <a:r>
              <a:rPr lang="en-US" sz="2000" dirty="0" err="1">
                <a:latin typeface="Andale Mono" charset="0"/>
                <a:ea typeface="Andale Mono" charset="0"/>
                <a:cs typeface="Andale Mono" charset="0"/>
              </a:rPr>
              <a:t>rect</a:t>
            </a:r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 r1;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r1.color = 1;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r1.ll = p1;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r1.ur.x = r1.ll.x + width;</a:t>
            </a:r>
          </a:p>
          <a:p>
            <a:r>
              <a:rPr lang="en-US" sz="2000" dirty="0">
                <a:latin typeface="Andale Mono" charset="0"/>
                <a:ea typeface="Andale Mono" charset="0"/>
                <a:cs typeface="Andale Mono" charset="0"/>
              </a:rPr>
              <a:t>r1.ur.y = r1.ll.y + height;</a:t>
            </a:r>
          </a:p>
          <a:p>
            <a:endParaRPr lang="en-US" sz="2000" dirty="0">
              <a:latin typeface="Andale Mono" charset="0"/>
              <a:ea typeface="Andale Mono" charset="0"/>
              <a:cs typeface="Andale Mono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F063CA-16B6-A845-9677-EDD53206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0043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Appendix C: C Programming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Memory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2853159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Memory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0" y="1295400"/>
            <a:ext cx="8610599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Variables are stored in memory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Each primitive data type has a size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char		1 byte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short		at least 2 bytes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long		at least 4 bytes, 8 on some 64-bit computers</a:t>
            </a:r>
          </a:p>
          <a:p>
            <a:pPr lvl="1"/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int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	at least 2 bytes, 4 on most 32 &amp; 64-bit computers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float		4 bytes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double		8 bytes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Arrays &amp; structs stored in multiple consecutive locations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0A9880-8BF6-0642-8DDD-B018B3F2C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0873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err="1">
                <a:solidFill>
                  <a:schemeClr val="bg1"/>
                </a:solidFill>
                <a:latin typeface="+mj-lt"/>
              </a:rPr>
              <a:t>Sizeof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Sizeof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operator returns size of a datatype</a:t>
            </a:r>
          </a:p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char c;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double d;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point p;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r;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s1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c;  // s1 = 1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s2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(d); // s2 = 8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s3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(p); // s3 = 4 + 4 = 8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s4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(r); // s4 = 8 + 8 + 4 = 20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11C54C-78AA-E747-9EB4-F3F3FCD66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6281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Memory Example: Array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818B3-354E-234E-809B-100CBB91FD5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60" t="57817" r="11459" b="10206"/>
          <a:stretch/>
        </p:blipFill>
        <p:spPr>
          <a:xfrm>
            <a:off x="221852" y="1175987"/>
            <a:ext cx="8776498" cy="464537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A0DD58-242F-114F-B5AD-FAEFE55B5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39623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Memory Example: Structure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A09FE0-E84A-5C4E-9777-08106370C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039479"/>
            <a:ext cx="7467600" cy="478188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D6ED2-B128-1942-A9FD-F9FFC0961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0924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Appendix C: C Programming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Pointers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398629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 pointer is an address in memory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Pointer variables are declared with * and a data type to which the pointer points</a:t>
            </a:r>
          </a:p>
          <a:p>
            <a:pPr marL="457200" lvl="1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salary1, salary2; 	</a:t>
            </a:r>
          </a:p>
          <a:p>
            <a:pPr marL="457200" lvl="1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 	// a pointer to an integer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&amp; returns address of a variable</a:t>
            </a:r>
          </a:p>
          <a:p>
            <a:pPr marL="457200" lvl="1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salary1 = 98500;	// suppose this is at address 100 in memory</a:t>
            </a:r>
          </a:p>
          <a:p>
            <a:pPr marL="457200" lvl="1" indent="0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&amp;salary1;	//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contains 100 (the address of salary1)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* dereferences a pointer (finds value it points to)</a:t>
            </a: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salary2 = *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+ 1000; // salary2 gets 99500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ACFF30-F8FB-0A4E-A37D-25299409F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7796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Arrays and Pointers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An array in C is viewed as the address of the zeroth element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Equivalent to a pointer to the beginning of the array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C56DFD-564B-9C46-903A-D365A61B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4505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3577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1477608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F534C8A-3EE9-2841-92D7-7C7A0B4808E0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813228504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1980068048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1741902861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3265329202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177937302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41533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0335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48879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478795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59767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85286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92704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958063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87189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322829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197158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03038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36656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13369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02087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857595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437547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E6E56C-4E33-A041-A781-DE222F1B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9194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3577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1665866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F956F9-2842-DB47-A2C3-85FD4481130C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4159918450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2194816950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1918249082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965780282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2098966480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826769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694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779385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355913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443977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91183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803164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671196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ary</a:t>
                      </a: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3024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ary</a:t>
                      </a: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673374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70979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33217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03747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7951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268898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89297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1641669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830605-D504-4946-81BC-C370C479F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8828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3577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 // suppose at addresses 0x102C, 0x1030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1846491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AF0CB4-1495-304B-9A46-D8B5C0279117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2453265488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3007240775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2529287189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125227397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400091489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71677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518448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360876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2669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310846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86834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839526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54278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64157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760017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22445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9997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675602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19886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62101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95582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84055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F9DAF-404A-6049-BE2F-6D2E9C227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914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3577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// suppose at addresses 0x102C, 0x1030</a:t>
            </a:r>
          </a:p>
          <a:p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suppose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at address 0x1034, initially undefined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2035334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EA1708-A1AE-D045-BAF1-87BF41E5CF71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4086069535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2879482109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578040780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4123473511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1198703157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95861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52997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00038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836889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79832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9954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81162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38608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9371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54293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03102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648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0084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71533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669379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388329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306462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B6CEBB-8E96-5B4C-B1BD-D6039B953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072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3577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 // suppose at addresses 0x102C, 0x1030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suppose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at address 0x1034, initially undefined</a:t>
            </a:r>
          </a:p>
          <a:p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2210146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AED3E0-63AA-8245-8CAE-6AC3C4B32DE0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62551186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2394046494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4060175760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3541284481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310834787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7704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86569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83549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4335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86277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42577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0101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83335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03009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393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58358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34712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8053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84052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65214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33645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58015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E0BA7-7403-2447-B7EA-03840C08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3767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3577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 // suppose at addresses 0x102C, 0x1030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suppose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at address 0x1034, initially undefined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endParaRPr lang="en-US" sz="1200" dirty="0"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(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=0;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&lt;3;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++)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]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&amp;a;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3;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b;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*(ptr+2) = 7;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 = 1;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*(ptr+5) = 2;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2371510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AED3E0-63AA-8245-8CAE-6AC3C4B32DE0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62551186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2394046494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4060175760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3541284481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310834787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7704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686569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83549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43353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86277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042577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20101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83335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03009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0393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758358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934712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8053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84052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65214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33645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58015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FC921-C245-A143-A140-25F095A41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2198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3577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 // suppose at addresses 0x102C, 0x1030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suppose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at address 0x1034, initially undefined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endParaRPr lang="en-US" sz="1200" dirty="0"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(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=0;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&lt;3;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++)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] =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// Note: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[3] not changed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&amp;a;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3;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b;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*(ptr+2) = 7;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 = 1;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*(ptr+5) = 2;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2573216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45B9E7-F71A-F44D-B470-F9399DCD28C8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2827953271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2530704217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457463700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301821019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153457438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78995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36225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40597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64932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2231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507478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1484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5554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96165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ary</a:t>
                      </a: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166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49828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59383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7216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0242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644744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2985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844993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CAC597-9DA8-8F43-85C4-BD1D25209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5325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3577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 // suppose at addresses 0x102C, 0x1030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suppose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at address 0x1034, initially undefined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endParaRPr lang="en-US" sz="1200" dirty="0"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(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=0;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&lt;3;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++)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]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&amp;a;     //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0x102C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3;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b;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*(ptr+2) = 7;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 = 1;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*(ptr+5) = 2;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2774465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7087F5-C913-F84D-BFD5-8553917EE11D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1519229877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4160374731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1911658246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821753043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233638938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564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6556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007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787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1886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5689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8109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3216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341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288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8237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6290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5656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4328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3269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6001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8500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E28D8-34F4-0848-86DE-3D2429B7D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88434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3577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 // suppose at addresses 0x102C, 0x1030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suppose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at address 0x1034, initially undefined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endParaRPr lang="en-US" sz="1200" dirty="0"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(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=0;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&lt;3;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++)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]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&amp;a;  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0x102C</a:t>
            </a:r>
          </a:p>
          <a:p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*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   // dereference pointer, b = 37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3;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b;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*(ptr+2) = 7;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 = 1;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*(ptr+5) = 2;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2962724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7087F5-C913-F84D-BFD5-8553917EE11D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1519229877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4160374731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1911658246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821753043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233638938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564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6556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007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787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1886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5689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8109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3216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341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288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8237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6290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5656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4328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3269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6001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8500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6D460-FF42-F54E-B0EE-2D57FB1D4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4464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3577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 // suppose at addresses 0x102C, 0x1030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suppose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at address 0x1034, initially undefined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endParaRPr lang="en-US" sz="1200" dirty="0"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(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=0;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&lt;3;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++)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]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&amp;a;  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0x102C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   // dereference pointer, b = 37</a:t>
            </a:r>
          </a:p>
          <a:p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3;     // a = 3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b;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*(ptr+2) = 7;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 = 1;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*(ptr+5) = 2;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3117456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7087F5-C913-F84D-BFD5-8553917EE11D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1519229877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4160374731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1911658246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821753043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233638938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564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6556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007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787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1886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5689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8109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3216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341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288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8237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6290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5656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4328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3269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6001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8500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5C8DC-1B4E-DA45-85C6-AF029C1EB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0973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3577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 // suppose at addresses 0x102C, 0x1030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suppose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at address 0x1034, initially undefined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endParaRPr lang="en-US" sz="1200" dirty="0"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(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=0;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&lt;3;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++)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]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&amp;a;  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0x102C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   // dereference pointer, b = 37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3;     // a = 3</a:t>
            </a:r>
          </a:p>
          <a:p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  //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0x101C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b;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*(ptr+2) = 7;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 = 1;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*(ptr+5) = 2;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3319655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7087F5-C913-F84D-BFD5-8553917EE11D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1519229877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4160374731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1911658246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821753043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233638938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564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6556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007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787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1886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5689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8109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3216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341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288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8237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6290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5656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4328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3269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6001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8500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F991A-C5F9-444F-8F62-C956F200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926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3577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 // suppose at addresses 0x102C, 0x1030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suppose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at address 0x1034, initially undefined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endParaRPr lang="en-US" sz="1200" dirty="0"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(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=0;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&lt;3;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++)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]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&amp;a;  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0x102C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   // dereference pointer, b = 37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3;     // a = 3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0x101C</a:t>
            </a:r>
          </a:p>
          <a:p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b;   //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37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*(ptr+2) = 7;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 = 1;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*(ptr+5) = 2;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3488146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7087F5-C913-F84D-BFD5-8553917EE11D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1519229877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4160374731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1911658246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821753043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233638938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564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6556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007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787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1886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5689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8109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3216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ary</a:t>
                      </a: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341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288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8237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6290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5656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4328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3269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6001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8500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6789FF-1D0D-7940-B2B5-AC0C8164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32666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5789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 // suppose at addresses 0x102C, 0x1030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suppose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at address 0x1034, initially undefined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endParaRPr lang="en-US" sz="1200" dirty="0"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(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=0;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&lt;3;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++)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]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&amp;a;  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0x102C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   // dereference pointer, b = 37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3;     // a = 3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0x101C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b;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37</a:t>
            </a:r>
          </a:p>
          <a:p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*(ptr+2) = 7; // </a:t>
            </a:r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[2] = 7, note offset is in int sizes, not bytes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 = 1;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*(ptr+5) = 2;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3662958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7087F5-C913-F84D-BFD5-8553917EE11D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1519229877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4160374731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1911658246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821753043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233638938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564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6556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007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787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1886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5689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8109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ary</a:t>
                      </a:r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3216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341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288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8237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6290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5656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4328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3269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6001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8500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4DCF4-A9E0-4A4E-BDC9-56062BE76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2493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5789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 // suppose at addresses 0x102C, 0x1030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suppose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at address 0x1034, initially undefined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endParaRPr lang="en-US" sz="1200" dirty="0"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(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=0;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&lt;3;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++)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]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&amp;a;  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0x102C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   // dereference pointer, b = 37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3;     // a = 3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0x101C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b;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37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*(ptr+2) = 7;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[2] = 7, note offset is in int sizes, not bytes</a:t>
            </a:r>
          </a:p>
          <a:p>
            <a:r>
              <a:rPr lang="en-US" sz="1200" dirty="0" err="1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 = 1;   // a = 1, BAD: trash variable past end of array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*(ptr+5) = 2;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3864664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7087F5-C913-F84D-BFD5-8553917EE11D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1519229877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4160374731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1911658246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821753043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233638938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564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6556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007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787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1886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5689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8109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3216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341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288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8237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6290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5656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4328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3269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6001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8500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067EE-A538-0F49-9AA8-017DEC66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3310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392264"/>
            <a:ext cx="65789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Now add: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[4]; // suppose at addresses 0x101C, 0x1020, 0x1024, 0x1028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a = 37, b; // suppose at addresses 0x102C, 0x1030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// suppose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is at address 0x1034, initially undefined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endParaRPr lang="en-US" sz="1200" dirty="0"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for (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=0;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&lt;3;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++)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]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&amp;a;  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0x102C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b = 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   // dereference pointer, b = 37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3;     // a = 3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; 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= 0x101C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ptr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b;  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[1] = 37</a:t>
            </a:r>
          </a:p>
          <a:p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*(ptr+2) = 7; // </a:t>
            </a:r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[2] = 7, note offset is in int sizes, not bytes</a:t>
            </a:r>
          </a:p>
          <a:p>
            <a:r>
              <a:rPr lang="en-US" sz="12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ary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[4] = 1;</a:t>
            </a:r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 </a:t>
            </a:r>
            <a:r>
              <a:rPr lang="en-US" sz="12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// a = 1, BAD: trash variable past end of array</a:t>
            </a:r>
          </a:p>
          <a:p>
            <a:r>
              <a:rPr lang="en-US" sz="1200" dirty="0">
                <a:solidFill>
                  <a:srgbClr val="C00000"/>
                </a:solidFill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*(ptr+5) = 2; // b = 2, BAD: trash variable past end of array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157E4A7C-2CFC-B142-9D05-3A3F2B874B0A}"/>
              </a:ext>
            </a:extLst>
          </p:cNvPr>
          <p:cNvSpPr/>
          <p:nvPr/>
        </p:nvSpPr>
        <p:spPr>
          <a:xfrm>
            <a:off x="13995" y="4039476"/>
            <a:ext cx="359228" cy="1012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7087F5-C913-F84D-BFD5-8553917EE11D}"/>
              </a:ext>
            </a:extLst>
          </p:cNvPr>
          <p:cNvGraphicFramePr>
            <a:graphicFrameLocks noGrp="1"/>
          </p:cNvGraphicFramePr>
          <p:nvPr/>
        </p:nvGraphicFramePr>
        <p:xfrm>
          <a:off x="6731003" y="1392264"/>
          <a:ext cx="2413000" cy="3886200"/>
        </p:xfrm>
        <a:graphic>
          <a:graphicData uri="http://schemas.openxmlformats.org/drawingml/2006/table">
            <a:tbl>
              <a:tblPr/>
              <a:tblGrid>
                <a:gridCol w="607203">
                  <a:extLst>
                    <a:ext uri="{9D8B030D-6E8A-4147-A177-3AD203B41FA5}">
                      <a16:colId xmlns:a16="http://schemas.microsoft.com/office/drawing/2014/main" val="1519229877"/>
                    </a:ext>
                  </a:extLst>
                </a:gridCol>
                <a:gridCol w="771654">
                  <a:extLst>
                    <a:ext uri="{9D8B030D-6E8A-4147-A177-3AD203B41FA5}">
                      <a16:colId xmlns:a16="http://schemas.microsoft.com/office/drawing/2014/main" val="4160374731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1911658246"/>
                    </a:ext>
                  </a:extLst>
                </a:gridCol>
                <a:gridCol w="104363">
                  <a:extLst>
                    <a:ext uri="{9D8B030D-6E8A-4147-A177-3AD203B41FA5}">
                      <a16:colId xmlns:a16="http://schemas.microsoft.com/office/drawing/2014/main" val="821753043"/>
                    </a:ext>
                  </a:extLst>
                </a:gridCol>
                <a:gridCol w="825417">
                  <a:extLst>
                    <a:ext uri="{9D8B030D-6E8A-4147-A177-3AD203B41FA5}">
                      <a16:colId xmlns:a16="http://schemas.microsoft.com/office/drawing/2014/main" val="233638938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564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665566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007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7875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 dirty="0">
                        <a:solidFill>
                          <a:srgbClr val="C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91886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05689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18109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632166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3341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02884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82372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62908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35656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4328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3269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46001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885001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07F40-D55B-3546-A7AB-ABF37C5A3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2165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Another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576996"/>
            <a:ext cx="527019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#include &lt;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stdio.h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</a:t>
            </a:r>
          </a:p>
          <a:p>
            <a:endParaRPr lang="en-US" sz="1400" dirty="0"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main (void)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char age = 30;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char *p;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 = &amp;age;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("age = %d\n", age);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("p = %p\n", p);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("*p = %d\n", *p);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sizeof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(age) = %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ld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\n",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sizeof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(age));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sizeof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(p) = %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ld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\n",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sizeof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(p));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*p = 40;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("*p = %d\n", *p);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("age = %d\n", age);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0;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  <a:endParaRPr lang="en-US" sz="1400" dirty="0">
              <a:solidFill>
                <a:srgbClr val="C00000"/>
              </a:solidFill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BA7D90-9622-8345-9CC9-E00A89E3E523}"/>
              </a:ext>
            </a:extLst>
          </p:cNvPr>
          <p:cNvSpPr/>
          <p:nvPr/>
        </p:nvSpPr>
        <p:spPr>
          <a:xfrm>
            <a:off x="5348178" y="2158156"/>
            <a:ext cx="332387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</a:rPr>
              <a:t>        age = 30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      p = 0x7ffee311e82b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     *p = 30</a:t>
            </a:r>
          </a:p>
          <a:p>
            <a:r>
              <a:rPr lang="en-US" sz="1400" dirty="0" err="1">
                <a:latin typeface="Andale Mono" panose="020B0509000000000004" pitchFamily="49" charset="0"/>
              </a:rPr>
              <a:t>sizeof</a:t>
            </a:r>
            <a:r>
              <a:rPr lang="en-US" sz="1400" dirty="0">
                <a:latin typeface="Andale Mono" panose="020B0509000000000004" pitchFamily="49" charset="0"/>
              </a:rPr>
              <a:t>(age) = 1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</a:rPr>
              <a:t>sizeof</a:t>
            </a:r>
            <a:r>
              <a:rPr lang="en-US" sz="1400" dirty="0">
                <a:latin typeface="Andale Mono" panose="020B0509000000000004" pitchFamily="49" charset="0"/>
              </a:rPr>
              <a:t>(p) = 8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     *p = 40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    age = 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90A8E-6558-7740-AA39-AE66238D8191}"/>
              </a:ext>
            </a:extLst>
          </p:cNvPr>
          <p:cNvSpPr txBox="1"/>
          <p:nvPr/>
        </p:nvSpPr>
        <p:spPr>
          <a:xfrm>
            <a:off x="5348178" y="1022932"/>
            <a:ext cx="1705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6FD7FF-3DE2-454D-981E-229FD1317461}"/>
              </a:ext>
            </a:extLst>
          </p:cNvPr>
          <p:cNvSpPr txBox="1"/>
          <p:nvPr/>
        </p:nvSpPr>
        <p:spPr>
          <a:xfrm>
            <a:off x="373223" y="1022932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Code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3DD3C4-B366-CC42-AA16-9E739A2A1709}"/>
              </a:ext>
            </a:extLst>
          </p:cNvPr>
          <p:cNvSpPr/>
          <p:nvPr/>
        </p:nvSpPr>
        <p:spPr>
          <a:xfrm>
            <a:off x="6835363" y="2036119"/>
            <a:ext cx="1705467" cy="17224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2CBB9A-4A00-8F45-96F2-564B03EF3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13165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Another Example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151F7-F368-5E47-91A9-0483B0D4807B}"/>
              </a:ext>
            </a:extLst>
          </p:cNvPr>
          <p:cNvSpPr txBox="1"/>
          <p:nvPr/>
        </p:nvSpPr>
        <p:spPr>
          <a:xfrm>
            <a:off x="373223" y="1576996"/>
            <a:ext cx="527019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#include &lt;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stdio.h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&gt;</a:t>
            </a:r>
          </a:p>
          <a:p>
            <a:endParaRPr lang="en-US" sz="1400" dirty="0"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 main (void)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char age = 30;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char *p;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p = &amp;age;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("age = %d\n", age);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("p = %p\n", p);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("*p = %d\n", *p);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sizeof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(age) = %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ld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\n",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sizeof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(age));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sizeof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(p) = %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ld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\n",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sizeof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(p));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*p = 40;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("*p = %d\n", *p);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printf</a:t>
            </a:r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("age = %d\n", age);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  return 0;</a:t>
            </a:r>
          </a:p>
          <a:p>
            <a:r>
              <a:rPr lang="en-US" sz="1400" dirty="0">
                <a:latin typeface="Andale Mono" panose="020B05090000000000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  <a:endParaRPr lang="en-US" sz="1400" dirty="0">
              <a:solidFill>
                <a:srgbClr val="C00000"/>
              </a:solidFill>
              <a:latin typeface="Andale Mono" panose="020B05090000000000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BA7D90-9622-8345-9CC9-E00A89E3E523}"/>
              </a:ext>
            </a:extLst>
          </p:cNvPr>
          <p:cNvSpPr/>
          <p:nvPr/>
        </p:nvSpPr>
        <p:spPr>
          <a:xfrm>
            <a:off x="5348178" y="2158156"/>
            <a:ext cx="332387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ndale Mono" panose="020B0509000000000004" pitchFamily="49" charset="0"/>
              </a:rPr>
              <a:t>        age = 30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      p = 0x7ffee311e82b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     *p = 30</a:t>
            </a:r>
          </a:p>
          <a:p>
            <a:r>
              <a:rPr lang="en-US" sz="1400" dirty="0" err="1">
                <a:latin typeface="Andale Mono" panose="020B0509000000000004" pitchFamily="49" charset="0"/>
              </a:rPr>
              <a:t>sizeof</a:t>
            </a:r>
            <a:r>
              <a:rPr lang="en-US" sz="1400" dirty="0">
                <a:latin typeface="Andale Mono" panose="020B0509000000000004" pitchFamily="49" charset="0"/>
              </a:rPr>
              <a:t>(age) = 1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</a:t>
            </a:r>
            <a:r>
              <a:rPr lang="en-US" sz="1400" dirty="0" err="1">
                <a:latin typeface="Andale Mono" panose="020B0509000000000004" pitchFamily="49" charset="0"/>
              </a:rPr>
              <a:t>sizeof</a:t>
            </a:r>
            <a:r>
              <a:rPr lang="en-US" sz="1400" dirty="0">
                <a:latin typeface="Andale Mono" panose="020B0509000000000004" pitchFamily="49" charset="0"/>
              </a:rPr>
              <a:t>(p) = 8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     *p = 40</a:t>
            </a:r>
          </a:p>
          <a:p>
            <a:r>
              <a:rPr lang="en-US" sz="1400" dirty="0">
                <a:latin typeface="Andale Mono" panose="020B0509000000000004" pitchFamily="49" charset="0"/>
              </a:rPr>
              <a:t>        age = 40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90A8E-6558-7740-AA39-AE66238D8191}"/>
              </a:ext>
            </a:extLst>
          </p:cNvPr>
          <p:cNvSpPr txBox="1"/>
          <p:nvPr/>
        </p:nvSpPr>
        <p:spPr>
          <a:xfrm>
            <a:off x="5348178" y="1022932"/>
            <a:ext cx="1705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Program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6FD7FF-3DE2-454D-981E-229FD1317461}"/>
              </a:ext>
            </a:extLst>
          </p:cNvPr>
          <p:cNvSpPr txBox="1"/>
          <p:nvPr/>
        </p:nvSpPr>
        <p:spPr>
          <a:xfrm>
            <a:off x="373223" y="1022932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Code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4385E3-37EB-C245-B2FD-8DF70FD8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96278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Pointers and Structures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9D698D-2D9C-824E-8F39-7805F834E0F8}"/>
              </a:ext>
            </a:extLst>
          </p:cNvPr>
          <p:cNvSpPr/>
          <p:nvPr/>
        </p:nvSpPr>
        <p:spPr>
          <a:xfrm>
            <a:off x="89342" y="1498270"/>
            <a:ext cx="6714311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rect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*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rptr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; // Let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rptr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know it’s pointing to a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rect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	</a:t>
            </a:r>
          </a:p>
          <a:p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rptr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= &amp;r1; // Have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rptr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point at r1</a:t>
            </a:r>
          </a:p>
          <a:p>
            <a:endParaRPr lang="en-US" sz="1600" dirty="0">
              <a:latin typeface="Andale Mono" charset="0"/>
              <a:ea typeface="Andale Mono" charset="0"/>
              <a:cs typeface="Andale Mono" charset="0"/>
            </a:endParaRP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(*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rptr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).color = 3;  // Change r1.color to 3</a:t>
            </a:r>
          </a:p>
          <a:p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rptr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-&gt;color = 4;    // Change r1.color to 4</a:t>
            </a:r>
          </a:p>
          <a:p>
            <a:endParaRPr lang="en-US" sz="1600" dirty="0">
              <a:latin typeface="Andale Mono" charset="0"/>
              <a:ea typeface="Andale Mono" charset="0"/>
              <a:cs typeface="Andale Mono" charset="0"/>
            </a:endParaRP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// Use dot “.” when you are using the structure name.</a:t>
            </a: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// Arrow “-&gt;” (member access operator) is preferred when you are using the pointer.</a:t>
            </a:r>
          </a:p>
          <a:p>
            <a:endParaRPr lang="en-US" sz="1600" dirty="0">
              <a:latin typeface="Andale Mono" charset="0"/>
              <a:ea typeface="Andale Mono" charset="0"/>
              <a:cs typeface="Andale Mono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CCE67EC-FE8A-AD40-AF91-87B816F905AC}"/>
              </a:ext>
            </a:extLst>
          </p:cNvPr>
          <p:cNvGraphicFramePr>
            <a:graphicFrameLocks noGrp="1"/>
          </p:cNvGraphicFramePr>
          <p:nvPr/>
        </p:nvGraphicFramePr>
        <p:xfrm>
          <a:off x="6803653" y="1295400"/>
          <a:ext cx="2343212" cy="3773796"/>
        </p:xfrm>
        <a:graphic>
          <a:graphicData uri="http://schemas.openxmlformats.org/drawingml/2006/table">
            <a:tbl>
              <a:tblPr/>
              <a:tblGrid>
                <a:gridCol w="589642">
                  <a:extLst>
                    <a:ext uri="{9D8B030D-6E8A-4147-A177-3AD203B41FA5}">
                      <a16:colId xmlns:a16="http://schemas.microsoft.com/office/drawing/2014/main" val="1339236508"/>
                    </a:ext>
                  </a:extLst>
                </a:gridCol>
                <a:gridCol w="749337">
                  <a:extLst>
                    <a:ext uri="{9D8B030D-6E8A-4147-A177-3AD203B41FA5}">
                      <a16:colId xmlns:a16="http://schemas.microsoft.com/office/drawing/2014/main" val="353140165"/>
                    </a:ext>
                  </a:extLst>
                </a:gridCol>
                <a:gridCol w="101344">
                  <a:extLst>
                    <a:ext uri="{9D8B030D-6E8A-4147-A177-3AD203B41FA5}">
                      <a16:colId xmlns:a16="http://schemas.microsoft.com/office/drawing/2014/main" val="1953290248"/>
                    </a:ext>
                  </a:extLst>
                </a:gridCol>
                <a:gridCol w="101344">
                  <a:extLst>
                    <a:ext uri="{9D8B030D-6E8A-4147-A177-3AD203B41FA5}">
                      <a16:colId xmlns:a16="http://schemas.microsoft.com/office/drawing/2014/main" val="4135047367"/>
                    </a:ext>
                  </a:extLst>
                </a:gridCol>
                <a:gridCol w="801545">
                  <a:extLst>
                    <a:ext uri="{9D8B030D-6E8A-4147-A177-3AD203B41FA5}">
                      <a16:colId xmlns:a16="http://schemas.microsoft.com/office/drawing/2014/main" val="2537720408"/>
                    </a:ext>
                  </a:extLst>
                </a:gridCol>
              </a:tblGrid>
              <a:tr h="2219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Address</a:t>
                      </a:r>
                    </a:p>
                  </a:txBody>
                  <a:tcPr marL="9250" marR="9250" marT="92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</a:p>
                  </a:txBody>
                  <a:tcPr marL="9250" marR="9250" marT="92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Var. Name</a:t>
                      </a:r>
                    </a:p>
                  </a:txBody>
                  <a:tcPr marL="9250" marR="9250" marT="92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9138864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0x103C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61924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0x1038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60884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0x1034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ptr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176429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0x1030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042765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0x102C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0221680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0x1028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ary[3]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46512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0x1024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ary[2]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11769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0x1020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ary[1]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6285897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0x101C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ary[0]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455208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0x1018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r1.color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397362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0x1014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 + height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r1.ur.y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3931472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0x1010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 + width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r1.ur.x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17802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0x100C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r1.ll.y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488505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0x1008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r1.ll.x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567542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0x1004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p1.y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991074"/>
                  </a:ext>
                </a:extLst>
              </a:tr>
              <a:tr h="22198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0x1000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250" marR="9250" marT="92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p1.x</a:t>
                      </a:r>
                    </a:p>
                  </a:txBody>
                  <a:tcPr marL="9250" marR="9250" marT="92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269359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0CC159-490C-BA47-BE40-1E314AEDA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041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Appendix C: C Programming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Memory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Odds &amp; Ends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2885510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Passing Structures to Functions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35E311D-3D4E-EF4D-B68B-E99A36C0C97A}"/>
              </a:ext>
            </a:extLst>
          </p:cNvPr>
          <p:cNvSpPr txBox="1">
            <a:spLocks/>
          </p:cNvSpPr>
          <p:nvPr/>
        </p:nvSpPr>
        <p:spPr>
          <a:xfrm>
            <a:off x="228600" y="1143000"/>
            <a:ext cx="8417300" cy="89747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/>
              <a:t>Complex data structures and arrays are normally passed to C programs by address rather than copied; it’s more efficient.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D67A9-7C35-8743-8777-5E43F4B3020D}"/>
              </a:ext>
            </a:extLst>
          </p:cNvPr>
          <p:cNvSpPr txBox="1"/>
          <p:nvPr/>
        </p:nvSpPr>
        <p:spPr>
          <a:xfrm>
            <a:off x="228600" y="2372074"/>
            <a:ext cx="8534401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void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createRect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(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xl,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yl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,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width,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height,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color,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rect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*r) {</a:t>
            </a:r>
          </a:p>
          <a:p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r-&gt;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ll.x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= x1; r-&gt;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ll.y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=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yl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; </a:t>
            </a:r>
          </a:p>
          <a:p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r-&gt;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ur.x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= xl + width; r-&gt;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ur.y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=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yl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+ height;</a:t>
            </a:r>
          </a:p>
          <a:p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r-&gt;color = color;</a:t>
            </a:r>
          </a:p>
          <a:p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}</a:t>
            </a:r>
          </a:p>
          <a:p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 </a:t>
            </a:r>
          </a:p>
          <a:p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main(void) {</a:t>
            </a:r>
          </a:p>
          <a:p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rect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r1;</a:t>
            </a:r>
          </a:p>
          <a:p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createRect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(3, 5, 10, 20, 1, &amp;r1);</a:t>
            </a:r>
          </a:p>
          <a:p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}</a:t>
            </a:r>
          </a:p>
          <a:p>
            <a:endParaRPr lang="en-US" sz="1400" dirty="0">
              <a:latin typeface="Andale Mono" charset="0"/>
              <a:ea typeface="Andale Mono" charset="0"/>
              <a:cs typeface="Andale Mono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700AD-E480-DE46-8B3C-23221236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36203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Multidimensional Arrays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533399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Stored in consecutive addresses</a:t>
            </a:r>
          </a:p>
          <a:p>
            <a:pPr lvl="1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last dimension first</a:t>
            </a:r>
          </a:p>
          <a:p>
            <a:pPr marL="0" indent="0">
              <a:buNone/>
            </a:pP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double field[2][3][3];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4DFF11-85FA-634A-A878-E7924F6E1190}"/>
              </a:ext>
            </a:extLst>
          </p:cNvPr>
          <p:cNvGraphicFramePr>
            <a:graphicFrameLocks noGrp="1"/>
          </p:cNvGraphicFramePr>
          <p:nvPr/>
        </p:nvGraphicFramePr>
        <p:xfrm>
          <a:off x="6146482" y="990600"/>
          <a:ext cx="2387918" cy="492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618">
                  <a:extLst>
                    <a:ext uri="{9D8B030D-6E8A-4147-A177-3AD203B41FA5}">
                      <a16:colId xmlns:a16="http://schemas.microsoft.com/office/drawing/2014/main" val="1109667276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107810722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Address0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525765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field[1][2][2]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641918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field[1][2][1]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272973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field[1][2][0]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028992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field[1][1][2]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433935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field[1][1][1]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974454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field[1][1][0]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191147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field[1][0][2]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319277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field[1][0][1]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3288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field[1][0][0]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416868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field[0][2][2]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19176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field[0][2][1]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158393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field[0][2][0]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605159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field[0][1][2]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126046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field[0][1][1]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225868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field[0][1][0]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5989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field[0][0][2]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449085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field[0][0][1]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184694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100" dirty="0"/>
                        <a:t>0x1040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field[0][0][0]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59220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F5E5D-4E1E-6746-8150-F9E38761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21483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Complex Structures in Memory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533399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typedef struct foo {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double d[4][5];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unsigned short s[16];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 foo;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foo z[10];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s5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(z[0]);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 8*4*5 + 2*16 = 192 = 0xC0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s5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(z); 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// 10*192 = 1920 = 0x780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4DFF11-85FA-634A-A878-E7924F6E1190}"/>
              </a:ext>
            </a:extLst>
          </p:cNvPr>
          <p:cNvGraphicFramePr>
            <a:graphicFrameLocks noGrp="1"/>
          </p:cNvGraphicFramePr>
          <p:nvPr/>
        </p:nvGraphicFramePr>
        <p:xfrm>
          <a:off x="6146482" y="990600"/>
          <a:ext cx="2387918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3918">
                  <a:extLst>
                    <a:ext uri="{9D8B030D-6E8A-4147-A177-3AD203B41FA5}">
                      <a16:colId xmlns:a16="http://schemas.microsoft.com/office/drawing/2014/main" val="110966727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07810722"/>
                    </a:ext>
                  </a:extLst>
                </a:gridCol>
              </a:tblGrid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525765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0x277E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z[9].s[15]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641918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319277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0x217E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z[1][s[15]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932880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416868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0x20C0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z[1].d[0][0]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8119176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0x20BE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z[0].s[15]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158393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605159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0x20A2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z[0].s[1]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126046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0x20A0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z[0].s[0]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225868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0x2098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z[0].d[3][4]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35989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449085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0x2008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z[0].d[0][1]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184694"/>
                  </a:ext>
                </a:extLst>
              </a:tr>
              <a:tr h="216568">
                <a:tc>
                  <a:txBody>
                    <a:bodyPr/>
                    <a:lstStyle/>
                    <a:p>
                      <a:r>
                        <a:rPr lang="en-US" sz="1400" dirty="0"/>
                        <a:t>0x2000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z[0].d[0][0]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59220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087F2-7167-7A4B-8D15-C08913E29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3861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0" y="76200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+mj-lt"/>
              </a:rPr>
              <a:t>Appendix C: C Programming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DAA03A6C-70A8-504F-B2A9-E24C66359451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0" y="2438400"/>
            <a:ext cx="9144000" cy="160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Dynamic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Memory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sz="7200" b="1" dirty="0"/>
              <a:t>Allocation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40195058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Memory Allocation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malloc</a:t>
            </a:r>
            <a:r>
              <a:rPr lang="en-US" sz="2800" dirty="0"/>
              <a:t> returns a pointer to allocated memory of a certain number of bytes.</a:t>
            </a:r>
          </a:p>
          <a:p>
            <a:r>
              <a:rPr lang="en-US" sz="2800" dirty="0">
                <a:latin typeface="Andale Mono" charset="0"/>
                <a:ea typeface="Andale Mono" charset="0"/>
                <a:cs typeface="Andale Mono" charset="0"/>
              </a:rPr>
              <a:t>free</a:t>
            </a:r>
            <a:r>
              <a:rPr lang="en-US" sz="2800" dirty="0"/>
              <a:t> frees this memory.</a:t>
            </a:r>
          </a:p>
          <a:p>
            <a:r>
              <a:rPr lang="en-US" sz="2800" dirty="0"/>
              <a:t>These functions are declared in </a:t>
            </a:r>
            <a:r>
              <a:rPr lang="en-US" sz="2800" dirty="0" err="1"/>
              <a:t>stdlib</a:t>
            </a:r>
            <a:endParaRPr lang="en-US" sz="2800" dirty="0"/>
          </a:p>
          <a:p>
            <a:endParaRPr lang="en-US" sz="2800" dirty="0"/>
          </a:p>
          <a:p>
            <a:r>
              <a:rPr lang="en-US" sz="2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2400" dirty="0">
                <a:latin typeface="Andale Mono" charset="0"/>
                <a:ea typeface="Andale Mono" charset="0"/>
                <a:cs typeface="Andale Mono" charset="0"/>
              </a:rPr>
              <a:t> *</a:t>
            </a:r>
            <a:r>
              <a:rPr lang="en-US" sz="2400" dirty="0" err="1">
                <a:latin typeface="Andale Mono" charset="0"/>
                <a:ea typeface="Andale Mono" charset="0"/>
                <a:cs typeface="Andale Mono" charset="0"/>
              </a:rPr>
              <a:t>ary</a:t>
            </a:r>
            <a:r>
              <a:rPr lang="en-US" sz="2400" dirty="0">
                <a:latin typeface="Andale Mono" charset="0"/>
                <a:ea typeface="Andale Mono" charset="0"/>
                <a:cs typeface="Andale Mono" charset="0"/>
              </a:rPr>
              <a:t> = (</a:t>
            </a:r>
            <a:r>
              <a:rPr lang="en-US" sz="2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2400" dirty="0">
                <a:latin typeface="Andale Mono" charset="0"/>
                <a:ea typeface="Andale Mono" charset="0"/>
                <a:cs typeface="Andale Mono" charset="0"/>
              </a:rPr>
              <a:t>*)malloc(10*</a:t>
            </a:r>
            <a:r>
              <a:rPr lang="en-US" sz="2400" dirty="0" err="1">
                <a:latin typeface="Andale Mono" charset="0"/>
                <a:ea typeface="Andale Mono" charset="0"/>
                <a:cs typeface="Andale Mono" charset="0"/>
              </a:rPr>
              <a:t>sizeof</a:t>
            </a:r>
            <a:r>
              <a:rPr lang="en-US" sz="2400" dirty="0">
                <a:latin typeface="Andale Mono" charset="0"/>
                <a:ea typeface="Andale Mono" charset="0"/>
                <a:cs typeface="Andale Mono" charset="0"/>
              </a:rPr>
              <a:t>(</a:t>
            </a:r>
            <a:r>
              <a:rPr lang="en-US" sz="2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2400" dirty="0">
                <a:latin typeface="Andale Mono" charset="0"/>
                <a:ea typeface="Andale Mono" charset="0"/>
                <a:cs typeface="Andale Mono" charset="0"/>
              </a:rPr>
              <a:t>));</a:t>
            </a:r>
          </a:p>
          <a:p>
            <a:endParaRPr lang="en-US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2965CD-041F-7041-8A15-B7049C5BE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51161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Example: Variable Sized Arrays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In standard C, multidimensional array sizes must be declared at compile time.</a:t>
            </a:r>
          </a:p>
          <a:p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Treat variable-sized M row x N column array as 1-dimensional array of M x N entries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7CE58-935B-CC4F-8C53-4C0A9C96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7946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8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Variable Dimension Matrix 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656614-E2BC-894E-AE49-3DD2DE14FA3F}"/>
              </a:ext>
            </a:extLst>
          </p:cNvPr>
          <p:cNvSpPr/>
          <p:nvPr/>
        </p:nvSpPr>
        <p:spPr>
          <a:xfrm>
            <a:off x="228600" y="1166842"/>
            <a:ext cx="853440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#include &lt;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stdlib.h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&gt; // for malloc</a:t>
            </a: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 </a:t>
            </a: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double*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newMatrix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(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m,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n) {</a:t>
            </a: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double *mat;</a:t>
            </a:r>
          </a:p>
          <a:p>
            <a:endParaRPr lang="en-US" sz="1600" dirty="0">
              <a:latin typeface="Andale Mono" charset="0"/>
              <a:ea typeface="Andale Mono" charset="0"/>
              <a:cs typeface="Andale Mono" charset="0"/>
            </a:endParaRP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mat = (double*)malloc(m*n*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sizeof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(double));</a:t>
            </a: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return mat;</a:t>
            </a: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}</a:t>
            </a:r>
          </a:p>
          <a:p>
            <a:r>
              <a:rPr lang="en-US" sz="1600" dirty="0"/>
              <a:t> </a:t>
            </a:r>
            <a:endParaRPr lang="en-US" sz="1600" dirty="0">
              <a:latin typeface="Andale Mono" charset="0"/>
              <a:ea typeface="Andale Mono" charset="0"/>
              <a:cs typeface="Andale Mono" charset="0"/>
            </a:endParaRP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double*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newIdentityMatrix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(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n) {</a:t>
            </a: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double *mat =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newMatrix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(n, n);</a:t>
            </a: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i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, j;</a:t>
            </a:r>
          </a:p>
          <a:p>
            <a:endParaRPr lang="en-US" sz="1600" dirty="0">
              <a:latin typeface="Andale Mono" charset="0"/>
              <a:ea typeface="Andale Mono" charset="0"/>
              <a:cs typeface="Andale Mono" charset="0"/>
            </a:endParaRP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for (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i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=0;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i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&lt;n;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i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++) </a:t>
            </a: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  for (j=0; j&lt;n; 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j++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)</a:t>
            </a: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    mat[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j+i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*n] = (</a:t>
            </a:r>
            <a:r>
              <a:rPr lang="en-US" sz="1600" dirty="0" err="1">
                <a:latin typeface="Andale Mono" charset="0"/>
                <a:ea typeface="Andale Mono" charset="0"/>
                <a:cs typeface="Andale Mono" charset="0"/>
              </a:rPr>
              <a:t>i</a:t>
            </a:r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==j);</a:t>
            </a: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  return mat;</a:t>
            </a:r>
          </a:p>
          <a:p>
            <a:r>
              <a:rPr lang="en-US" sz="1600" dirty="0">
                <a:latin typeface="Andale Mono" charset="0"/>
                <a:ea typeface="Andale Mono" charset="0"/>
                <a:cs typeface="Andale Mono" charset="0"/>
              </a:rPr>
              <a:t>}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719B2-D43D-8847-B9AC-C982AF95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4316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199" y="68759"/>
            <a:ext cx="83058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Variable Dimension Matrix Example</a:t>
            </a:r>
          </a:p>
        </p:txBody>
      </p:sp>
      <p:sp>
        <p:nvSpPr>
          <p:cNvPr id="4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457201" y="1295400"/>
            <a:ext cx="8305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void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scaleMatrix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(double *mat, double *scaled,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m,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n, double c) {</a:t>
            </a:r>
          </a:p>
          <a:p>
            <a:pPr marL="0" indent="0">
              <a:buNone/>
            </a:pP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, j;</a:t>
            </a:r>
          </a:p>
          <a:p>
            <a:pPr marL="0" indent="0">
              <a:buNone/>
            </a:pPr>
            <a:endParaRPr lang="en-US" sz="1400" dirty="0">
              <a:latin typeface="Andale Mono" charset="0"/>
              <a:ea typeface="Andale Mono" charset="0"/>
              <a:cs typeface="Andale Mono" charset="0"/>
            </a:endParaRPr>
          </a:p>
          <a:p>
            <a:pPr marL="0" indent="0">
              <a:buNone/>
            </a:pP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for (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=0;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&lt;m;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++) </a:t>
            </a:r>
          </a:p>
          <a:p>
            <a:pPr marL="0" indent="0">
              <a:buNone/>
            </a:pP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  for (j=0; j&lt;n;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j++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)</a:t>
            </a:r>
          </a:p>
          <a:p>
            <a:pPr marL="0" indent="0">
              <a:buNone/>
            </a:pP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    scaled[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j+i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*n] = mat[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j+i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*n]*c;</a:t>
            </a:r>
          </a:p>
          <a:p>
            <a:pPr marL="0" indent="0">
              <a:buNone/>
            </a:pP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}</a:t>
            </a:r>
          </a:p>
          <a:p>
            <a:pPr marL="0" indent="0">
              <a:buNone/>
            </a:pPr>
            <a:endParaRPr lang="en-US" sz="1400" dirty="0">
              <a:latin typeface="Andale Mono" charset="0"/>
              <a:ea typeface="Andale Mono" charset="0"/>
              <a:cs typeface="Andale Mono" charset="0"/>
            </a:endParaRPr>
          </a:p>
          <a:p>
            <a:pPr marL="0" indent="0">
              <a:buNone/>
            </a:pP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int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main(void) {</a:t>
            </a:r>
          </a:p>
          <a:p>
            <a:pPr marL="0" indent="0">
              <a:buNone/>
            </a:pP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double *m1, *m2;</a:t>
            </a:r>
          </a:p>
          <a:p>
            <a:pPr marL="0" indent="0">
              <a:buNone/>
            </a:pPr>
            <a:endParaRPr lang="en-US" sz="1400" dirty="0">
              <a:latin typeface="Andale Mono" charset="0"/>
              <a:ea typeface="Andale Mono" charset="0"/>
              <a:cs typeface="Andale Mono" charset="0"/>
            </a:endParaRPr>
          </a:p>
          <a:p>
            <a:pPr marL="0" indent="0">
              <a:buNone/>
            </a:pP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m1 =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newIdentityMatrix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(3);</a:t>
            </a:r>
          </a:p>
          <a:p>
            <a:pPr marL="0" indent="0">
              <a:buNone/>
            </a:pP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m2 =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newMatrix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(3, 3);</a:t>
            </a:r>
          </a:p>
          <a:p>
            <a:pPr marL="0" indent="0">
              <a:buNone/>
            </a:pP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</a:t>
            </a:r>
            <a:r>
              <a:rPr lang="en-US" sz="1400" dirty="0" err="1">
                <a:latin typeface="Andale Mono" charset="0"/>
                <a:ea typeface="Andale Mono" charset="0"/>
                <a:cs typeface="Andale Mono" charset="0"/>
              </a:rPr>
              <a:t>scaleMatrix</a:t>
            </a: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(m1, m2, 3, 3, 10);</a:t>
            </a:r>
          </a:p>
          <a:p>
            <a:pPr marL="0" indent="0">
              <a:buNone/>
            </a:pP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  free(m1);</a:t>
            </a:r>
          </a:p>
          <a:p>
            <a:pPr marL="0" indent="0">
              <a:buNone/>
            </a:pPr>
            <a:r>
              <a:rPr lang="en-US" sz="1400" dirty="0">
                <a:latin typeface="Andale Mono" charset="0"/>
                <a:ea typeface="Andale Mono" charset="0"/>
                <a:cs typeface="Andale Mono" charset="0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010C34-5BC6-A949-B6CA-98DEEA50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93260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9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457200" y="990600"/>
            <a:ext cx="8229600" cy="5257800"/>
          </a:xfrm>
        </p:spPr>
        <p:txBody>
          <a:bodyPr>
            <a:noAutofit/>
          </a:bodyPr>
          <a:lstStyle/>
          <a:p>
            <a:pPr marL="0" indent="0" eaLnBrk="1" hangingPunct="1">
              <a:buNone/>
            </a:pPr>
            <a:r>
              <a:rPr lang="en-US" sz="2400" b="1" dirty="0">
                <a:solidFill>
                  <a:srgbClr val="0070C0"/>
                </a:solidFill>
              </a:rPr>
              <a:t>Digital Design and Computer Architecture Lecture Notes </a:t>
            </a:r>
          </a:p>
          <a:p>
            <a:pPr marL="0" indent="0" eaLnBrk="1" hangingPunct="1">
              <a:buNone/>
            </a:pPr>
            <a:r>
              <a:rPr lang="en-US" sz="2400" b="1">
                <a:solidFill>
                  <a:srgbClr val="0070C0"/>
                </a:solidFill>
              </a:rPr>
              <a:t>© 2021 </a:t>
            </a:r>
            <a:r>
              <a:rPr lang="en-US" sz="2400" b="1" dirty="0">
                <a:solidFill>
                  <a:srgbClr val="0070C0"/>
                </a:solidFill>
              </a:rPr>
              <a:t>Sarah Harris and David Harris</a:t>
            </a:r>
          </a:p>
          <a:p>
            <a:pPr marL="0" indent="0" eaLnBrk="1" hangingPunct="1">
              <a:buNone/>
            </a:pPr>
            <a:br>
              <a:rPr lang="en-US" sz="2400" b="1" dirty="0">
                <a:solidFill>
                  <a:srgbClr val="0070C0"/>
                </a:solidFill>
              </a:rPr>
            </a:br>
            <a:r>
              <a:rPr lang="en-US" sz="2400" b="1" dirty="0">
                <a:solidFill>
                  <a:srgbClr val="0070C0"/>
                </a:solidFill>
              </a:rPr>
              <a:t>These notes may be used and modified for educational and/or non-commercial purposes so long as the source is attributed.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7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About these Notes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5E9202-B927-4AE2-B220-1351F530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FDE98-FD47-6140-A9A6-6873DAAB1D3D}" type="slidenum">
              <a:rPr lang="en-US" smtClean="0"/>
              <a:pPr/>
              <a:t>84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2339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41674</TotalTime>
  <Words>7345</Words>
  <Application>Microsoft Office PowerPoint</Application>
  <PresentationFormat>On-screen Show (4:3)</PresentationFormat>
  <Paragraphs>1991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1" baseType="lpstr">
      <vt:lpstr>Andale Mono</vt:lpstr>
      <vt:lpstr>Arial</vt:lpstr>
      <vt:lpstr>Arial Black</vt:lpstr>
      <vt:lpstr>Calibri</vt:lpstr>
      <vt:lpstr>Courier New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Harvey Mudd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DDCArv AppC</dc:title>
  <dc:creator>sharris</dc:creator>
  <cp:lastModifiedBy>Sarah Harris</cp:lastModifiedBy>
  <cp:revision>569</cp:revision>
  <cp:lastPrinted>2020-10-02T04:18:36Z</cp:lastPrinted>
  <dcterms:created xsi:type="dcterms:W3CDTF">2012-08-07T04:56:47Z</dcterms:created>
  <dcterms:modified xsi:type="dcterms:W3CDTF">2023-07-29T03:36:47Z</dcterms:modified>
</cp:coreProperties>
</file>